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49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A8FE-C3B7-4F12-AE2F-A8F165FA7C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BDC19B-A2C5-438A-805A-FBED010E8E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88B28-426D-4542-972D-855B88362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3B0C-216F-4701-9787-EC3955B73FBE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330D2-46A2-44B2-BE3E-E8D8C942E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919381-DBE6-4A1B-95F3-FA471A817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CD4EF-EA26-4209-8A04-4A55AAC0D6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031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294DB-2C16-402B-88C7-E03C904D9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F3D61-1D2D-4E82-A81C-C4B30D200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83AC4-013A-4633-9851-2365C2D3D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3B0C-216F-4701-9787-EC3955B73FBE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398CF-AE5F-4F25-804C-258B4D217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73F9AA-38DA-47FD-AEF4-DEA258699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CD4EF-EA26-4209-8A04-4A55AAC0D6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294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7F564-8F27-49F1-A40D-C7C8AAE61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309B39-6B6A-4218-ACB5-59F3E3796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89675F-80EF-4911-8EC6-BA6659E01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3B0C-216F-4701-9787-EC3955B73FBE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11DFE-75A1-4278-9961-558D28070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61F6B8-9109-4195-AEA8-1738F1F44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CD4EF-EA26-4209-8A04-4A55AAC0D6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073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282CF-788B-4471-B40D-7688E2DDB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B27E4-CBF0-4914-954B-4E84064FC8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F4BAB2-1C4E-4E75-9E0B-C43AE101E2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F80E2B-FDAA-4CEA-B9B5-ED0BE6904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3B0C-216F-4701-9787-EC3955B73FBE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2B4ED6-C86B-4423-A273-D7876F5F5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4E10B5-19AA-4BB9-AA98-7E65BD5F3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CD4EF-EA26-4209-8A04-4A55AAC0D6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337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FBC2-1CA2-495C-BA46-9FD68EF72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9F9D10-0997-4DF8-A39E-37F5C14A23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99F5AA-A8A9-4CD2-A242-53DD31A780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472171-B2C4-403F-B5A7-BD25ADFF2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E0B1D4-6C26-4BD4-9592-FCF6DFCA3E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CB55F8-C8A3-41DC-BE8C-38D1271F1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3B0C-216F-4701-9787-EC3955B73FBE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B37988-A580-41F7-B2C6-453C85212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7E1D8B-D6F5-458D-971D-9E5566FA7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CD4EF-EA26-4209-8A04-4A55AAC0D6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41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B3123-BB47-4DB9-A727-A765F0B1C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CB5E48-5357-4D21-A371-1FE232B90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3B0C-216F-4701-9787-EC3955B73FBE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33FF3D-80C1-4968-9510-A4F035E16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DE85E3-D59B-4F9F-A555-20F3EEFF8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CD4EF-EA26-4209-8A04-4A55AAC0D6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102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C8787F-6D91-4DA9-A4FC-4D498B29C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3B0C-216F-4701-9787-EC3955B73FBE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C784A8-AD09-4876-BA94-11B2A1B36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3A563-AD87-4AFB-9452-96487051A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CD4EF-EA26-4209-8A04-4A55AAC0D6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065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E13B8-8E85-4B28-99FA-100745400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CF3C3-0F76-4D54-B19F-EE61A40198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E99F3D-7EC9-43E2-975F-F59E3717FC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48FD5E-FDBC-4EEA-85B0-A52C2F5E0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3B0C-216F-4701-9787-EC3955B73FBE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A6D758-4C1B-4E2C-922A-BCE489A6D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28C2E4-6E9C-4C9A-97B6-49DE54A0F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CD4EF-EA26-4209-8A04-4A55AAC0D6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985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9361-5A0A-4521-AD95-F8E2EFD5C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1E2207-8CB3-46C7-9451-701337CD6A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50A3C3-BE0C-4EDE-87D8-9B22B9102A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C4617B-46CF-42D9-9A30-D6A8E1180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3B0C-216F-4701-9787-EC3955B73FBE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48DFED-35DC-4E36-B561-410473D27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E880BA-6C70-49F9-923C-293EF0A7B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CD4EF-EA26-4209-8A04-4A55AAC0D6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22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B781B-F7F2-40F5-BFF4-270E29BBC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374E97-011D-417D-A0A5-1927C87A8E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25C328-DAD3-402F-8C13-1C6CA79EB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3B0C-216F-4701-9787-EC3955B73FBE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E06415-C09A-4770-B2E3-BBF3A19AE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88E3F5-A9D4-4F37-9B24-C7C055E1E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CD4EF-EA26-4209-8A04-4A55AAC0D6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593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9035F2-7EF9-46F3-9B24-DA3C15F95D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59D7DF-59CE-40EF-B4D9-ECBF21B7FA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034E3-CF99-4317-9C9F-B594F813E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3B0C-216F-4701-9787-EC3955B73FBE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1C397-1C35-40F7-828A-63291A8DD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E05C1-9A95-4099-A5EA-D1984714A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CD4EF-EA26-4209-8A04-4A55AAC0D6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98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DC86A6-8E3C-4C23-82D7-81D3B9B06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3D3D95-F3E4-4F0A-810A-59FAE7C304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384676-31B3-4294-94DD-F8ED66324A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823B0C-216F-4701-9787-EC3955B73FBE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CC60B4-E29D-429B-BE77-12A2EA5D46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E3567-CDF3-40E7-A822-5C8A8F5D18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6CD4EF-EA26-4209-8A04-4A55AAC0D6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2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A1E3C"/>
            </a:gs>
            <a:gs pos="100000">
              <a:srgbClr val="FFFFFF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09033C3-FD33-41FD-A656-EBFF29465F99}"/>
              </a:ext>
            </a:extLst>
          </p:cNvPr>
          <p:cNvSpPr/>
          <p:nvPr/>
        </p:nvSpPr>
        <p:spPr>
          <a:xfrm>
            <a:off x="6985000" y="-635000"/>
            <a:ext cx="4445000" cy="4445000"/>
          </a:xfrm>
          <a:prstGeom prst="ellipse">
            <a:avLst/>
          </a:prstGeom>
          <a:solidFill>
            <a:srgbClr val="3C6EB4"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B5E7D34-7A53-4DE7-AF48-92C4D7D80A7C}"/>
              </a:ext>
            </a:extLst>
          </p:cNvPr>
          <p:cNvSpPr/>
          <p:nvPr/>
        </p:nvSpPr>
        <p:spPr>
          <a:xfrm>
            <a:off x="-1270000" y="4445000"/>
            <a:ext cx="3810000" cy="3810000"/>
          </a:xfrm>
          <a:prstGeom prst="ellipse">
            <a:avLst/>
          </a:prstGeom>
          <a:solidFill>
            <a:srgbClr val="285AA0"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BD2A2E-B93B-4A54-835A-EA69BFC798F8}"/>
              </a:ext>
            </a:extLst>
          </p:cNvPr>
          <p:cNvSpPr txBox="1"/>
          <p:nvPr/>
        </p:nvSpPr>
        <p:spPr>
          <a:xfrm>
            <a:off x="635000" y="1270000"/>
            <a:ext cx="8255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5400" b="1">
                <a:solidFill>
                  <a:srgbClr val="FFFFFF"/>
                </a:solidFill>
                <a:latin typeface="Arial" panose="020B0604020202020204" pitchFamily="34" charset="0"/>
              </a:rPr>
              <a:t>THEMELET E BIG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CFC903-C1EA-4137-9038-6B99D39553C6}"/>
              </a:ext>
            </a:extLst>
          </p:cNvPr>
          <p:cNvSpPr txBox="1"/>
          <p:nvPr/>
        </p:nvSpPr>
        <p:spPr>
          <a:xfrm>
            <a:off x="635000" y="2211922"/>
            <a:ext cx="8255000" cy="126188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800" b="1" dirty="0">
                <a:solidFill>
                  <a:srgbClr val="FFD700"/>
                </a:solidFill>
                <a:latin typeface="Arial" panose="020B0604020202020204" pitchFamily="34" charset="0"/>
              </a:rPr>
              <a:t>MapReduce &amp; pipeline </a:t>
            </a:r>
            <a:r>
              <a:rPr lang="en-US" sz="3800" b="1" dirty="0" err="1">
                <a:solidFill>
                  <a:srgbClr val="FFD700"/>
                </a:solidFill>
                <a:latin typeface="Arial" panose="020B0604020202020204" pitchFamily="34" charset="0"/>
              </a:rPr>
              <a:t>të</a:t>
            </a:r>
            <a:r>
              <a:rPr lang="en-US" sz="3800" b="1" dirty="0">
                <a:solidFill>
                  <a:srgbClr val="FFD700"/>
                </a:solidFill>
                <a:latin typeface="Arial" panose="020B0604020202020204" pitchFamily="34" charset="0"/>
              </a:rPr>
              <a:t> </a:t>
            </a:r>
            <a:r>
              <a:rPr lang="en-US" sz="3800" b="1" dirty="0" err="1">
                <a:solidFill>
                  <a:srgbClr val="FFD700"/>
                </a:solidFill>
                <a:latin typeface="Arial" panose="020B0604020202020204" pitchFamily="34" charset="0"/>
              </a:rPr>
              <a:t>të</a:t>
            </a:r>
            <a:r>
              <a:rPr lang="en-US" sz="3800" b="1" dirty="0">
                <a:solidFill>
                  <a:srgbClr val="FFD700"/>
                </a:solidFill>
                <a:latin typeface="Arial" panose="020B0604020202020204" pitchFamily="34" charset="0"/>
              </a:rPr>
              <a:t> </a:t>
            </a:r>
            <a:r>
              <a:rPr lang="en-US" sz="3800" b="1" dirty="0" err="1">
                <a:solidFill>
                  <a:srgbClr val="FFD700"/>
                </a:solidFill>
                <a:latin typeface="Arial" panose="020B0604020202020204" pitchFamily="34" charset="0"/>
              </a:rPr>
              <a:t>dhënave</a:t>
            </a:r>
            <a:endParaRPr lang="en-US" sz="3800" b="1" dirty="0">
              <a:solidFill>
                <a:srgbClr val="FFD700"/>
              </a:solidFill>
              <a:latin typeface="Arial" panose="020B060402020202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C4E321C-AD09-4375-B768-CF95832EB102}"/>
              </a:ext>
            </a:extLst>
          </p:cNvPr>
          <p:cNvSpPr/>
          <p:nvPr/>
        </p:nvSpPr>
        <p:spPr>
          <a:xfrm>
            <a:off x="1905000" y="3556000"/>
            <a:ext cx="5715000" cy="1270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38100">
            <a:solidFill>
              <a:srgbClr val="FFD7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C365D7-CD53-4CC9-B7C1-721D456F7CBE}"/>
              </a:ext>
            </a:extLst>
          </p:cNvPr>
          <p:cNvSpPr txBox="1"/>
          <p:nvPr/>
        </p:nvSpPr>
        <p:spPr>
          <a:xfrm>
            <a:off x="2159000" y="3867834"/>
            <a:ext cx="5207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b="1" dirty="0" err="1"/>
              <a:t>Bazuar</a:t>
            </a:r>
            <a:r>
              <a:rPr lang="en-US" b="1" dirty="0"/>
              <a:t> </a:t>
            </a:r>
            <a:r>
              <a:rPr lang="en-US" b="1" dirty="0" err="1"/>
              <a:t>në</a:t>
            </a:r>
            <a:r>
              <a:rPr lang="en-US" b="1" dirty="0"/>
              <a:t>: 'Big Data Fundamentals’</a:t>
            </a:r>
          </a:p>
          <a:p>
            <a:pPr algn="ctr"/>
            <a:r>
              <a:rPr lang="en-US" b="1" dirty="0" err="1"/>
              <a:t>Autorët</a:t>
            </a:r>
            <a:r>
              <a:rPr lang="en-US" b="1" dirty="0"/>
              <a:t>: </a:t>
            </a:r>
            <a:r>
              <a:rPr lang="en-US" b="1" dirty="0" err="1"/>
              <a:t>Erl</a:t>
            </a:r>
            <a:r>
              <a:rPr lang="en-US" b="1" dirty="0"/>
              <a:t>, Buhler, </a:t>
            </a:r>
            <a:r>
              <a:rPr lang="en-US" b="1" dirty="0" err="1"/>
              <a:t>Khattak</a:t>
            </a:r>
            <a:endParaRPr lang="en-US" b="1" dirty="0"/>
          </a:p>
        </p:txBody>
      </p:sp>
      <p:sp>
        <p:nvSpPr>
          <p:cNvPr id="8" name="Cloud 7">
            <a:extLst>
              <a:ext uri="{FF2B5EF4-FFF2-40B4-BE49-F238E27FC236}">
                <a16:creationId xmlns:a16="http://schemas.microsoft.com/office/drawing/2014/main" id="{AE98F39E-FD44-4D23-A55F-79E9F852F61F}"/>
              </a:ext>
            </a:extLst>
          </p:cNvPr>
          <p:cNvSpPr/>
          <p:nvPr/>
        </p:nvSpPr>
        <p:spPr>
          <a:xfrm>
            <a:off x="4064000" y="5207000"/>
            <a:ext cx="1016000" cy="762000"/>
          </a:xfrm>
          <a:prstGeom prst="cloud">
            <a:avLst/>
          </a:prstGeom>
          <a:solidFill>
            <a:srgbClr val="FFD700"/>
          </a:solidFill>
          <a:ln w="254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570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5FA"/>
            </a:gs>
            <a:gs pos="100000">
              <a:srgbClr val="FFFFFF"/>
            </a:gs>
          </a:gsLst>
          <a:lin ang="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C45871-20E3-4AA0-8E6C-5B2F12B575A3}"/>
              </a:ext>
            </a:extLst>
          </p:cNvPr>
          <p:cNvSpPr/>
          <p:nvPr/>
        </p:nvSpPr>
        <p:spPr>
          <a:xfrm>
            <a:off x="0" y="0"/>
            <a:ext cx="9144000" cy="889000"/>
          </a:xfrm>
          <a:prstGeom prst="rect">
            <a:avLst/>
          </a:prstGeom>
          <a:solidFill>
            <a:srgbClr val="0050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479377-A215-483C-8CDC-7E807D264F3F}"/>
              </a:ext>
            </a:extLst>
          </p:cNvPr>
          <p:cNvSpPr txBox="1"/>
          <p:nvPr/>
        </p:nvSpPr>
        <p:spPr>
          <a:xfrm>
            <a:off x="381000" y="190500"/>
            <a:ext cx="8382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BR" sz="3200" b="1" dirty="0">
                <a:solidFill>
                  <a:srgbClr val="FFFFFF"/>
                </a:solidFill>
              </a:rPr>
              <a:t>REFERENCA E LIBRIT &amp; OBJEKTIVAT</a:t>
            </a:r>
            <a:endParaRPr lang="en-US" sz="3200" b="1" dirty="0">
              <a:solidFill>
                <a:srgbClr val="FFFFFF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9F662E5-1357-4323-A41F-E346BDAF2B1B}"/>
              </a:ext>
            </a:extLst>
          </p:cNvPr>
          <p:cNvSpPr/>
          <p:nvPr/>
        </p:nvSpPr>
        <p:spPr>
          <a:xfrm>
            <a:off x="508000" y="1143000"/>
            <a:ext cx="8128000" cy="1778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50A0"/>
            </a:solidFill>
          </a:ln>
          <a:effectLst>
            <a:outerShdw blurRad="50800" dist="38100" dir="2700000" algn="tl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832A41-8603-470F-98BF-5E37FEA1849C}"/>
              </a:ext>
            </a:extLst>
          </p:cNvPr>
          <p:cNvSpPr txBox="1"/>
          <p:nvPr/>
        </p:nvSpPr>
        <p:spPr>
          <a:xfrm>
            <a:off x="762000" y="1201509"/>
            <a:ext cx="7620000" cy="165686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142850"/>
                </a:solidFill>
              </a:rPr>
              <a:t>– LIBRI: Big Data Fundamentals: Concepts, Drivers &amp; Techniques</a:t>
            </a:r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142850"/>
                </a:solidFill>
              </a:rPr>
              <a:t>AUTORËT: Thomas </a:t>
            </a:r>
            <a:r>
              <a:rPr lang="en-US" sz="1500" dirty="0" err="1">
                <a:solidFill>
                  <a:srgbClr val="142850"/>
                </a:solidFill>
              </a:rPr>
              <a:t>Erl</a:t>
            </a:r>
            <a:r>
              <a:rPr lang="en-US" sz="1500" dirty="0">
                <a:solidFill>
                  <a:srgbClr val="142850"/>
                </a:solidFill>
              </a:rPr>
              <a:t>, Paul Buhler, Wajid </a:t>
            </a:r>
            <a:r>
              <a:rPr lang="en-US" sz="1500" dirty="0" err="1">
                <a:solidFill>
                  <a:srgbClr val="142850"/>
                </a:solidFill>
              </a:rPr>
              <a:t>Khattak</a:t>
            </a:r>
            <a:endParaRPr lang="en-US" sz="1500" dirty="0">
              <a:solidFill>
                <a:srgbClr val="142850"/>
              </a:solidFill>
            </a:endParaRPr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142850"/>
                </a:solidFill>
              </a:rPr>
              <a:t>KAPITUJT: 3 (</a:t>
            </a:r>
            <a:r>
              <a:rPr lang="en-US" sz="1500" dirty="0" err="1">
                <a:solidFill>
                  <a:srgbClr val="142850"/>
                </a:solidFill>
              </a:rPr>
              <a:t>Modeli</a:t>
            </a:r>
            <a:r>
              <a:rPr lang="en-US" sz="1500" dirty="0">
                <a:solidFill>
                  <a:srgbClr val="142850"/>
                </a:solidFill>
              </a:rPr>
              <a:t> MapReduce), 4 (</a:t>
            </a:r>
            <a:r>
              <a:rPr lang="en-US" sz="1500" dirty="0" err="1">
                <a:solidFill>
                  <a:srgbClr val="142850"/>
                </a:solidFill>
              </a:rPr>
              <a:t>Modelet</a:t>
            </a:r>
            <a:r>
              <a:rPr lang="en-US" sz="1500" dirty="0">
                <a:solidFill>
                  <a:srgbClr val="142850"/>
                </a:solidFill>
              </a:rPr>
              <a:t> e </a:t>
            </a:r>
            <a:r>
              <a:rPr lang="en-US" sz="1500" dirty="0" err="1">
                <a:solidFill>
                  <a:srgbClr val="142850"/>
                </a:solidFill>
              </a:rPr>
              <a:t>procesimit</a:t>
            </a:r>
            <a:r>
              <a:rPr lang="en-US" sz="1500" dirty="0">
                <a:solidFill>
                  <a:srgbClr val="14285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142850"/>
                </a:solidFill>
              </a:rPr>
              <a:t>BOTUES: Prentice Hall Service Technology Series</a:t>
            </a:r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142850"/>
                </a:solidFill>
              </a:rPr>
              <a:t>VITI: 2016, ISBN: 978-0-13-429407-8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372D7EE-6BBD-4931-A8EA-8773EBF633EC}"/>
              </a:ext>
            </a:extLst>
          </p:cNvPr>
          <p:cNvSpPr/>
          <p:nvPr/>
        </p:nvSpPr>
        <p:spPr>
          <a:xfrm>
            <a:off x="508000" y="3175000"/>
            <a:ext cx="3937000" cy="279400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CA7139-23EF-47E6-BEDC-5D73D4F64890}"/>
              </a:ext>
            </a:extLst>
          </p:cNvPr>
          <p:cNvSpPr txBox="1"/>
          <p:nvPr/>
        </p:nvSpPr>
        <p:spPr>
          <a:xfrm>
            <a:off x="698500" y="3302000"/>
            <a:ext cx="3556000" cy="235449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42850"/>
                </a:solidFill>
              </a:rPr>
              <a:t>TEMAT E MBULUARA: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400" dirty="0" err="1">
                <a:solidFill>
                  <a:srgbClr val="142850"/>
                </a:solidFill>
              </a:rPr>
              <a:t>Modeli</a:t>
            </a: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programues</a:t>
            </a:r>
            <a:r>
              <a:rPr lang="en-US" sz="1400" dirty="0">
                <a:solidFill>
                  <a:srgbClr val="142850"/>
                </a:solidFill>
              </a:rPr>
              <a:t> MapReduce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400" dirty="0" err="1">
                <a:solidFill>
                  <a:srgbClr val="142850"/>
                </a:solidFill>
              </a:rPr>
              <a:t>Fazat</a:t>
            </a:r>
            <a:r>
              <a:rPr lang="en-US" sz="1400" dirty="0">
                <a:solidFill>
                  <a:srgbClr val="142850"/>
                </a:solidFill>
              </a:rPr>
              <a:t> Map, Shuffle </a:t>
            </a:r>
            <a:r>
              <a:rPr lang="en-US" sz="1400" dirty="0" err="1">
                <a:solidFill>
                  <a:srgbClr val="142850"/>
                </a:solidFill>
              </a:rPr>
              <a:t>dhe</a:t>
            </a:r>
            <a:r>
              <a:rPr lang="en-US" sz="1400" dirty="0">
                <a:solidFill>
                  <a:srgbClr val="142850"/>
                </a:solidFill>
              </a:rPr>
              <a:t> Reduce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400" dirty="0" err="1">
                <a:solidFill>
                  <a:srgbClr val="142850"/>
                </a:solidFill>
              </a:rPr>
              <a:t>Procesimi</a:t>
            </a: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i</a:t>
            </a: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shpërndarë</a:t>
            </a: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i</a:t>
            </a: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të</a:t>
            </a:r>
            <a:r>
              <a:rPr lang="en-US" sz="1400" dirty="0">
                <a:solidFill>
                  <a:srgbClr val="142850"/>
                </a:solidFill>
              </a:rPr>
              <a:t> </a:t>
            </a:r>
            <a:r>
              <a:rPr lang="en-US" sz="1400" dirty="0" err="1">
                <a:solidFill>
                  <a:srgbClr val="142850"/>
                </a:solidFill>
              </a:rPr>
              <a:t>dhënave</a:t>
            </a:r>
            <a:endParaRPr lang="en-US" sz="1400" dirty="0">
              <a:solidFill>
                <a:srgbClr val="142850"/>
              </a:solidFill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400" dirty="0" err="1">
                <a:solidFill>
                  <a:srgbClr val="142850"/>
                </a:solidFill>
              </a:rPr>
              <a:t>Modelet</a:t>
            </a:r>
            <a:r>
              <a:rPr lang="en-US" sz="1400" dirty="0">
                <a:solidFill>
                  <a:srgbClr val="142850"/>
                </a:solidFill>
              </a:rPr>
              <a:t> e </a:t>
            </a:r>
            <a:r>
              <a:rPr lang="en-US" sz="1400" dirty="0" err="1">
                <a:solidFill>
                  <a:srgbClr val="142850"/>
                </a:solidFill>
              </a:rPr>
              <a:t>zakonshme</a:t>
            </a:r>
            <a:r>
              <a:rPr lang="en-US" sz="1400" dirty="0">
                <a:solidFill>
                  <a:srgbClr val="142850"/>
                </a:solidFill>
              </a:rPr>
              <a:t> MapReduce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400" dirty="0" err="1">
                <a:solidFill>
                  <a:srgbClr val="142850"/>
                </a:solidFill>
              </a:rPr>
              <a:t>Krahasimi</a:t>
            </a:r>
            <a:r>
              <a:rPr lang="en-US" sz="1400" dirty="0">
                <a:solidFill>
                  <a:srgbClr val="142850"/>
                </a:solidFill>
              </a:rPr>
              <a:t> Hadoop vs Spark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400" dirty="0" err="1">
                <a:solidFill>
                  <a:srgbClr val="142850"/>
                </a:solidFill>
              </a:rPr>
              <a:t>Arkitektura</a:t>
            </a:r>
            <a:r>
              <a:rPr lang="en-US" sz="1400" dirty="0">
                <a:solidFill>
                  <a:srgbClr val="142850"/>
                </a:solidFill>
              </a:rPr>
              <a:t> e Pipeline </a:t>
            </a:r>
            <a:r>
              <a:rPr lang="en-US" sz="1400" dirty="0" err="1">
                <a:solidFill>
                  <a:srgbClr val="142850"/>
                </a:solidFill>
              </a:rPr>
              <a:t>të</a:t>
            </a:r>
            <a:r>
              <a:rPr lang="en-US" sz="1400" dirty="0">
                <a:solidFill>
                  <a:srgbClr val="142850"/>
                </a:solidFill>
              </a:rPr>
              <a:t> Big Data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142850"/>
                </a:solidFill>
              </a:rPr>
              <a:t>Fault Tolerance &amp; </a:t>
            </a:r>
            <a:r>
              <a:rPr lang="en-US" sz="1400" dirty="0" err="1">
                <a:solidFill>
                  <a:srgbClr val="142850"/>
                </a:solidFill>
              </a:rPr>
              <a:t>Skalabilitet</a:t>
            </a:r>
            <a:endParaRPr lang="en-US" sz="1400" dirty="0">
              <a:solidFill>
                <a:srgbClr val="142850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D7DDCA5-1D4D-4016-BFD2-C431DF6EE5EF}"/>
              </a:ext>
            </a:extLst>
          </p:cNvPr>
          <p:cNvSpPr/>
          <p:nvPr/>
        </p:nvSpPr>
        <p:spPr>
          <a:xfrm>
            <a:off x="4699000" y="3175000"/>
            <a:ext cx="3937000" cy="2794000"/>
          </a:xfrm>
          <a:prstGeom prst="roundRect">
            <a:avLst/>
          </a:prstGeom>
          <a:solidFill>
            <a:srgbClr val="FFF5E6"/>
          </a:solidFill>
          <a:ln w="25400">
            <a:solidFill>
              <a:srgbClr val="FF8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D7849C-00A6-4AC5-B22B-5163EE2CA30E}"/>
              </a:ext>
            </a:extLst>
          </p:cNvPr>
          <p:cNvSpPr txBox="1"/>
          <p:nvPr/>
        </p:nvSpPr>
        <p:spPr>
          <a:xfrm>
            <a:off x="4889500" y="3302000"/>
            <a:ext cx="3556000" cy="235449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502800"/>
                </a:solidFill>
              </a:rPr>
              <a:t>OBJEKTIVAT E TË MËSUARIT: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400" dirty="0" err="1">
                <a:solidFill>
                  <a:srgbClr val="502800"/>
                </a:solidFill>
              </a:rPr>
              <a:t>Kuptimi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paradigmës</a:t>
            </a:r>
            <a:r>
              <a:rPr lang="en-US" sz="1400" dirty="0">
                <a:solidFill>
                  <a:srgbClr val="502800"/>
                </a:solidFill>
              </a:rPr>
              <a:t> MapReduce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400" dirty="0" err="1">
                <a:solidFill>
                  <a:srgbClr val="502800"/>
                </a:solidFill>
              </a:rPr>
              <a:t>Implementimi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i</a:t>
            </a:r>
            <a:r>
              <a:rPr lang="en-US" sz="1400" dirty="0">
                <a:solidFill>
                  <a:srgbClr val="502800"/>
                </a:solidFill>
              </a:rPr>
              <a:t> Word Count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400" dirty="0" err="1">
                <a:solidFill>
                  <a:srgbClr val="502800"/>
                </a:solidFill>
              </a:rPr>
              <a:t>Analiza</a:t>
            </a:r>
            <a:r>
              <a:rPr lang="en-US" sz="1400" dirty="0">
                <a:solidFill>
                  <a:srgbClr val="502800"/>
                </a:solidFill>
              </a:rPr>
              <a:t> e </a:t>
            </a:r>
            <a:r>
              <a:rPr lang="en-US" sz="1400" dirty="0" err="1">
                <a:solidFill>
                  <a:srgbClr val="502800"/>
                </a:solidFill>
              </a:rPr>
              <a:t>skedarëve</a:t>
            </a:r>
            <a:r>
              <a:rPr lang="en-US" sz="1400" dirty="0">
                <a:solidFill>
                  <a:srgbClr val="502800"/>
                </a:solidFill>
              </a:rPr>
              <a:t> log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400" dirty="0" err="1">
                <a:solidFill>
                  <a:srgbClr val="502800"/>
                </a:solidFill>
              </a:rPr>
              <a:t>Zbatimi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i</a:t>
            </a:r>
            <a:r>
              <a:rPr lang="en-US" sz="1400" dirty="0">
                <a:solidFill>
                  <a:srgbClr val="502800"/>
                </a:solidFill>
              </a:rPr>
              <a:t> 5 </a:t>
            </a:r>
            <a:r>
              <a:rPr lang="en-US" sz="1400" dirty="0" err="1">
                <a:solidFill>
                  <a:srgbClr val="502800"/>
                </a:solidFill>
              </a:rPr>
              <a:t>modeleve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të</a:t>
            </a:r>
            <a:r>
              <a:rPr lang="en-US" sz="1400" dirty="0">
                <a:solidFill>
                  <a:srgbClr val="502800"/>
                </a:solidFill>
              </a:rPr>
              <a:t> MapReduce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400" dirty="0" err="1">
                <a:solidFill>
                  <a:srgbClr val="502800"/>
                </a:solidFill>
              </a:rPr>
              <a:t>Krahasimi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teknologjive</a:t>
            </a:r>
            <a:endParaRPr lang="en-US" sz="1400" dirty="0">
              <a:solidFill>
                <a:srgbClr val="502800"/>
              </a:solidFill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400" dirty="0" err="1">
                <a:solidFill>
                  <a:srgbClr val="502800"/>
                </a:solidFill>
              </a:rPr>
              <a:t>Ndërtimi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i</a:t>
            </a:r>
            <a:r>
              <a:rPr lang="en-US" sz="1400" dirty="0">
                <a:solidFill>
                  <a:srgbClr val="502800"/>
                </a:solidFill>
              </a:rPr>
              <a:t> pipeline </a:t>
            </a:r>
            <a:r>
              <a:rPr lang="en-US" sz="1400" dirty="0" err="1">
                <a:solidFill>
                  <a:srgbClr val="502800"/>
                </a:solidFill>
              </a:rPr>
              <a:t>të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plotë</a:t>
            </a:r>
            <a:endParaRPr lang="en-US" sz="1400" dirty="0">
              <a:solidFill>
                <a:srgbClr val="502800"/>
              </a:solidFill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400" dirty="0" err="1">
                <a:solidFill>
                  <a:srgbClr val="502800"/>
                </a:solidFill>
              </a:rPr>
              <a:t>Procesimi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paralel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i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të</a:t>
            </a:r>
            <a:r>
              <a:rPr lang="en-US" sz="1400" dirty="0">
                <a:solidFill>
                  <a:srgbClr val="502800"/>
                </a:solidFill>
              </a:rPr>
              <a:t> </a:t>
            </a:r>
            <a:r>
              <a:rPr lang="en-US" sz="1400" dirty="0" err="1">
                <a:solidFill>
                  <a:srgbClr val="502800"/>
                </a:solidFill>
              </a:rPr>
              <a:t>dhënave</a:t>
            </a:r>
            <a:endParaRPr lang="en-US" sz="1400" dirty="0">
              <a:solidFill>
                <a:srgbClr val="5028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225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CC60E7-4FDE-4C22-8B29-C9236287E509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0080C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9D9F85-869A-4026-95AA-09C8702A259F}"/>
              </a:ext>
            </a:extLst>
          </p:cNvPr>
          <p:cNvSpPr txBox="1"/>
          <p:nvPr/>
        </p:nvSpPr>
        <p:spPr>
          <a:xfrm>
            <a:off x="254000" y="152400"/>
            <a:ext cx="863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TEORIA E MAPREDUCE (</a:t>
            </a:r>
            <a:r>
              <a:rPr lang="en-US" sz="2800" b="1" dirty="0" err="1">
                <a:solidFill>
                  <a:srgbClr val="FFFFFF"/>
                </a:solidFill>
              </a:rPr>
              <a:t>Kapitulli</a:t>
            </a:r>
            <a:r>
              <a:rPr lang="en-US" sz="2800" b="1" dirty="0">
                <a:solidFill>
                  <a:srgbClr val="FFFFFF"/>
                </a:solidFill>
              </a:rPr>
              <a:t> 3.2)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06355D-B142-4D29-B937-B9F1FA93F7D4}"/>
              </a:ext>
            </a:extLst>
          </p:cNvPr>
          <p:cNvSpPr/>
          <p:nvPr/>
        </p:nvSpPr>
        <p:spPr>
          <a:xfrm>
            <a:off x="508000" y="1015999"/>
            <a:ext cx="8128000" cy="1523995"/>
          </a:xfrm>
          <a:prstGeom prst="roundRect">
            <a:avLst/>
          </a:prstGeom>
          <a:solidFill>
            <a:srgbClr val="FFFACD"/>
          </a:solidFill>
          <a:ln w="38100">
            <a:solidFill>
              <a:srgbClr val="FF8C00"/>
            </a:solidFill>
          </a:ln>
          <a:effectLst>
            <a:prstShdw prst="shdw6" dist="107763" dir="2700000">
              <a:scrgbClr r="0" g="0" b="0">
                <a:alpha val="50000"/>
              </a:scrgbClr>
            </a:prst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D0FC64-0010-4D76-B072-A5C29C4DEDA2}"/>
              </a:ext>
            </a:extLst>
          </p:cNvPr>
          <p:cNvSpPr txBox="1"/>
          <p:nvPr/>
        </p:nvSpPr>
        <p:spPr>
          <a:xfrm>
            <a:off x="762000" y="1143000"/>
            <a:ext cx="7620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500" b="1" dirty="0">
                <a:solidFill>
                  <a:srgbClr val="503C00"/>
                </a:solidFill>
              </a:rPr>
              <a:t>PËRKUFIZIMI:</a:t>
            </a:r>
          </a:p>
          <a:p>
            <a:r>
              <a:rPr lang="en-US" sz="1500" b="1" dirty="0">
                <a:solidFill>
                  <a:srgbClr val="503C00"/>
                </a:solidFill>
              </a:rPr>
              <a:t>MapReduce </a:t>
            </a:r>
            <a:r>
              <a:rPr lang="en-US" sz="1500" b="1" dirty="0" err="1">
                <a:solidFill>
                  <a:srgbClr val="503C00"/>
                </a:solidFill>
              </a:rPr>
              <a:t>është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një</a:t>
            </a:r>
            <a:r>
              <a:rPr lang="en-US" sz="1500" b="1" dirty="0">
                <a:solidFill>
                  <a:srgbClr val="503C00"/>
                </a:solidFill>
              </a:rPr>
              <a:t> model </a:t>
            </a:r>
            <a:r>
              <a:rPr lang="en-US" sz="1500" b="1" dirty="0" err="1">
                <a:solidFill>
                  <a:srgbClr val="503C00"/>
                </a:solidFill>
              </a:rPr>
              <a:t>programimi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për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procesimin</a:t>
            </a:r>
            <a:r>
              <a:rPr lang="en-US" sz="1500" b="1" dirty="0">
                <a:solidFill>
                  <a:srgbClr val="503C00"/>
                </a:solidFill>
              </a:rPr>
              <a:t> e </a:t>
            </a:r>
            <a:r>
              <a:rPr lang="en-US" sz="1500" b="1" dirty="0" err="1">
                <a:solidFill>
                  <a:srgbClr val="503C00"/>
                </a:solidFill>
              </a:rPr>
              <a:t>grupeve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të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mëdha</a:t>
            </a:r>
            <a:endParaRPr lang="en-US" sz="1500" b="1" dirty="0">
              <a:solidFill>
                <a:srgbClr val="503C00"/>
              </a:solidFill>
            </a:endParaRPr>
          </a:p>
          <a:p>
            <a:r>
              <a:rPr lang="en-US" sz="1500" b="1" dirty="0" err="1">
                <a:solidFill>
                  <a:srgbClr val="503C00"/>
                </a:solidFill>
              </a:rPr>
              <a:t>të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dhënash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në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mënyrë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paralele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përmes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një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clusteri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të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shpërndarë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kompjuterësh</a:t>
            </a:r>
            <a:r>
              <a:rPr lang="en-US" sz="1500" b="1" dirty="0">
                <a:solidFill>
                  <a:srgbClr val="503C00"/>
                </a:solidFill>
              </a:rPr>
              <a:t>.</a:t>
            </a:r>
          </a:p>
          <a:p>
            <a:r>
              <a:rPr lang="en-US" sz="1500" b="1" dirty="0" err="1">
                <a:solidFill>
                  <a:srgbClr val="503C00"/>
                </a:solidFill>
              </a:rPr>
              <a:t>Zhvilluar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nga</a:t>
            </a:r>
            <a:r>
              <a:rPr lang="en-US" sz="1500" b="1" dirty="0">
                <a:solidFill>
                  <a:srgbClr val="503C00"/>
                </a:solidFill>
              </a:rPr>
              <a:t> Google (2004), </a:t>
            </a:r>
            <a:r>
              <a:rPr lang="en-US" sz="1500" b="1" dirty="0" err="1">
                <a:solidFill>
                  <a:srgbClr val="503C00"/>
                </a:solidFill>
              </a:rPr>
              <a:t>implementuar</a:t>
            </a:r>
            <a:r>
              <a:rPr lang="en-US" sz="1500" b="1" dirty="0">
                <a:solidFill>
                  <a:srgbClr val="503C00"/>
                </a:solidFill>
              </a:rPr>
              <a:t> </a:t>
            </a:r>
            <a:r>
              <a:rPr lang="en-US" sz="1500" b="1" dirty="0" err="1">
                <a:solidFill>
                  <a:srgbClr val="503C00"/>
                </a:solidFill>
              </a:rPr>
              <a:t>në</a:t>
            </a:r>
            <a:r>
              <a:rPr lang="en-US" sz="1500" b="1" dirty="0">
                <a:solidFill>
                  <a:srgbClr val="503C00"/>
                </a:solidFill>
              </a:rPr>
              <a:t> Hadoop </a:t>
            </a:r>
            <a:r>
              <a:rPr lang="en-US" sz="1500" b="1" dirty="0" err="1">
                <a:solidFill>
                  <a:srgbClr val="503C00"/>
                </a:solidFill>
              </a:rPr>
              <a:t>dhe</a:t>
            </a:r>
            <a:r>
              <a:rPr lang="en-US" sz="1500" b="1" dirty="0">
                <a:solidFill>
                  <a:srgbClr val="503C00"/>
                </a:solidFill>
              </a:rPr>
              <a:t> Spark.</a:t>
            </a: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83DD1B86-D614-4300-8EC1-24A3F2819778}"/>
              </a:ext>
            </a:extLst>
          </p:cNvPr>
          <p:cNvSpPr/>
          <p:nvPr/>
        </p:nvSpPr>
        <p:spPr>
          <a:xfrm>
            <a:off x="508000" y="2984500"/>
            <a:ext cx="2540000" cy="889000"/>
          </a:xfrm>
          <a:prstGeom prst="flowChartProcess">
            <a:avLst/>
          </a:prstGeom>
          <a:solidFill>
            <a:srgbClr val="90EE90"/>
          </a:solidFill>
          <a:ln w="38100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A6CB12-D712-4F21-832B-C2547F71D8CC}"/>
              </a:ext>
            </a:extLst>
          </p:cNvPr>
          <p:cNvSpPr txBox="1"/>
          <p:nvPr/>
        </p:nvSpPr>
        <p:spPr>
          <a:xfrm>
            <a:off x="698500" y="3111500"/>
            <a:ext cx="2159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600" b="1" dirty="0"/>
              <a:t>1. FAZA MAP</a:t>
            </a:r>
          </a:p>
          <a:p>
            <a:pPr algn="ctr"/>
            <a:r>
              <a:rPr lang="en-US" sz="1600" b="1" dirty="0"/>
              <a:t>Input (key, value)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55783D-6B82-4854-B6E2-647D3018FDB5}"/>
              </a:ext>
            </a:extLst>
          </p:cNvPr>
          <p:cNvSpPr txBox="1"/>
          <p:nvPr/>
        </p:nvSpPr>
        <p:spPr>
          <a:xfrm>
            <a:off x="508000" y="3937000"/>
            <a:ext cx="254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sz="1200" dirty="0" err="1">
                <a:solidFill>
                  <a:srgbClr val="005000"/>
                </a:solidFill>
              </a:rPr>
              <a:t>Lexon</a:t>
            </a:r>
            <a:r>
              <a:rPr lang="en-US" sz="1200" dirty="0">
                <a:solidFill>
                  <a:srgbClr val="005000"/>
                </a:solidFill>
              </a:rPr>
              <a:t> </a:t>
            </a:r>
            <a:r>
              <a:rPr lang="en-US" sz="1200" dirty="0" err="1">
                <a:solidFill>
                  <a:srgbClr val="005000"/>
                </a:solidFill>
              </a:rPr>
              <a:t>të</a:t>
            </a:r>
            <a:r>
              <a:rPr lang="en-US" sz="1200" dirty="0">
                <a:solidFill>
                  <a:srgbClr val="005000"/>
                </a:solidFill>
              </a:rPr>
              <a:t> </a:t>
            </a:r>
            <a:r>
              <a:rPr lang="en-US" sz="1200" dirty="0" err="1">
                <a:solidFill>
                  <a:srgbClr val="005000"/>
                </a:solidFill>
              </a:rPr>
              <a:t>dhënat</a:t>
            </a:r>
            <a:endParaRPr lang="en-US" sz="1200" dirty="0">
              <a:solidFill>
                <a:srgbClr val="005000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sz="1200" dirty="0" err="1">
                <a:solidFill>
                  <a:srgbClr val="005000"/>
                </a:solidFill>
              </a:rPr>
              <a:t>Aplikon</a:t>
            </a:r>
            <a:r>
              <a:rPr lang="en-US" sz="1200" dirty="0">
                <a:solidFill>
                  <a:srgbClr val="005000"/>
                </a:solidFill>
              </a:rPr>
              <a:t> </a:t>
            </a:r>
            <a:r>
              <a:rPr lang="en-US" sz="1200" dirty="0" err="1">
                <a:solidFill>
                  <a:srgbClr val="005000"/>
                </a:solidFill>
              </a:rPr>
              <a:t>funksionin</a:t>
            </a:r>
            <a:r>
              <a:rPr lang="en-US" sz="1200" dirty="0">
                <a:solidFill>
                  <a:srgbClr val="005000"/>
                </a:solidFill>
              </a:rPr>
              <a:t> map</a:t>
            </a: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sz="1200" dirty="0" err="1">
                <a:solidFill>
                  <a:srgbClr val="005000"/>
                </a:solidFill>
              </a:rPr>
              <a:t>Nxjerr</a:t>
            </a:r>
            <a:r>
              <a:rPr lang="en-US" sz="1200" dirty="0">
                <a:solidFill>
                  <a:srgbClr val="005000"/>
                </a:solidFill>
              </a:rPr>
              <a:t> </a:t>
            </a:r>
            <a:r>
              <a:rPr lang="en-US" sz="1200" dirty="0" err="1">
                <a:solidFill>
                  <a:srgbClr val="005000"/>
                </a:solidFill>
              </a:rPr>
              <a:t>çifte</a:t>
            </a:r>
            <a:r>
              <a:rPr lang="en-US" sz="1200" dirty="0">
                <a:solidFill>
                  <a:srgbClr val="005000"/>
                </a:solidFill>
              </a:rPr>
              <a:t> (key, value)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26D021C6-DBFB-452F-9F03-724DA5933B42}"/>
              </a:ext>
            </a:extLst>
          </p:cNvPr>
          <p:cNvSpPr/>
          <p:nvPr/>
        </p:nvSpPr>
        <p:spPr>
          <a:xfrm>
            <a:off x="3302000" y="2984500"/>
            <a:ext cx="2540000" cy="889000"/>
          </a:xfrm>
          <a:prstGeom prst="flowChartProcess">
            <a:avLst/>
          </a:prstGeom>
          <a:solidFill>
            <a:srgbClr val="FFDAB9"/>
          </a:solidFill>
          <a:ln w="38100">
            <a:solidFill>
              <a:srgbClr val="FF8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135591-8F06-48BE-86D1-C82EA87E7AFF}"/>
              </a:ext>
            </a:extLst>
          </p:cNvPr>
          <p:cNvSpPr txBox="1"/>
          <p:nvPr/>
        </p:nvSpPr>
        <p:spPr>
          <a:xfrm>
            <a:off x="3492500" y="3111500"/>
            <a:ext cx="2159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600" b="1" dirty="0"/>
              <a:t>2. SHUFFLE &amp; SORT</a:t>
            </a:r>
          </a:p>
          <a:p>
            <a:pPr algn="ctr"/>
            <a:r>
              <a:rPr lang="en-US" sz="1600" b="1" dirty="0"/>
              <a:t>Group + Sort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899823-DCDD-461A-B0DE-303593CB2C37}"/>
              </a:ext>
            </a:extLst>
          </p:cNvPr>
          <p:cNvSpPr txBox="1"/>
          <p:nvPr/>
        </p:nvSpPr>
        <p:spPr>
          <a:xfrm>
            <a:off x="3556000" y="3946486"/>
            <a:ext cx="254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783C00"/>
                </a:solidFill>
              </a:rPr>
              <a:t>Gruppo </a:t>
            </a:r>
            <a:r>
              <a:rPr lang="en-US" sz="1200" dirty="0" err="1">
                <a:solidFill>
                  <a:srgbClr val="783C00"/>
                </a:solidFill>
              </a:rPr>
              <a:t>sipas</a:t>
            </a:r>
            <a:r>
              <a:rPr lang="en-US" sz="1200" dirty="0">
                <a:solidFill>
                  <a:srgbClr val="783C00"/>
                </a:solidFill>
              </a:rPr>
              <a:t> key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 err="1">
                <a:solidFill>
                  <a:srgbClr val="783C00"/>
                </a:solidFill>
              </a:rPr>
              <a:t>Rradhit</a:t>
            </a:r>
            <a:r>
              <a:rPr lang="en-US" sz="1200" dirty="0">
                <a:solidFill>
                  <a:srgbClr val="783C00"/>
                </a:solidFill>
              </a:rPr>
              <a:t> </a:t>
            </a:r>
            <a:r>
              <a:rPr lang="en-US" sz="1200" dirty="0" err="1">
                <a:solidFill>
                  <a:srgbClr val="783C00"/>
                </a:solidFill>
              </a:rPr>
              <a:t>sipas</a:t>
            </a:r>
            <a:r>
              <a:rPr lang="en-US" sz="1200" dirty="0">
                <a:solidFill>
                  <a:srgbClr val="783C00"/>
                </a:solidFill>
              </a:rPr>
              <a:t> key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 err="1">
                <a:solidFill>
                  <a:srgbClr val="783C00"/>
                </a:solidFill>
              </a:rPr>
              <a:t>Shpërndan</a:t>
            </a:r>
            <a:r>
              <a:rPr lang="en-US" sz="1200" dirty="0">
                <a:solidFill>
                  <a:srgbClr val="783C00"/>
                </a:solidFill>
              </a:rPr>
              <a:t> </a:t>
            </a:r>
            <a:r>
              <a:rPr lang="en-US" sz="1200" dirty="0" err="1">
                <a:solidFill>
                  <a:srgbClr val="783C00"/>
                </a:solidFill>
              </a:rPr>
              <a:t>te</a:t>
            </a:r>
            <a:r>
              <a:rPr lang="en-US" sz="1200" dirty="0">
                <a:solidFill>
                  <a:srgbClr val="783C00"/>
                </a:solidFill>
              </a:rPr>
              <a:t> reducers</a:t>
            </a:r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20FD5793-BAAA-412D-AC2F-37FB7B732408}"/>
              </a:ext>
            </a:extLst>
          </p:cNvPr>
          <p:cNvSpPr/>
          <p:nvPr/>
        </p:nvSpPr>
        <p:spPr>
          <a:xfrm>
            <a:off x="6096000" y="2984500"/>
            <a:ext cx="2540000" cy="889000"/>
          </a:xfrm>
          <a:prstGeom prst="flowChartProcess">
            <a:avLst/>
          </a:prstGeom>
          <a:solidFill>
            <a:srgbClr val="ADD8E6"/>
          </a:solidFill>
          <a:ln w="38100">
            <a:solidFill>
              <a:srgbClr val="006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40D30E-58C1-423B-BAE8-816DB59D5F2D}"/>
              </a:ext>
            </a:extLst>
          </p:cNvPr>
          <p:cNvSpPr txBox="1"/>
          <p:nvPr/>
        </p:nvSpPr>
        <p:spPr>
          <a:xfrm>
            <a:off x="6286500" y="3111500"/>
            <a:ext cx="2159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600" b="1" dirty="0"/>
              <a:t>3. FAZA REDUCE</a:t>
            </a:r>
          </a:p>
          <a:p>
            <a:pPr algn="ctr"/>
            <a:r>
              <a:rPr lang="en-US" sz="1600" b="1" dirty="0"/>
              <a:t>Aggregate  Output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EF5F6B-AD01-4522-A821-02095588A95F}"/>
              </a:ext>
            </a:extLst>
          </p:cNvPr>
          <p:cNvSpPr txBox="1"/>
          <p:nvPr/>
        </p:nvSpPr>
        <p:spPr>
          <a:xfrm>
            <a:off x="6463646" y="3943023"/>
            <a:ext cx="254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sz="1200" dirty="0" err="1">
                <a:solidFill>
                  <a:srgbClr val="003C78"/>
                </a:solidFill>
              </a:rPr>
              <a:t>Merr</a:t>
            </a:r>
            <a:r>
              <a:rPr lang="en-US" sz="1200" dirty="0">
                <a:solidFill>
                  <a:srgbClr val="003C78"/>
                </a:solidFill>
              </a:rPr>
              <a:t> key + </a:t>
            </a:r>
            <a:r>
              <a:rPr lang="en-US" sz="1200" dirty="0" err="1">
                <a:solidFill>
                  <a:srgbClr val="003C78"/>
                </a:solidFill>
              </a:rPr>
              <a:t>lista</a:t>
            </a:r>
            <a:endParaRPr lang="en-US" sz="1200" dirty="0">
              <a:solidFill>
                <a:srgbClr val="003C78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sz="1200" dirty="0" err="1">
                <a:solidFill>
                  <a:srgbClr val="003C78"/>
                </a:solidFill>
              </a:rPr>
              <a:t>Aplikon</a:t>
            </a:r>
            <a:r>
              <a:rPr lang="en-US" sz="1200" dirty="0">
                <a:solidFill>
                  <a:srgbClr val="003C78"/>
                </a:solidFill>
              </a:rPr>
              <a:t> reduce</a:t>
            </a: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sz="1200" dirty="0" err="1">
                <a:solidFill>
                  <a:srgbClr val="003C78"/>
                </a:solidFill>
              </a:rPr>
              <a:t>Nxjerr</a:t>
            </a:r>
            <a:r>
              <a:rPr lang="en-US" sz="1200" dirty="0">
                <a:solidFill>
                  <a:srgbClr val="003C78"/>
                </a:solidFill>
              </a:rPr>
              <a:t> </a:t>
            </a:r>
            <a:r>
              <a:rPr lang="en-US" sz="1200" dirty="0" err="1">
                <a:solidFill>
                  <a:srgbClr val="003C78"/>
                </a:solidFill>
              </a:rPr>
              <a:t>rezultate</a:t>
            </a:r>
            <a:endParaRPr lang="en-US" sz="1200" dirty="0">
              <a:solidFill>
                <a:srgbClr val="003C78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111258-0645-47CE-86E9-7B776370A945}"/>
              </a:ext>
            </a:extLst>
          </p:cNvPr>
          <p:cNvCxnSpPr/>
          <p:nvPr/>
        </p:nvCxnSpPr>
        <p:spPr>
          <a:xfrm>
            <a:off x="3048000" y="3429000"/>
            <a:ext cx="254000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47B9D08-A997-4506-8F93-6D745291457A}"/>
              </a:ext>
            </a:extLst>
          </p:cNvPr>
          <p:cNvCxnSpPr/>
          <p:nvPr/>
        </p:nvCxnSpPr>
        <p:spPr>
          <a:xfrm>
            <a:off x="5842000" y="3429000"/>
            <a:ext cx="254000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18BB0F-99B7-4C87-AD22-E56C3F73E033}"/>
              </a:ext>
            </a:extLst>
          </p:cNvPr>
          <p:cNvSpPr/>
          <p:nvPr/>
        </p:nvSpPr>
        <p:spPr>
          <a:xfrm>
            <a:off x="444500" y="5037316"/>
            <a:ext cx="8128000" cy="1281327"/>
          </a:xfrm>
          <a:prstGeom prst="roundRect">
            <a:avLst/>
          </a:prstGeom>
          <a:solidFill>
            <a:srgbClr val="F0FFF0"/>
          </a:solidFill>
          <a:ln w="25400">
            <a:solidFill>
              <a:srgbClr val="228B2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0BAE53-DF18-4460-83C1-B355802CCA95}"/>
              </a:ext>
            </a:extLst>
          </p:cNvPr>
          <p:cNvSpPr txBox="1"/>
          <p:nvPr/>
        </p:nvSpPr>
        <p:spPr>
          <a:xfrm>
            <a:off x="698500" y="5164317"/>
            <a:ext cx="7620000" cy="109260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dirty="0">
                <a:solidFill>
                  <a:srgbClr val="005000"/>
                </a:solidFill>
              </a:rPr>
              <a:t>PËRPARËSITË KRYESORE: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300" dirty="0">
                <a:solidFill>
                  <a:srgbClr val="005000"/>
                </a:solidFill>
              </a:rPr>
              <a:t>SKALABILITET: </a:t>
            </a:r>
            <a:r>
              <a:rPr lang="en-US" sz="1300" dirty="0" err="1">
                <a:solidFill>
                  <a:srgbClr val="005000"/>
                </a:solidFill>
              </a:rPr>
              <a:t>Mund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të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procesohen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petabajt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të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dhënash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në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mijëra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makina</a:t>
            </a:r>
            <a:endParaRPr lang="en-US" sz="1300" dirty="0">
              <a:solidFill>
                <a:srgbClr val="005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300" dirty="0">
                <a:solidFill>
                  <a:srgbClr val="005000"/>
                </a:solidFill>
              </a:rPr>
              <a:t>FAULT TOLERANCE: </a:t>
            </a:r>
            <a:r>
              <a:rPr lang="en-US" sz="1300" dirty="0" err="1">
                <a:solidFill>
                  <a:srgbClr val="005000"/>
                </a:solidFill>
              </a:rPr>
              <a:t>Rimëkëmbje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automatike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nga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dështimet</a:t>
            </a:r>
            <a:endParaRPr lang="en-US" sz="1300" dirty="0">
              <a:solidFill>
                <a:srgbClr val="005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300" dirty="0">
                <a:solidFill>
                  <a:srgbClr val="005000"/>
                </a:solidFill>
              </a:rPr>
              <a:t>THJESHTËSI: </a:t>
            </a:r>
            <a:r>
              <a:rPr lang="en-US" sz="1300" dirty="0" err="1">
                <a:solidFill>
                  <a:srgbClr val="005000"/>
                </a:solidFill>
              </a:rPr>
              <a:t>Programuesi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shkruan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vetëm</a:t>
            </a:r>
            <a:r>
              <a:rPr lang="en-US" sz="1300" dirty="0">
                <a:solidFill>
                  <a:srgbClr val="005000"/>
                </a:solidFill>
              </a:rPr>
              <a:t> map() </a:t>
            </a:r>
            <a:r>
              <a:rPr lang="en-US" sz="1300" dirty="0" err="1">
                <a:solidFill>
                  <a:srgbClr val="005000"/>
                </a:solidFill>
              </a:rPr>
              <a:t>dhe</a:t>
            </a:r>
            <a:r>
              <a:rPr lang="en-US" sz="1300" dirty="0">
                <a:solidFill>
                  <a:srgbClr val="005000"/>
                </a:solidFill>
              </a:rPr>
              <a:t> reduce()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300" dirty="0">
                <a:solidFill>
                  <a:srgbClr val="005000"/>
                </a:solidFill>
              </a:rPr>
              <a:t>PARALELIZËM: </a:t>
            </a:r>
            <a:r>
              <a:rPr lang="en-US" sz="1300" dirty="0" err="1">
                <a:solidFill>
                  <a:srgbClr val="005000"/>
                </a:solidFill>
              </a:rPr>
              <a:t>Procesim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automatik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paralel</a:t>
            </a:r>
            <a:r>
              <a:rPr lang="en-US" sz="1300" dirty="0">
                <a:solidFill>
                  <a:srgbClr val="005000"/>
                </a:solidFill>
              </a:rPr>
              <a:t> pa </a:t>
            </a:r>
            <a:r>
              <a:rPr lang="en-US" sz="1300" dirty="0" err="1">
                <a:solidFill>
                  <a:srgbClr val="005000"/>
                </a:solidFill>
              </a:rPr>
              <a:t>kod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kompleks</a:t>
            </a:r>
            <a:endParaRPr lang="en-US" sz="1300" dirty="0">
              <a:solidFill>
                <a:srgbClr val="005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229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1C53069-07B4-4961-BE8E-A2CBFEEFB60E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4682B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0400B9-E65B-4C77-AB7D-A73305A50DEA}"/>
              </a:ext>
            </a:extLst>
          </p:cNvPr>
          <p:cNvSpPr txBox="1"/>
          <p:nvPr/>
        </p:nvSpPr>
        <p:spPr>
          <a:xfrm>
            <a:off x="254000" y="152400"/>
            <a:ext cx="863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RRJEDHA E PUNËS MAPREDUCE (WORKFLOW)</a:t>
            </a: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325B6281-F09C-4742-922C-8EC5FD10A0E5}"/>
              </a:ext>
            </a:extLst>
          </p:cNvPr>
          <p:cNvSpPr/>
          <p:nvPr/>
        </p:nvSpPr>
        <p:spPr>
          <a:xfrm>
            <a:off x="762000" y="1270000"/>
            <a:ext cx="1651000" cy="825500"/>
          </a:xfrm>
          <a:prstGeom prst="flowChartProcess">
            <a:avLst/>
          </a:prstGeom>
          <a:solidFill>
            <a:srgbClr val="DCDCDC"/>
          </a:solidFill>
          <a:ln w="31750">
            <a:solidFill>
              <a:srgbClr val="646464"/>
            </a:solidFill>
          </a:ln>
          <a:effectLst>
            <a:prstShdw prst="shdw6" dist="107763" dir="2700000">
              <a:scrgbClr r="0" g="0" b="0">
                <a:alpha val="50000"/>
              </a:scrgbClr>
            </a:prst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F5E731-A219-4E75-B6FD-6DF34A65F108}"/>
              </a:ext>
            </a:extLst>
          </p:cNvPr>
          <p:cNvSpPr txBox="1"/>
          <p:nvPr/>
        </p:nvSpPr>
        <p:spPr>
          <a:xfrm>
            <a:off x="889000" y="1460500"/>
            <a:ext cx="13970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500" b="1" dirty="0" err="1">
                <a:solidFill>
                  <a:srgbClr val="3C3C3C"/>
                </a:solidFill>
              </a:rPr>
              <a:t>Të</a:t>
            </a:r>
            <a:r>
              <a:rPr lang="en-US" sz="1500" b="1" dirty="0">
                <a:solidFill>
                  <a:srgbClr val="3C3C3C"/>
                </a:solidFill>
              </a:rPr>
              <a:t> </a:t>
            </a:r>
            <a:r>
              <a:rPr lang="en-US" sz="1500" b="1" dirty="0" err="1">
                <a:solidFill>
                  <a:srgbClr val="3C3C3C"/>
                </a:solidFill>
              </a:rPr>
              <a:t>dhënat</a:t>
            </a:r>
            <a:endParaRPr lang="en-US" sz="1500" b="1" dirty="0">
              <a:solidFill>
                <a:srgbClr val="3C3C3C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5A1A13-9E9D-4D21-A748-95566D4B8DDC}"/>
              </a:ext>
            </a:extLst>
          </p:cNvPr>
          <p:cNvCxnSpPr/>
          <p:nvPr/>
        </p:nvCxnSpPr>
        <p:spPr>
          <a:xfrm>
            <a:off x="2413000" y="1676400"/>
            <a:ext cx="254000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6DCAA634-E1A4-4582-A691-B4B818E022FA}"/>
              </a:ext>
            </a:extLst>
          </p:cNvPr>
          <p:cNvSpPr/>
          <p:nvPr/>
        </p:nvSpPr>
        <p:spPr>
          <a:xfrm>
            <a:off x="2667000" y="1270000"/>
            <a:ext cx="1651000" cy="825500"/>
          </a:xfrm>
          <a:prstGeom prst="flowChartProcess">
            <a:avLst/>
          </a:prstGeom>
          <a:solidFill>
            <a:srgbClr val="DCDCDC"/>
          </a:solidFill>
          <a:ln w="31750">
            <a:solidFill>
              <a:srgbClr val="646464"/>
            </a:solidFill>
          </a:ln>
          <a:effectLst>
            <a:prstShdw prst="shdw6" dist="107763" dir="2700000">
              <a:scrgbClr r="0" g="0" b="0">
                <a:alpha val="50000"/>
              </a:scrgbClr>
            </a:prst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6C9F98-D73C-47F6-970A-668A250A142D}"/>
              </a:ext>
            </a:extLst>
          </p:cNvPr>
          <p:cNvSpPr txBox="1"/>
          <p:nvPr/>
        </p:nvSpPr>
        <p:spPr>
          <a:xfrm>
            <a:off x="2794000" y="1460500"/>
            <a:ext cx="13970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500" b="1">
                <a:solidFill>
                  <a:srgbClr val="3C3C3C"/>
                </a:solidFill>
              </a:rPr>
              <a:t>NDAJ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EEF6076-2FFB-4B21-895A-59A86471A4C6}"/>
              </a:ext>
            </a:extLst>
          </p:cNvPr>
          <p:cNvCxnSpPr/>
          <p:nvPr/>
        </p:nvCxnSpPr>
        <p:spPr>
          <a:xfrm>
            <a:off x="4318000" y="1676400"/>
            <a:ext cx="254000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lowchart: Process 9">
            <a:extLst>
              <a:ext uri="{FF2B5EF4-FFF2-40B4-BE49-F238E27FC236}">
                <a16:creationId xmlns:a16="http://schemas.microsoft.com/office/drawing/2014/main" id="{857957A4-A07F-4409-89E3-33EC3365976E}"/>
              </a:ext>
            </a:extLst>
          </p:cNvPr>
          <p:cNvSpPr/>
          <p:nvPr/>
        </p:nvSpPr>
        <p:spPr>
          <a:xfrm>
            <a:off x="4572000" y="1270000"/>
            <a:ext cx="1651000" cy="825500"/>
          </a:xfrm>
          <a:prstGeom prst="flowChartProcess">
            <a:avLst/>
          </a:prstGeom>
          <a:solidFill>
            <a:srgbClr val="90EE90"/>
          </a:solidFill>
          <a:ln w="31750">
            <a:solidFill>
              <a:srgbClr val="008000"/>
            </a:solidFill>
          </a:ln>
          <a:effectLst>
            <a:prstShdw prst="shdw6" dist="107763" dir="2700000">
              <a:scrgbClr r="0" g="0" b="0">
                <a:alpha val="50000"/>
              </a:scrgbClr>
            </a:prst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426B08-7B3E-4CDA-AFCD-6A845753EEE4}"/>
              </a:ext>
            </a:extLst>
          </p:cNvPr>
          <p:cNvSpPr txBox="1"/>
          <p:nvPr/>
        </p:nvSpPr>
        <p:spPr>
          <a:xfrm>
            <a:off x="4699000" y="1460500"/>
            <a:ext cx="1397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b="1">
                <a:solidFill>
                  <a:srgbClr val="000000"/>
                </a:solidFill>
              </a:rPr>
              <a:t>MAP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9103B62F-0AC5-49D4-A170-1F830306FE04}"/>
              </a:ext>
            </a:extLst>
          </p:cNvPr>
          <p:cNvCxnSpPr/>
          <p:nvPr/>
        </p:nvCxnSpPr>
        <p:spPr>
          <a:xfrm>
            <a:off x="5397500" y="2095500"/>
            <a:ext cx="0" cy="698500"/>
          </a:xfrm>
          <a:prstGeom prst="bentConnector3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lowchart: Sort 12">
            <a:extLst>
              <a:ext uri="{FF2B5EF4-FFF2-40B4-BE49-F238E27FC236}">
                <a16:creationId xmlns:a16="http://schemas.microsoft.com/office/drawing/2014/main" id="{27443419-0B18-4A3E-B767-2D2A786B6C65}"/>
              </a:ext>
            </a:extLst>
          </p:cNvPr>
          <p:cNvSpPr/>
          <p:nvPr/>
        </p:nvSpPr>
        <p:spPr>
          <a:xfrm>
            <a:off x="1905000" y="2794000"/>
            <a:ext cx="2286000" cy="825500"/>
          </a:xfrm>
          <a:prstGeom prst="flowChartSort">
            <a:avLst/>
          </a:prstGeom>
          <a:solidFill>
            <a:srgbClr val="FFDAB9"/>
          </a:solidFill>
          <a:ln w="31750">
            <a:solidFill>
              <a:srgbClr val="FF8C00"/>
            </a:solidFill>
          </a:ln>
          <a:effectLst>
            <a:prstShdw prst="shdw6" dist="107763" dir="2700000">
              <a:scrgbClr r="0" g="0" b="0">
                <a:alpha val="50000"/>
              </a:scrgbClr>
            </a:prst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B02B91-54C5-48B9-AC41-DCC899D17D0A}"/>
              </a:ext>
            </a:extLst>
          </p:cNvPr>
          <p:cNvSpPr txBox="1"/>
          <p:nvPr/>
        </p:nvSpPr>
        <p:spPr>
          <a:xfrm>
            <a:off x="2032000" y="3022084"/>
            <a:ext cx="203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b="1" dirty="0">
                <a:solidFill>
                  <a:srgbClr val="000000"/>
                </a:solidFill>
              </a:rPr>
              <a:t>Shuffle &amp; Sort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B5D47C6-A95E-4675-9A94-5EAE025E164B}"/>
              </a:ext>
            </a:extLst>
          </p:cNvPr>
          <p:cNvCxnSpPr/>
          <p:nvPr/>
        </p:nvCxnSpPr>
        <p:spPr>
          <a:xfrm>
            <a:off x="4191000" y="3200400"/>
            <a:ext cx="254000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CE674E18-B7D6-449D-8EC1-C3C2E1FE2B10}"/>
              </a:ext>
            </a:extLst>
          </p:cNvPr>
          <p:cNvSpPr/>
          <p:nvPr/>
        </p:nvSpPr>
        <p:spPr>
          <a:xfrm>
            <a:off x="4445000" y="2794000"/>
            <a:ext cx="1651000" cy="825500"/>
          </a:xfrm>
          <a:prstGeom prst="flowChartProcess">
            <a:avLst/>
          </a:prstGeom>
          <a:solidFill>
            <a:srgbClr val="ADD8E6"/>
          </a:solidFill>
          <a:ln w="31750">
            <a:solidFill>
              <a:srgbClr val="0066CC"/>
            </a:solidFill>
          </a:ln>
          <a:effectLst>
            <a:prstShdw prst="shdw6" dist="107763" dir="2700000">
              <a:scrgbClr r="0" g="0" b="0">
                <a:alpha val="50000"/>
              </a:scrgbClr>
            </a:prst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1647D4-0AA5-414C-B8F4-47F89B477636}"/>
              </a:ext>
            </a:extLst>
          </p:cNvPr>
          <p:cNvSpPr txBox="1"/>
          <p:nvPr/>
        </p:nvSpPr>
        <p:spPr>
          <a:xfrm>
            <a:off x="4572000" y="2984500"/>
            <a:ext cx="1397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b="1">
                <a:solidFill>
                  <a:srgbClr val="000000"/>
                </a:solidFill>
              </a:rPr>
              <a:t>REDUCE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EA6EF95-A8A6-47ED-9C3F-A3F2FAE5585F}"/>
              </a:ext>
            </a:extLst>
          </p:cNvPr>
          <p:cNvCxnSpPr/>
          <p:nvPr/>
        </p:nvCxnSpPr>
        <p:spPr>
          <a:xfrm>
            <a:off x="6096000" y="3200400"/>
            <a:ext cx="254000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lowchart: Process 18">
            <a:extLst>
              <a:ext uri="{FF2B5EF4-FFF2-40B4-BE49-F238E27FC236}">
                <a16:creationId xmlns:a16="http://schemas.microsoft.com/office/drawing/2014/main" id="{856DE2C8-75A8-4C16-8A06-F4E1C755C7A3}"/>
              </a:ext>
            </a:extLst>
          </p:cNvPr>
          <p:cNvSpPr/>
          <p:nvPr/>
        </p:nvSpPr>
        <p:spPr>
          <a:xfrm>
            <a:off x="6350000" y="2794000"/>
            <a:ext cx="1651000" cy="825500"/>
          </a:xfrm>
          <a:prstGeom prst="flowChartProcess">
            <a:avLst/>
          </a:prstGeom>
          <a:solidFill>
            <a:srgbClr val="DCDCDC"/>
          </a:solidFill>
          <a:ln w="31750">
            <a:solidFill>
              <a:srgbClr val="646464"/>
            </a:solidFill>
          </a:ln>
          <a:effectLst>
            <a:prstShdw prst="shdw6" dist="107763" dir="2700000">
              <a:scrgbClr r="0" g="0" b="0">
                <a:alpha val="50000"/>
              </a:scrgbClr>
            </a:prst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E179A6-E88B-4A2F-A0D1-F4BCC75AF963}"/>
              </a:ext>
            </a:extLst>
          </p:cNvPr>
          <p:cNvSpPr txBox="1"/>
          <p:nvPr/>
        </p:nvSpPr>
        <p:spPr>
          <a:xfrm>
            <a:off x="6477000" y="2984500"/>
            <a:ext cx="13970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500" b="1">
                <a:solidFill>
                  <a:srgbClr val="3C3C3C"/>
                </a:solidFill>
              </a:rPr>
              <a:t>Rezultati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798EBC8-62E8-41A6-A9A8-BB9EB60F0D3A}"/>
              </a:ext>
            </a:extLst>
          </p:cNvPr>
          <p:cNvSpPr/>
          <p:nvPr/>
        </p:nvSpPr>
        <p:spPr>
          <a:xfrm>
            <a:off x="508000" y="3937000"/>
            <a:ext cx="8128000" cy="2540000"/>
          </a:xfrm>
          <a:prstGeom prst="roundRect">
            <a:avLst/>
          </a:prstGeom>
          <a:solidFill>
            <a:srgbClr val="FFFFF0"/>
          </a:solidFill>
          <a:ln w="38100">
            <a:solidFill>
              <a:srgbClr val="B88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CA6C08-35A5-4022-82E5-40E06A96C159}"/>
              </a:ext>
            </a:extLst>
          </p:cNvPr>
          <p:cNvSpPr txBox="1"/>
          <p:nvPr/>
        </p:nvSpPr>
        <p:spPr>
          <a:xfrm>
            <a:off x="762000" y="4165937"/>
            <a:ext cx="7620000" cy="203132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dirty="0">
                <a:solidFill>
                  <a:srgbClr val="503C00"/>
                </a:solidFill>
              </a:rPr>
              <a:t>RRJEDHA E SHPJEGUAR:</a:t>
            </a:r>
          </a:p>
          <a:p>
            <a:r>
              <a:rPr lang="en-US" sz="1400" dirty="0">
                <a:solidFill>
                  <a:srgbClr val="503C00"/>
                </a:solidFill>
              </a:rPr>
              <a:t>1. </a:t>
            </a:r>
            <a:r>
              <a:rPr lang="en-US" sz="1400" dirty="0" err="1">
                <a:solidFill>
                  <a:srgbClr val="503C00"/>
                </a:solidFill>
              </a:rPr>
              <a:t>Të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dhënat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hyrëse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ndahen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në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pjesë</a:t>
            </a:r>
            <a:r>
              <a:rPr lang="en-US" sz="1400" dirty="0">
                <a:solidFill>
                  <a:srgbClr val="503C00"/>
                </a:solidFill>
              </a:rPr>
              <a:t> (chunks)</a:t>
            </a:r>
          </a:p>
          <a:p>
            <a:r>
              <a:rPr lang="en-US" sz="1400" dirty="0">
                <a:solidFill>
                  <a:srgbClr val="503C00"/>
                </a:solidFill>
              </a:rPr>
              <a:t>2. </a:t>
            </a:r>
            <a:r>
              <a:rPr lang="en-US" sz="1400" dirty="0" err="1">
                <a:solidFill>
                  <a:srgbClr val="503C00"/>
                </a:solidFill>
              </a:rPr>
              <a:t>Çdo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pjesë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procesohet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nga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funksioni</a:t>
            </a:r>
            <a:r>
              <a:rPr lang="en-US" sz="1400" dirty="0">
                <a:solidFill>
                  <a:srgbClr val="503C00"/>
                </a:solidFill>
              </a:rPr>
              <a:t> MAP </a:t>
            </a:r>
            <a:r>
              <a:rPr lang="en-US" sz="1400" dirty="0" err="1">
                <a:solidFill>
                  <a:srgbClr val="503C00"/>
                </a:solidFill>
              </a:rPr>
              <a:t>në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mënyrë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paralele</a:t>
            </a:r>
            <a:endParaRPr lang="en-US" sz="1400" dirty="0">
              <a:solidFill>
                <a:srgbClr val="503C00"/>
              </a:solidFill>
            </a:endParaRPr>
          </a:p>
          <a:p>
            <a:r>
              <a:rPr lang="en-US" sz="1400" dirty="0">
                <a:solidFill>
                  <a:srgbClr val="503C00"/>
                </a:solidFill>
              </a:rPr>
              <a:t>3. </a:t>
            </a:r>
            <a:r>
              <a:rPr lang="en-US" sz="1400" dirty="0" err="1">
                <a:solidFill>
                  <a:srgbClr val="503C00"/>
                </a:solidFill>
              </a:rPr>
              <a:t>Rezultatet</a:t>
            </a:r>
            <a:r>
              <a:rPr lang="en-US" sz="1400" dirty="0">
                <a:solidFill>
                  <a:srgbClr val="503C00"/>
                </a:solidFill>
              </a:rPr>
              <a:t> e </a:t>
            </a:r>
            <a:r>
              <a:rPr lang="en-US" sz="1400" dirty="0" err="1">
                <a:solidFill>
                  <a:srgbClr val="503C00"/>
                </a:solidFill>
              </a:rPr>
              <a:t>ndërmjetme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përzihen</a:t>
            </a:r>
            <a:r>
              <a:rPr lang="en-US" sz="1400" dirty="0">
                <a:solidFill>
                  <a:srgbClr val="503C00"/>
                </a:solidFill>
              </a:rPr>
              <a:t> (shuffle) </a:t>
            </a:r>
            <a:r>
              <a:rPr lang="en-US" sz="1400" dirty="0" err="1">
                <a:solidFill>
                  <a:srgbClr val="503C00"/>
                </a:solidFill>
              </a:rPr>
              <a:t>dhe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rradhiten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sipas</a:t>
            </a:r>
            <a:r>
              <a:rPr lang="en-US" sz="1400" dirty="0">
                <a:solidFill>
                  <a:srgbClr val="503C00"/>
                </a:solidFill>
              </a:rPr>
              <a:t> key</a:t>
            </a:r>
          </a:p>
          <a:p>
            <a:r>
              <a:rPr lang="en-US" sz="1400" dirty="0">
                <a:solidFill>
                  <a:srgbClr val="503C00"/>
                </a:solidFill>
              </a:rPr>
              <a:t>4. </a:t>
            </a:r>
            <a:r>
              <a:rPr lang="en-US" sz="1400" dirty="0" err="1">
                <a:solidFill>
                  <a:srgbClr val="503C00"/>
                </a:solidFill>
              </a:rPr>
              <a:t>Funksioni</a:t>
            </a:r>
            <a:r>
              <a:rPr lang="en-US" sz="1400" dirty="0">
                <a:solidFill>
                  <a:srgbClr val="503C00"/>
                </a:solidFill>
              </a:rPr>
              <a:t> REDUCE </a:t>
            </a:r>
            <a:r>
              <a:rPr lang="en-US" sz="1400" dirty="0" err="1">
                <a:solidFill>
                  <a:srgbClr val="503C00"/>
                </a:solidFill>
              </a:rPr>
              <a:t>agregon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vlerat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për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çdo</a:t>
            </a:r>
            <a:r>
              <a:rPr lang="en-US" sz="1400" dirty="0">
                <a:solidFill>
                  <a:srgbClr val="503C00"/>
                </a:solidFill>
              </a:rPr>
              <a:t> key</a:t>
            </a:r>
          </a:p>
          <a:p>
            <a:r>
              <a:rPr lang="en-US" sz="1400" dirty="0">
                <a:solidFill>
                  <a:srgbClr val="503C00"/>
                </a:solidFill>
              </a:rPr>
              <a:t>5. </a:t>
            </a:r>
            <a:r>
              <a:rPr lang="en-US" sz="1400" dirty="0" err="1">
                <a:solidFill>
                  <a:srgbClr val="503C00"/>
                </a:solidFill>
              </a:rPr>
              <a:t>Rezultatet</a:t>
            </a:r>
            <a:r>
              <a:rPr lang="en-US" sz="1400" dirty="0">
                <a:solidFill>
                  <a:srgbClr val="503C00"/>
                </a:solidFill>
              </a:rPr>
              <a:t> finale </a:t>
            </a:r>
            <a:r>
              <a:rPr lang="en-US" sz="1400" dirty="0" err="1">
                <a:solidFill>
                  <a:srgbClr val="503C00"/>
                </a:solidFill>
              </a:rPr>
              <a:t>shkruhen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në</a:t>
            </a:r>
            <a:r>
              <a:rPr lang="en-US" sz="1400" dirty="0">
                <a:solidFill>
                  <a:srgbClr val="503C00"/>
                </a:solidFill>
              </a:rPr>
              <a:t> output</a:t>
            </a:r>
          </a:p>
          <a:p>
            <a:endParaRPr lang="en-US" sz="1400" dirty="0">
              <a:solidFill>
                <a:srgbClr val="503C00"/>
              </a:solidFill>
            </a:endParaRPr>
          </a:p>
          <a:p>
            <a:r>
              <a:rPr lang="en-US" sz="1400" dirty="0">
                <a:solidFill>
                  <a:srgbClr val="503C00"/>
                </a:solidFill>
              </a:rPr>
              <a:t>Ky model </a:t>
            </a:r>
            <a:r>
              <a:rPr lang="en-US" sz="1400" dirty="0" err="1">
                <a:solidFill>
                  <a:srgbClr val="503C00"/>
                </a:solidFill>
              </a:rPr>
              <a:t>mundëson</a:t>
            </a:r>
            <a:r>
              <a:rPr lang="en-US" sz="1400" dirty="0">
                <a:solidFill>
                  <a:srgbClr val="503C00"/>
                </a:solidFill>
              </a:rPr>
              <a:t> PARALELIZËM MASIV </a:t>
            </a:r>
            <a:r>
              <a:rPr lang="en-US" sz="1400" dirty="0" err="1">
                <a:solidFill>
                  <a:srgbClr val="503C00"/>
                </a:solidFill>
              </a:rPr>
              <a:t>në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mijëra</a:t>
            </a:r>
            <a:r>
              <a:rPr lang="en-US" sz="1400" dirty="0">
                <a:solidFill>
                  <a:srgbClr val="503C00"/>
                </a:solidFill>
              </a:rPr>
              <a:t> </a:t>
            </a:r>
            <a:r>
              <a:rPr lang="en-US" sz="1400" dirty="0" err="1">
                <a:solidFill>
                  <a:srgbClr val="503C00"/>
                </a:solidFill>
              </a:rPr>
              <a:t>makina</a:t>
            </a:r>
            <a:r>
              <a:rPr lang="en-US" sz="1400" dirty="0">
                <a:solidFill>
                  <a:srgbClr val="503C00"/>
                </a:solidFill>
              </a:rPr>
              <a:t>!</a:t>
            </a:r>
          </a:p>
          <a:p>
            <a:r>
              <a:rPr lang="en-US" sz="1400" dirty="0">
                <a:solidFill>
                  <a:srgbClr val="503C00"/>
                </a:solidFill>
              </a:rPr>
              <a:t>Framework-et: Hadoop, Spark, </a:t>
            </a:r>
            <a:r>
              <a:rPr lang="en-US" sz="1400" dirty="0" err="1">
                <a:solidFill>
                  <a:srgbClr val="503C00"/>
                </a:solidFill>
              </a:rPr>
              <a:t>Flink</a:t>
            </a:r>
            <a:endParaRPr lang="en-US" sz="1400" dirty="0">
              <a:solidFill>
                <a:srgbClr val="503C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5216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BDC222-F5EC-46EF-AB27-72FA291647AE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9E3826-098E-467C-9CC9-4805839214A2}"/>
              </a:ext>
            </a:extLst>
          </p:cNvPr>
          <p:cNvSpPr txBox="1"/>
          <p:nvPr/>
        </p:nvSpPr>
        <p:spPr>
          <a:xfrm>
            <a:off x="254000" y="152400"/>
            <a:ext cx="8636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b="1" dirty="0">
                <a:solidFill>
                  <a:srgbClr val="FFFFFF"/>
                </a:solidFill>
              </a:rPr>
              <a:t>SHEMBULLI KLASIK: NUMËRIMI I FJALËVE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3547CEC-B3F6-446B-9030-BCEE89E53EA2}"/>
              </a:ext>
            </a:extLst>
          </p:cNvPr>
          <p:cNvSpPr/>
          <p:nvPr/>
        </p:nvSpPr>
        <p:spPr>
          <a:xfrm>
            <a:off x="508000" y="952500"/>
            <a:ext cx="8128000" cy="698500"/>
          </a:xfrm>
          <a:prstGeom prst="roundRect">
            <a:avLst/>
          </a:prstGeom>
          <a:solidFill>
            <a:srgbClr val="FFFACD"/>
          </a:solidFill>
          <a:ln w="25400">
            <a:solidFill>
              <a:srgbClr val="DAA5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5F44CB-7964-493D-B4F9-CA5E129BF3CE}"/>
              </a:ext>
            </a:extLst>
          </p:cNvPr>
          <p:cNvSpPr txBox="1"/>
          <p:nvPr/>
        </p:nvSpPr>
        <p:spPr>
          <a:xfrm>
            <a:off x="698500" y="1041400"/>
            <a:ext cx="7747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 dirty="0">
                <a:solidFill>
                  <a:srgbClr val="644600"/>
                </a:solidFill>
              </a:rPr>
              <a:t>PROBLEMI: </a:t>
            </a:r>
            <a:r>
              <a:rPr lang="en-US" sz="1300" b="1" dirty="0" err="1">
                <a:solidFill>
                  <a:srgbClr val="644600"/>
                </a:solidFill>
              </a:rPr>
              <a:t>Numëro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frekuencën</a:t>
            </a:r>
            <a:r>
              <a:rPr lang="en-US" sz="1300" b="1" dirty="0">
                <a:solidFill>
                  <a:srgbClr val="644600"/>
                </a:solidFill>
              </a:rPr>
              <a:t> e </a:t>
            </a:r>
            <a:r>
              <a:rPr lang="en-US" sz="1300" b="1" dirty="0" err="1">
                <a:solidFill>
                  <a:srgbClr val="644600"/>
                </a:solidFill>
              </a:rPr>
              <a:t>çdo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fjale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në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koleksion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të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madh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dokumentesh</a:t>
            </a:r>
            <a:endParaRPr lang="en-US" sz="1300" b="1" dirty="0">
              <a:solidFill>
                <a:srgbClr val="644600"/>
              </a:solidFill>
            </a:endParaRPr>
          </a:p>
          <a:p>
            <a:r>
              <a:rPr lang="en-US" sz="1300" b="1" dirty="0">
                <a:solidFill>
                  <a:srgbClr val="644600"/>
                </a:solidFill>
              </a:rPr>
              <a:t>INPUT: 10 </a:t>
            </a:r>
            <a:r>
              <a:rPr lang="en-US" sz="1300" b="1" dirty="0" err="1">
                <a:solidFill>
                  <a:srgbClr val="644600"/>
                </a:solidFill>
              </a:rPr>
              <a:t>dokumente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rreth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teknologjive</a:t>
            </a:r>
            <a:r>
              <a:rPr lang="en-US" sz="1300" b="1" dirty="0">
                <a:solidFill>
                  <a:srgbClr val="644600"/>
                </a:solidFill>
              </a:rPr>
              <a:t> Big Data (76 </a:t>
            </a:r>
            <a:r>
              <a:rPr lang="en-US" sz="1300" b="1" dirty="0" err="1">
                <a:solidFill>
                  <a:srgbClr val="644600"/>
                </a:solidFill>
              </a:rPr>
              <a:t>fjalë</a:t>
            </a:r>
            <a:r>
              <a:rPr lang="en-US" sz="1300" b="1" dirty="0">
                <a:solidFill>
                  <a:srgbClr val="644600"/>
                </a:solidFill>
              </a:rPr>
              <a:t> </a:t>
            </a:r>
            <a:r>
              <a:rPr lang="en-US" sz="1300" b="1" dirty="0" err="1">
                <a:solidFill>
                  <a:srgbClr val="644600"/>
                </a:solidFill>
              </a:rPr>
              <a:t>totale</a:t>
            </a:r>
            <a:r>
              <a:rPr lang="en-US" sz="1300" b="1" dirty="0">
                <a:solidFill>
                  <a:srgbClr val="644600"/>
                </a:solidFill>
              </a:rPr>
              <a:t>, 51 </a:t>
            </a:r>
            <a:r>
              <a:rPr lang="en-US" sz="1300" b="1" dirty="0" err="1">
                <a:solidFill>
                  <a:srgbClr val="644600"/>
                </a:solidFill>
              </a:rPr>
              <a:t>unike</a:t>
            </a:r>
            <a:r>
              <a:rPr lang="en-US" sz="1300" b="1" dirty="0">
                <a:solidFill>
                  <a:srgbClr val="644600"/>
                </a:solidFill>
              </a:rPr>
              <a:t>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070A1A8-FCF1-4EF7-9A1E-A93EAFEF74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7182773"/>
              </p:ext>
            </p:extLst>
          </p:nvPr>
        </p:nvGraphicFramePr>
        <p:xfrm>
          <a:off x="571500" y="1907255"/>
          <a:ext cx="5080000" cy="35560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425891164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101404893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35376041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1378382447"/>
                    </a:ext>
                  </a:extLst>
                </a:gridCol>
              </a:tblGrid>
              <a:tr h="323273">
                <a:tc>
                  <a:txBody>
                    <a:bodyPr/>
                    <a:lstStyle/>
                    <a:p>
                      <a:r>
                        <a:rPr lang="en-US" sz="1100" dirty="0"/>
                        <a:t>RANGU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FJALA</a:t>
                      </a:r>
                      <a:endParaRPr lang="en-US" sz="1100" b="1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NUMRI</a:t>
                      </a:r>
                      <a:endParaRPr lang="en-US" sz="1100" b="1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%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619616"/>
                  </a:ext>
                </a:extLst>
              </a:tr>
              <a:tr h="323273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data</a:t>
                      </a:r>
                      <a:endParaRPr lang="en-US" sz="10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8</a:t>
                      </a:r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10,53%</a:t>
                      </a:r>
                      <a:endParaRPr lang="en-US" sz="10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630257"/>
                  </a:ext>
                </a:extLst>
              </a:tr>
              <a:tr h="323273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big</a:t>
                      </a:r>
                      <a:endParaRPr lang="en-US" sz="10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5</a:t>
                      </a:r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6,58%</a:t>
                      </a:r>
                      <a:endParaRPr lang="en-US" sz="10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4174989"/>
                  </a:ext>
                </a:extLst>
              </a:tr>
              <a:tr h="323273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processing</a:t>
                      </a:r>
                      <a:endParaRPr lang="en-US" sz="10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5</a:t>
                      </a:r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6,58%</a:t>
                      </a:r>
                      <a:endParaRPr lang="en-US" sz="10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8312793"/>
                  </a:ext>
                </a:extLst>
              </a:tr>
              <a:tr h="323273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distributed</a:t>
                      </a:r>
                      <a:endParaRPr lang="en-US" sz="10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3</a:t>
                      </a:r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3,95%</a:t>
                      </a:r>
                      <a:endParaRPr lang="en-US" sz="10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156199"/>
                  </a:ext>
                </a:extLst>
              </a:tr>
              <a:tr h="323273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computing</a:t>
                      </a:r>
                      <a:endParaRPr lang="en-US" sz="10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</a:t>
                      </a:r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2,63%</a:t>
                      </a:r>
                      <a:endParaRPr lang="en-US" sz="10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8265625"/>
                  </a:ext>
                </a:extLst>
              </a:tr>
              <a:tr h="323273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datasets</a:t>
                      </a:r>
                      <a:endParaRPr lang="en-US" sz="10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</a:t>
                      </a:r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2,63%</a:t>
                      </a:r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9762259"/>
                  </a:ext>
                </a:extLst>
              </a:tr>
              <a:tr h="323273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frameworks</a:t>
                      </a:r>
                      <a:endParaRPr lang="en-US" sz="10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</a:t>
                      </a:r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2,63%</a:t>
                      </a:r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662913"/>
                  </a:ext>
                </a:extLst>
              </a:tr>
              <a:tr h="323273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mapreduce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</a:t>
                      </a:r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2,63%</a:t>
                      </a:r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1466620"/>
                  </a:ext>
                </a:extLst>
              </a:tr>
              <a:tr h="323273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information</a:t>
                      </a:r>
                      <a:endParaRPr lang="en-US" sz="10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</a:t>
                      </a:r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2,63%</a:t>
                      </a:r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9391902"/>
                  </a:ext>
                </a:extLst>
              </a:tr>
              <a:tr h="323273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systems</a:t>
                      </a:r>
                      <a:endParaRPr lang="en-US" sz="10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</a:t>
                      </a:r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1,32%</a:t>
                      </a:r>
                      <a:endParaRPr lang="en-US" sz="10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027550"/>
                  </a:ext>
                </a:extLst>
              </a:tr>
            </a:tbl>
          </a:graphicData>
        </a:graphic>
      </p:graphicFrame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D6FD9AC-6291-4DAA-A3CB-F5C421C1C0E7}"/>
              </a:ext>
            </a:extLst>
          </p:cNvPr>
          <p:cNvSpPr/>
          <p:nvPr/>
        </p:nvSpPr>
        <p:spPr>
          <a:xfrm>
            <a:off x="5750351" y="1841499"/>
            <a:ext cx="3139649" cy="3783111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00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EE6710-30BE-418C-8934-56C4CC9A92DA}"/>
              </a:ext>
            </a:extLst>
          </p:cNvPr>
          <p:cNvSpPr txBox="1"/>
          <p:nvPr/>
        </p:nvSpPr>
        <p:spPr>
          <a:xfrm>
            <a:off x="5969000" y="19685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l-PL" sz="1400" b="1" dirty="0"/>
              <a:t>GRAFIKU I FREKUENCËS</a:t>
            </a:r>
            <a:endParaRPr lang="en-US" sz="1400" b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7DF745-4F6A-436D-B30A-BE3CD9EF5E0E}"/>
              </a:ext>
            </a:extLst>
          </p:cNvPr>
          <p:cNvSpPr/>
          <p:nvPr/>
        </p:nvSpPr>
        <p:spPr>
          <a:xfrm>
            <a:off x="6032500" y="2476500"/>
            <a:ext cx="2540000" cy="317500"/>
          </a:xfrm>
          <a:prstGeom prst="rect">
            <a:avLst/>
          </a:prstGeom>
          <a:solidFill>
            <a:srgbClr val="F0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ABA5AF-255E-494A-8145-1E583C28705A}"/>
              </a:ext>
            </a:extLst>
          </p:cNvPr>
          <p:cNvSpPr/>
          <p:nvPr/>
        </p:nvSpPr>
        <p:spPr>
          <a:xfrm>
            <a:off x="6032500" y="2476500"/>
            <a:ext cx="2032000" cy="317500"/>
          </a:xfrm>
          <a:prstGeom prst="rect">
            <a:avLst/>
          </a:prstGeom>
          <a:solidFill>
            <a:srgbClr val="FF63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D7F91F-0A0D-40DD-BED9-5F626477F3E7}"/>
              </a:ext>
            </a:extLst>
          </p:cNvPr>
          <p:cNvSpPr txBox="1"/>
          <p:nvPr/>
        </p:nvSpPr>
        <p:spPr>
          <a:xfrm>
            <a:off x="6096000" y="2527300"/>
            <a:ext cx="1016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4E8E05-7B85-4662-9CCF-2AC9FFF51D86}"/>
              </a:ext>
            </a:extLst>
          </p:cNvPr>
          <p:cNvSpPr/>
          <p:nvPr/>
        </p:nvSpPr>
        <p:spPr>
          <a:xfrm>
            <a:off x="6032500" y="2857500"/>
            <a:ext cx="2540000" cy="317500"/>
          </a:xfrm>
          <a:prstGeom prst="rect">
            <a:avLst/>
          </a:prstGeom>
          <a:solidFill>
            <a:srgbClr val="F0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9A4BFC-DEDA-4082-B90C-AEED306D42FE}"/>
              </a:ext>
            </a:extLst>
          </p:cNvPr>
          <p:cNvSpPr/>
          <p:nvPr/>
        </p:nvSpPr>
        <p:spPr>
          <a:xfrm>
            <a:off x="6032500" y="2857500"/>
            <a:ext cx="1270000" cy="317500"/>
          </a:xfrm>
          <a:prstGeom prst="rect">
            <a:avLst/>
          </a:prstGeom>
          <a:solidFill>
            <a:srgbClr val="FF63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A121C8-C780-478E-A5A5-2EC0D16060B9}"/>
              </a:ext>
            </a:extLst>
          </p:cNvPr>
          <p:cNvSpPr txBox="1"/>
          <p:nvPr/>
        </p:nvSpPr>
        <p:spPr>
          <a:xfrm>
            <a:off x="6096000" y="2908300"/>
            <a:ext cx="1016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big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4F417D-EDC3-4076-A9EF-411359FA649D}"/>
              </a:ext>
            </a:extLst>
          </p:cNvPr>
          <p:cNvSpPr/>
          <p:nvPr/>
        </p:nvSpPr>
        <p:spPr>
          <a:xfrm>
            <a:off x="6032500" y="3238500"/>
            <a:ext cx="2540000" cy="317500"/>
          </a:xfrm>
          <a:prstGeom prst="rect">
            <a:avLst/>
          </a:prstGeom>
          <a:solidFill>
            <a:srgbClr val="F0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AF3925-4525-403A-8586-482E5C6A5C8E}"/>
              </a:ext>
            </a:extLst>
          </p:cNvPr>
          <p:cNvSpPr/>
          <p:nvPr/>
        </p:nvSpPr>
        <p:spPr>
          <a:xfrm>
            <a:off x="6032500" y="3238500"/>
            <a:ext cx="1270000" cy="317500"/>
          </a:xfrm>
          <a:prstGeom prst="rect">
            <a:avLst/>
          </a:prstGeom>
          <a:solidFill>
            <a:srgbClr val="FF63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236055-1557-4566-9BBE-2944BB60F6DB}"/>
              </a:ext>
            </a:extLst>
          </p:cNvPr>
          <p:cNvSpPr txBox="1"/>
          <p:nvPr/>
        </p:nvSpPr>
        <p:spPr>
          <a:xfrm>
            <a:off x="6096000" y="3289300"/>
            <a:ext cx="1016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DD504A4-6005-423B-BC8A-A501D199D633}"/>
              </a:ext>
            </a:extLst>
          </p:cNvPr>
          <p:cNvSpPr/>
          <p:nvPr/>
        </p:nvSpPr>
        <p:spPr>
          <a:xfrm>
            <a:off x="6032500" y="3619500"/>
            <a:ext cx="2540000" cy="317500"/>
          </a:xfrm>
          <a:prstGeom prst="rect">
            <a:avLst/>
          </a:prstGeom>
          <a:solidFill>
            <a:srgbClr val="F0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D61ACD4-B0B5-477D-AF7D-737C45776FF3}"/>
              </a:ext>
            </a:extLst>
          </p:cNvPr>
          <p:cNvSpPr/>
          <p:nvPr/>
        </p:nvSpPr>
        <p:spPr>
          <a:xfrm>
            <a:off x="6032500" y="3619500"/>
            <a:ext cx="762000" cy="317500"/>
          </a:xfrm>
          <a:prstGeom prst="rect">
            <a:avLst/>
          </a:prstGeom>
          <a:solidFill>
            <a:srgbClr val="FFA5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4DFA3B-5E92-4C36-A546-86CB5952B421}"/>
              </a:ext>
            </a:extLst>
          </p:cNvPr>
          <p:cNvSpPr txBox="1"/>
          <p:nvPr/>
        </p:nvSpPr>
        <p:spPr>
          <a:xfrm>
            <a:off x="6096000" y="3670300"/>
            <a:ext cx="1016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distrib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01B6AD4-9E3E-40B3-8390-9ADC07D97DDB}"/>
              </a:ext>
            </a:extLst>
          </p:cNvPr>
          <p:cNvSpPr/>
          <p:nvPr/>
        </p:nvSpPr>
        <p:spPr>
          <a:xfrm>
            <a:off x="6032500" y="4000500"/>
            <a:ext cx="2540000" cy="317500"/>
          </a:xfrm>
          <a:prstGeom prst="rect">
            <a:avLst/>
          </a:prstGeom>
          <a:solidFill>
            <a:srgbClr val="F0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D852CE6-1A0F-4C33-9644-9915A8363B80}"/>
              </a:ext>
            </a:extLst>
          </p:cNvPr>
          <p:cNvSpPr/>
          <p:nvPr/>
        </p:nvSpPr>
        <p:spPr>
          <a:xfrm>
            <a:off x="6032500" y="4000500"/>
            <a:ext cx="508000" cy="317500"/>
          </a:xfrm>
          <a:prstGeom prst="rect">
            <a:avLst/>
          </a:prstGeom>
          <a:solidFill>
            <a:srgbClr val="FFA5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060797-BA97-4127-B538-8003FA45D9EE}"/>
              </a:ext>
            </a:extLst>
          </p:cNvPr>
          <p:cNvSpPr txBox="1"/>
          <p:nvPr/>
        </p:nvSpPr>
        <p:spPr>
          <a:xfrm>
            <a:off x="6096000" y="4051300"/>
            <a:ext cx="1016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computi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5C7B841-B89D-4C87-AE80-FBDB939BEC58}"/>
              </a:ext>
            </a:extLst>
          </p:cNvPr>
          <p:cNvSpPr/>
          <p:nvPr/>
        </p:nvSpPr>
        <p:spPr>
          <a:xfrm>
            <a:off x="6032500" y="4381500"/>
            <a:ext cx="2540000" cy="317500"/>
          </a:xfrm>
          <a:prstGeom prst="rect">
            <a:avLst/>
          </a:prstGeom>
          <a:solidFill>
            <a:srgbClr val="F0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E2E6368-FA6E-4D7A-A577-225253770BC7}"/>
              </a:ext>
            </a:extLst>
          </p:cNvPr>
          <p:cNvSpPr/>
          <p:nvPr/>
        </p:nvSpPr>
        <p:spPr>
          <a:xfrm>
            <a:off x="6032500" y="4381500"/>
            <a:ext cx="508000" cy="317500"/>
          </a:xfrm>
          <a:prstGeom prst="rect">
            <a:avLst/>
          </a:prstGeom>
          <a:solidFill>
            <a:srgbClr val="FFA5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108D67E-231C-4EE7-94F5-60329AD7FC18}"/>
              </a:ext>
            </a:extLst>
          </p:cNvPr>
          <p:cNvSpPr txBox="1"/>
          <p:nvPr/>
        </p:nvSpPr>
        <p:spPr>
          <a:xfrm>
            <a:off x="6096000" y="4432300"/>
            <a:ext cx="1016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634EA9-295C-4703-AAF7-B2B1722E480C}"/>
              </a:ext>
            </a:extLst>
          </p:cNvPr>
          <p:cNvSpPr/>
          <p:nvPr/>
        </p:nvSpPr>
        <p:spPr>
          <a:xfrm>
            <a:off x="6032500" y="4762500"/>
            <a:ext cx="2540000" cy="317500"/>
          </a:xfrm>
          <a:prstGeom prst="rect">
            <a:avLst/>
          </a:prstGeom>
          <a:solidFill>
            <a:srgbClr val="F0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06246FC-4E4B-47D3-A789-CBECEEA00FCB}"/>
              </a:ext>
            </a:extLst>
          </p:cNvPr>
          <p:cNvSpPr/>
          <p:nvPr/>
        </p:nvSpPr>
        <p:spPr>
          <a:xfrm>
            <a:off x="6032500" y="4762500"/>
            <a:ext cx="508000" cy="317500"/>
          </a:xfrm>
          <a:prstGeom prst="rect">
            <a:avLst/>
          </a:prstGeom>
          <a:solidFill>
            <a:srgbClr val="6495E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6EBE02-DCE7-401F-BDCD-F6959070B2B8}"/>
              </a:ext>
            </a:extLst>
          </p:cNvPr>
          <p:cNvSpPr txBox="1"/>
          <p:nvPr/>
        </p:nvSpPr>
        <p:spPr>
          <a:xfrm>
            <a:off x="6096000" y="4813300"/>
            <a:ext cx="1016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</a:rPr>
              <a:t>framewo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99FB6A8-EDB8-4A5D-AAF3-580E36CFE1E8}"/>
              </a:ext>
            </a:extLst>
          </p:cNvPr>
          <p:cNvSpPr/>
          <p:nvPr/>
        </p:nvSpPr>
        <p:spPr>
          <a:xfrm>
            <a:off x="6032500" y="5143500"/>
            <a:ext cx="2540000" cy="317500"/>
          </a:xfrm>
          <a:prstGeom prst="rect">
            <a:avLst/>
          </a:prstGeom>
          <a:solidFill>
            <a:srgbClr val="F0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16D98A3-4697-4641-ABD6-FC25165978DE}"/>
              </a:ext>
            </a:extLst>
          </p:cNvPr>
          <p:cNvSpPr/>
          <p:nvPr/>
        </p:nvSpPr>
        <p:spPr>
          <a:xfrm>
            <a:off x="6032500" y="5143500"/>
            <a:ext cx="508000" cy="317500"/>
          </a:xfrm>
          <a:prstGeom prst="rect">
            <a:avLst/>
          </a:prstGeom>
          <a:solidFill>
            <a:srgbClr val="6495E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89C181-EEEF-45E1-B111-2CCFD16C06B2}"/>
              </a:ext>
            </a:extLst>
          </p:cNvPr>
          <p:cNvSpPr txBox="1"/>
          <p:nvPr/>
        </p:nvSpPr>
        <p:spPr>
          <a:xfrm>
            <a:off x="6096000" y="5194300"/>
            <a:ext cx="1016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b="1" dirty="0" err="1">
                <a:solidFill>
                  <a:srgbClr val="FFFFFF"/>
                </a:solidFill>
              </a:rPr>
              <a:t>mapredu</a:t>
            </a:r>
            <a:endParaRPr lang="en-US" sz="900" b="1" dirty="0">
              <a:solidFill>
                <a:srgbClr val="FFFFFF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115FC85-943A-4594-8DCB-C39A0BDC2DA0}"/>
              </a:ext>
            </a:extLst>
          </p:cNvPr>
          <p:cNvSpPr/>
          <p:nvPr/>
        </p:nvSpPr>
        <p:spPr>
          <a:xfrm>
            <a:off x="444500" y="5719514"/>
            <a:ext cx="8382000" cy="889000"/>
          </a:xfrm>
          <a:prstGeom prst="roundRect">
            <a:avLst/>
          </a:prstGeom>
          <a:solidFill>
            <a:srgbClr val="F0FFF0"/>
          </a:solidFill>
          <a:ln w="25400">
            <a:solidFill>
              <a:srgbClr val="228B2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859145-6627-49C1-B542-1E37D909FAAC}"/>
              </a:ext>
            </a:extLst>
          </p:cNvPr>
          <p:cNvSpPr txBox="1"/>
          <p:nvPr/>
        </p:nvSpPr>
        <p:spPr>
          <a:xfrm>
            <a:off x="635000" y="5821114"/>
            <a:ext cx="8001000" cy="6924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 dirty="0">
                <a:solidFill>
                  <a:srgbClr val="005000"/>
                </a:solidFill>
              </a:rPr>
              <a:t>STATISTIKAT TOTALE:</a:t>
            </a:r>
          </a:p>
          <a:p>
            <a:r>
              <a:rPr lang="en-US" sz="1300" b="1" dirty="0" err="1">
                <a:solidFill>
                  <a:srgbClr val="005000"/>
                </a:solidFill>
              </a:rPr>
              <a:t>Fjalë</a:t>
            </a:r>
            <a:r>
              <a:rPr lang="en-US" sz="1300" b="1" dirty="0">
                <a:solidFill>
                  <a:srgbClr val="005000"/>
                </a:solidFill>
              </a:rPr>
              <a:t> </a:t>
            </a:r>
            <a:r>
              <a:rPr lang="en-US" sz="1300" b="1" dirty="0" err="1">
                <a:solidFill>
                  <a:srgbClr val="005000"/>
                </a:solidFill>
              </a:rPr>
              <a:t>unike</a:t>
            </a:r>
            <a:r>
              <a:rPr lang="en-US" sz="1300" b="1" dirty="0">
                <a:solidFill>
                  <a:srgbClr val="005000"/>
                </a:solidFill>
              </a:rPr>
              <a:t>: 51 | </a:t>
            </a:r>
            <a:r>
              <a:rPr lang="en-US" sz="1300" b="1" dirty="0" err="1">
                <a:solidFill>
                  <a:srgbClr val="005000"/>
                </a:solidFill>
              </a:rPr>
              <a:t>Fjalë</a:t>
            </a:r>
            <a:r>
              <a:rPr lang="en-US" sz="1300" b="1" dirty="0">
                <a:solidFill>
                  <a:srgbClr val="005000"/>
                </a:solidFill>
              </a:rPr>
              <a:t> </a:t>
            </a:r>
            <a:r>
              <a:rPr lang="en-US" sz="1300" b="1" dirty="0" err="1">
                <a:solidFill>
                  <a:srgbClr val="005000"/>
                </a:solidFill>
              </a:rPr>
              <a:t>totale</a:t>
            </a:r>
            <a:r>
              <a:rPr lang="en-US" sz="1300" b="1" dirty="0">
                <a:solidFill>
                  <a:srgbClr val="005000"/>
                </a:solidFill>
              </a:rPr>
              <a:t>: 76 | </a:t>
            </a:r>
            <a:r>
              <a:rPr lang="en-US" sz="1300" b="1" dirty="0" err="1">
                <a:solidFill>
                  <a:srgbClr val="005000"/>
                </a:solidFill>
              </a:rPr>
              <a:t>Çifte</a:t>
            </a:r>
            <a:r>
              <a:rPr lang="en-US" sz="1300" b="1" dirty="0">
                <a:solidFill>
                  <a:srgbClr val="005000"/>
                </a:solidFill>
              </a:rPr>
              <a:t> </a:t>
            </a:r>
            <a:r>
              <a:rPr lang="en-US" sz="1300" b="1" dirty="0" err="1">
                <a:solidFill>
                  <a:srgbClr val="005000"/>
                </a:solidFill>
              </a:rPr>
              <a:t>të</a:t>
            </a:r>
            <a:r>
              <a:rPr lang="en-US" sz="1300" b="1" dirty="0">
                <a:solidFill>
                  <a:srgbClr val="005000"/>
                </a:solidFill>
              </a:rPr>
              <a:t> </a:t>
            </a:r>
            <a:r>
              <a:rPr lang="en-US" sz="1300" b="1" dirty="0" err="1">
                <a:solidFill>
                  <a:srgbClr val="005000"/>
                </a:solidFill>
              </a:rPr>
              <a:t>ndërmjetme</a:t>
            </a:r>
            <a:r>
              <a:rPr lang="en-US" sz="1300" b="1" dirty="0">
                <a:solidFill>
                  <a:srgbClr val="005000"/>
                </a:solidFill>
              </a:rPr>
              <a:t>: 76 | </a:t>
            </a:r>
            <a:r>
              <a:rPr lang="en-US" sz="1300" b="1" dirty="0" err="1">
                <a:solidFill>
                  <a:srgbClr val="005000"/>
                </a:solidFill>
              </a:rPr>
              <a:t>Dokumente</a:t>
            </a:r>
            <a:r>
              <a:rPr lang="en-US" sz="1300" b="1" dirty="0">
                <a:solidFill>
                  <a:srgbClr val="005000"/>
                </a:solidFill>
              </a:rPr>
              <a:t>: 10</a:t>
            </a:r>
          </a:p>
          <a:p>
            <a:r>
              <a:rPr lang="en-US" sz="1300" b="1" dirty="0" err="1">
                <a:solidFill>
                  <a:srgbClr val="005000"/>
                </a:solidFill>
              </a:rPr>
              <a:t>Fjala</a:t>
            </a:r>
            <a:r>
              <a:rPr lang="en-US" sz="1300" b="1" dirty="0">
                <a:solidFill>
                  <a:srgbClr val="005000"/>
                </a:solidFill>
              </a:rPr>
              <a:t> </a:t>
            </a:r>
            <a:r>
              <a:rPr lang="en-US" sz="1300" b="1" dirty="0" err="1">
                <a:solidFill>
                  <a:srgbClr val="005000"/>
                </a:solidFill>
              </a:rPr>
              <a:t>më</a:t>
            </a:r>
            <a:r>
              <a:rPr lang="en-US" sz="1300" b="1" dirty="0">
                <a:solidFill>
                  <a:srgbClr val="005000"/>
                </a:solidFill>
              </a:rPr>
              <a:t> e </a:t>
            </a:r>
            <a:r>
              <a:rPr lang="en-US" sz="1300" b="1" dirty="0" err="1">
                <a:solidFill>
                  <a:srgbClr val="005000"/>
                </a:solidFill>
              </a:rPr>
              <a:t>shpeshtë</a:t>
            </a:r>
            <a:r>
              <a:rPr lang="en-US" sz="1300" b="1" dirty="0">
                <a:solidFill>
                  <a:srgbClr val="005000"/>
                </a:solidFill>
              </a:rPr>
              <a:t>: 'data' (8 </a:t>
            </a:r>
            <a:r>
              <a:rPr lang="en-US" sz="1300" b="1" dirty="0" err="1">
                <a:solidFill>
                  <a:srgbClr val="005000"/>
                </a:solidFill>
              </a:rPr>
              <a:t>herë</a:t>
            </a:r>
            <a:r>
              <a:rPr lang="en-US" sz="1300" b="1" dirty="0">
                <a:solidFill>
                  <a:srgbClr val="005000"/>
                </a:solidFill>
              </a:rPr>
              <a:t>, 10.53%) | </a:t>
            </a:r>
            <a:r>
              <a:rPr lang="en-US" sz="1300" b="1" dirty="0" err="1">
                <a:solidFill>
                  <a:srgbClr val="005000"/>
                </a:solidFill>
              </a:rPr>
              <a:t>Shpërndarja</a:t>
            </a:r>
            <a:r>
              <a:rPr lang="en-US" sz="1300" b="1" dirty="0">
                <a:solidFill>
                  <a:srgbClr val="005000"/>
                </a:solidFill>
              </a:rPr>
              <a:t>: Power-Law</a:t>
            </a:r>
          </a:p>
        </p:txBody>
      </p:sp>
    </p:spTree>
    <p:extLst>
      <p:ext uri="{BB962C8B-B14F-4D97-AF65-F5344CB8AC3E}">
        <p14:creationId xmlns:p14="http://schemas.microsoft.com/office/powerpoint/2010/main" val="1311015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4E63A7-778D-484B-B9D7-15DEC4339B81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228B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C13DD0-1597-4214-84CD-BD7FB928F3FE}"/>
              </a:ext>
            </a:extLst>
          </p:cNvPr>
          <p:cNvSpPr txBox="1"/>
          <p:nvPr/>
        </p:nvSpPr>
        <p:spPr>
          <a:xfrm>
            <a:off x="254000" y="152400"/>
            <a:ext cx="8636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200" b="1" dirty="0">
                <a:solidFill>
                  <a:srgbClr val="FFFFFF"/>
                </a:solidFill>
              </a:rPr>
              <a:t>FAZA MAP - IMPLEMENTIMI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2394E49-C3B1-44ED-9E86-79170C392FE3}"/>
              </a:ext>
            </a:extLst>
          </p:cNvPr>
          <p:cNvSpPr/>
          <p:nvPr/>
        </p:nvSpPr>
        <p:spPr>
          <a:xfrm>
            <a:off x="508000" y="1016000"/>
            <a:ext cx="8128000" cy="2250658"/>
          </a:xfrm>
          <a:prstGeom prst="roundRect">
            <a:avLst/>
          </a:prstGeom>
          <a:solidFill>
            <a:srgbClr val="1E1E1E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EE614F-BAFC-45FD-9373-8A6D41E3E28D}"/>
              </a:ext>
            </a:extLst>
          </p:cNvPr>
          <p:cNvSpPr txBox="1"/>
          <p:nvPr/>
        </p:nvSpPr>
        <p:spPr>
          <a:xfrm>
            <a:off x="698500" y="1143000"/>
            <a:ext cx="7747000" cy="212365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# FUNKSIONI MAP -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Shembulli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Word Count</a:t>
            </a: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def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map_function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(document):</a:t>
            </a: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   words =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document.lower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().split()  #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Ndaj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në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fjalë</a:t>
            </a:r>
            <a:endParaRPr lang="en-US" sz="1200" dirty="0">
              <a:solidFill>
                <a:srgbClr val="DCDCDC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   result = []</a:t>
            </a: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   for word in words:</a:t>
            </a: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result.append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((word, 1))  #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Nxjerr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(key, value)</a:t>
            </a: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   return result</a:t>
            </a:r>
          </a:p>
          <a:p>
            <a:endParaRPr lang="en-US" sz="1200" dirty="0">
              <a:solidFill>
                <a:srgbClr val="DCDCDC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#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Shembull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# Input:  'Big Data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është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revolucionare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'</a:t>
            </a: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# Output: [('big',1), ('data',1), ('është',1), ('revolucionare',1)]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E20EE82-928F-441A-BF47-AACDC1D8D712}"/>
              </a:ext>
            </a:extLst>
          </p:cNvPr>
          <p:cNvSpPr/>
          <p:nvPr/>
        </p:nvSpPr>
        <p:spPr>
          <a:xfrm>
            <a:off x="508000" y="3429000"/>
            <a:ext cx="8128000" cy="1270000"/>
          </a:xfrm>
          <a:prstGeom prst="roundRect">
            <a:avLst/>
          </a:prstGeom>
          <a:solidFill>
            <a:srgbClr val="F0FFF0"/>
          </a:solidFill>
          <a:ln w="254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0D7F18-CFCF-4BDB-B261-EA73D082E3D7}"/>
              </a:ext>
            </a:extLst>
          </p:cNvPr>
          <p:cNvSpPr txBox="1"/>
          <p:nvPr/>
        </p:nvSpPr>
        <p:spPr>
          <a:xfrm>
            <a:off x="762000" y="3556000"/>
            <a:ext cx="7620000" cy="95410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5000"/>
                </a:solidFill>
              </a:rPr>
              <a:t>SI FUNKSIONON:</a:t>
            </a:r>
          </a:p>
          <a:p>
            <a:pPr algn="ctr"/>
            <a:r>
              <a:rPr lang="en-US" sz="1400" b="1" dirty="0" err="1">
                <a:solidFill>
                  <a:srgbClr val="005000"/>
                </a:solidFill>
              </a:rPr>
              <a:t>Dokument</a:t>
            </a:r>
            <a:r>
              <a:rPr lang="en-US" sz="1400" b="1" dirty="0">
                <a:solidFill>
                  <a:srgbClr val="005000"/>
                </a:solidFill>
              </a:rPr>
              <a:t> ’ 'data processing is fundamental' ’</a:t>
            </a:r>
          </a:p>
          <a:p>
            <a:pPr algn="ctr"/>
            <a:r>
              <a:rPr lang="en-US" sz="1400" b="1" dirty="0">
                <a:solidFill>
                  <a:srgbClr val="005000"/>
                </a:solidFill>
              </a:rPr>
              <a:t>MAP ’ [('data',1), ('processing',1), ('is',1), ('fundamental',1)]</a:t>
            </a:r>
          </a:p>
          <a:p>
            <a:pPr algn="ctr"/>
            <a:r>
              <a:rPr lang="en-US" sz="1400" b="1" dirty="0" err="1">
                <a:solidFill>
                  <a:srgbClr val="005000"/>
                </a:solidFill>
              </a:rPr>
              <a:t>Çdo</a:t>
            </a:r>
            <a:r>
              <a:rPr lang="en-US" sz="1400" b="1" dirty="0">
                <a:solidFill>
                  <a:srgbClr val="005000"/>
                </a:solidFill>
              </a:rPr>
              <a:t> </a:t>
            </a:r>
            <a:r>
              <a:rPr lang="en-US" sz="1400" b="1" dirty="0" err="1">
                <a:solidFill>
                  <a:srgbClr val="005000"/>
                </a:solidFill>
              </a:rPr>
              <a:t>fjalë</a:t>
            </a:r>
            <a:r>
              <a:rPr lang="en-US" sz="1400" b="1" dirty="0">
                <a:solidFill>
                  <a:srgbClr val="005000"/>
                </a:solidFill>
              </a:rPr>
              <a:t> </a:t>
            </a:r>
            <a:r>
              <a:rPr lang="en-US" sz="1400" b="1" dirty="0" err="1">
                <a:solidFill>
                  <a:srgbClr val="005000"/>
                </a:solidFill>
              </a:rPr>
              <a:t>bëhet</a:t>
            </a:r>
            <a:r>
              <a:rPr lang="en-US" sz="1400" b="1" dirty="0">
                <a:solidFill>
                  <a:srgbClr val="005000"/>
                </a:solidFill>
              </a:rPr>
              <a:t> </a:t>
            </a:r>
            <a:r>
              <a:rPr lang="en-US" sz="1400" b="1" dirty="0" err="1">
                <a:solidFill>
                  <a:srgbClr val="005000"/>
                </a:solidFill>
              </a:rPr>
              <a:t>një</a:t>
            </a:r>
            <a:r>
              <a:rPr lang="en-US" sz="1400" b="1" dirty="0">
                <a:solidFill>
                  <a:srgbClr val="005000"/>
                </a:solidFill>
              </a:rPr>
              <a:t> </a:t>
            </a:r>
            <a:r>
              <a:rPr lang="en-US" sz="1400" b="1" dirty="0" err="1">
                <a:solidFill>
                  <a:srgbClr val="005000"/>
                </a:solidFill>
              </a:rPr>
              <a:t>çift</a:t>
            </a:r>
            <a:r>
              <a:rPr lang="en-US" sz="1400" b="1" dirty="0">
                <a:solidFill>
                  <a:srgbClr val="005000"/>
                </a:solidFill>
              </a:rPr>
              <a:t> (key=</a:t>
            </a:r>
            <a:r>
              <a:rPr lang="en-US" sz="1400" b="1" dirty="0" err="1">
                <a:solidFill>
                  <a:srgbClr val="005000"/>
                </a:solidFill>
              </a:rPr>
              <a:t>fjala</a:t>
            </a:r>
            <a:r>
              <a:rPr lang="en-US" sz="1400" b="1" dirty="0">
                <a:solidFill>
                  <a:srgbClr val="005000"/>
                </a:solidFill>
              </a:rPr>
              <a:t>, value=1)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24EBA12-8206-4D76-86E9-053CBA8F5F52}"/>
              </a:ext>
            </a:extLst>
          </p:cNvPr>
          <p:cNvSpPr/>
          <p:nvPr/>
        </p:nvSpPr>
        <p:spPr>
          <a:xfrm>
            <a:off x="508000" y="4953000"/>
            <a:ext cx="8128000" cy="1619716"/>
          </a:xfrm>
          <a:prstGeom prst="roundRect">
            <a:avLst/>
          </a:prstGeom>
          <a:solidFill>
            <a:srgbClr val="FFFFF0"/>
          </a:solidFill>
          <a:ln w="25400">
            <a:solidFill>
              <a:srgbClr val="DAA5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77728-56F5-4B12-9306-BAC367A05237}"/>
              </a:ext>
            </a:extLst>
          </p:cNvPr>
          <p:cNvSpPr txBox="1"/>
          <p:nvPr/>
        </p:nvSpPr>
        <p:spPr>
          <a:xfrm>
            <a:off x="762000" y="5016500"/>
            <a:ext cx="7620000" cy="149271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dirty="0">
                <a:solidFill>
                  <a:srgbClr val="503C00"/>
                </a:solidFill>
              </a:rPr>
              <a:t>KARAKTERISTIKAT E FAZËS MAP: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Proceson</a:t>
            </a:r>
            <a:r>
              <a:rPr lang="en-US" sz="1300" dirty="0">
                <a:solidFill>
                  <a:srgbClr val="503C00"/>
                </a:solidFill>
              </a:rPr>
              <a:t> NJË </a:t>
            </a:r>
            <a:r>
              <a:rPr lang="en-US" sz="1300" dirty="0" err="1">
                <a:solidFill>
                  <a:srgbClr val="503C00"/>
                </a:solidFill>
              </a:rPr>
              <a:t>rekord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në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një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kohë</a:t>
            </a:r>
            <a:r>
              <a:rPr lang="en-US" sz="1300" dirty="0">
                <a:solidFill>
                  <a:srgbClr val="503C00"/>
                </a:solidFill>
              </a:rPr>
              <a:t> (stateless)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Nxjerr</a:t>
            </a:r>
            <a:r>
              <a:rPr lang="en-US" sz="1300" dirty="0">
                <a:solidFill>
                  <a:srgbClr val="503C00"/>
                </a:solidFill>
              </a:rPr>
              <a:t> ZERO, NJË </a:t>
            </a:r>
            <a:r>
              <a:rPr lang="en-US" sz="1300" dirty="0" err="1">
                <a:solidFill>
                  <a:srgbClr val="503C00"/>
                </a:solidFill>
              </a:rPr>
              <a:t>ose</a:t>
            </a:r>
            <a:r>
              <a:rPr lang="en-US" sz="1300" dirty="0">
                <a:solidFill>
                  <a:srgbClr val="503C00"/>
                </a:solidFill>
              </a:rPr>
              <a:t> SHUMË </a:t>
            </a:r>
            <a:r>
              <a:rPr lang="en-US" sz="1300" dirty="0" err="1">
                <a:solidFill>
                  <a:srgbClr val="503C00"/>
                </a:solidFill>
              </a:rPr>
              <a:t>Ã§ifte</a:t>
            </a:r>
            <a:r>
              <a:rPr lang="en-US" sz="1300" dirty="0">
                <a:solidFill>
                  <a:srgbClr val="503C00"/>
                </a:solidFill>
              </a:rPr>
              <a:t> (key, value)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Ekzekutohet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në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mënyrë</a:t>
            </a:r>
            <a:r>
              <a:rPr lang="en-US" sz="1300" dirty="0">
                <a:solidFill>
                  <a:srgbClr val="503C00"/>
                </a:solidFill>
              </a:rPr>
              <a:t> PARALELE </a:t>
            </a:r>
            <a:r>
              <a:rPr lang="en-US" sz="1300" dirty="0" err="1">
                <a:solidFill>
                  <a:srgbClr val="503C00"/>
                </a:solidFill>
              </a:rPr>
              <a:t>në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shumë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makina</a:t>
            </a:r>
            <a:endParaRPr lang="en-US" sz="1300" dirty="0">
              <a:solidFill>
                <a:srgbClr val="503C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Asnjë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komunikim</a:t>
            </a:r>
            <a:r>
              <a:rPr lang="en-US" sz="1300" dirty="0">
                <a:solidFill>
                  <a:srgbClr val="503C00"/>
                </a:solidFill>
              </a:rPr>
              <a:t> midis mapper-</a:t>
            </a:r>
            <a:r>
              <a:rPr lang="en-US" sz="1300" dirty="0" err="1">
                <a:solidFill>
                  <a:srgbClr val="503C00"/>
                </a:solidFill>
              </a:rPr>
              <a:t>ave</a:t>
            </a:r>
            <a:r>
              <a:rPr lang="en-US" sz="1300" dirty="0">
                <a:solidFill>
                  <a:srgbClr val="503C00"/>
                </a:solidFill>
              </a:rPr>
              <a:t> (</a:t>
            </a:r>
            <a:r>
              <a:rPr lang="en-US" sz="1300" dirty="0" err="1">
                <a:solidFill>
                  <a:srgbClr val="503C00"/>
                </a:solidFill>
              </a:rPr>
              <a:t>pavarësi</a:t>
            </a:r>
            <a:r>
              <a:rPr lang="en-US" sz="1300" dirty="0">
                <a:solidFill>
                  <a:srgbClr val="503C00"/>
                </a:solidFill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00" dirty="0">
                <a:solidFill>
                  <a:srgbClr val="503C00"/>
                </a:solidFill>
              </a:rPr>
              <a:t> Data locality: </a:t>
            </a:r>
            <a:r>
              <a:rPr lang="en-US" sz="1300" dirty="0" err="1">
                <a:solidFill>
                  <a:srgbClr val="503C00"/>
                </a:solidFill>
              </a:rPr>
              <a:t>Kodi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shkon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te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të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dhënat</a:t>
            </a:r>
            <a:r>
              <a:rPr lang="en-US" sz="1300" dirty="0">
                <a:solidFill>
                  <a:srgbClr val="503C00"/>
                </a:solidFill>
              </a:rPr>
              <a:t>, jo </a:t>
            </a:r>
            <a:r>
              <a:rPr lang="en-US" sz="1300" dirty="0" err="1">
                <a:solidFill>
                  <a:srgbClr val="503C00"/>
                </a:solidFill>
              </a:rPr>
              <a:t>anasjelltas</a:t>
            </a:r>
            <a:endParaRPr lang="en-US" sz="1300" dirty="0">
              <a:solidFill>
                <a:srgbClr val="503C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00" dirty="0">
                <a:solidFill>
                  <a:srgbClr val="503C00"/>
                </a:solidFill>
              </a:rPr>
              <a:t> REZULTATI YNË: 76 </a:t>
            </a:r>
            <a:r>
              <a:rPr lang="en-US" sz="1300" dirty="0" err="1">
                <a:solidFill>
                  <a:srgbClr val="503C00"/>
                </a:solidFill>
              </a:rPr>
              <a:t>Ã§ifte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të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ndërmjetme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nga</a:t>
            </a:r>
            <a:r>
              <a:rPr lang="en-US" sz="1300" dirty="0">
                <a:solidFill>
                  <a:srgbClr val="503C00"/>
                </a:solidFill>
              </a:rPr>
              <a:t> 10 </a:t>
            </a:r>
            <a:r>
              <a:rPr lang="en-US" sz="1300" dirty="0" err="1">
                <a:solidFill>
                  <a:srgbClr val="503C00"/>
                </a:solidFill>
              </a:rPr>
              <a:t>dokumente</a:t>
            </a:r>
            <a:endParaRPr lang="en-US" sz="1300" dirty="0">
              <a:solidFill>
                <a:srgbClr val="503C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3148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5CAF74-7BB0-4440-B060-D0C29E2817CD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0066C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A45568-A15C-4847-9B99-1C444DBB36C0}"/>
              </a:ext>
            </a:extLst>
          </p:cNvPr>
          <p:cNvSpPr txBox="1"/>
          <p:nvPr/>
        </p:nvSpPr>
        <p:spPr>
          <a:xfrm>
            <a:off x="254000" y="152400"/>
            <a:ext cx="8636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200" b="1" dirty="0">
                <a:solidFill>
                  <a:srgbClr val="FFFFFF"/>
                </a:solidFill>
              </a:rPr>
              <a:t>FAZA REDUCE - IMPLEMENTIMI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6EE2380-7345-4BE3-A632-45ABE7231AD2}"/>
              </a:ext>
            </a:extLst>
          </p:cNvPr>
          <p:cNvSpPr/>
          <p:nvPr/>
        </p:nvSpPr>
        <p:spPr>
          <a:xfrm>
            <a:off x="508000" y="864175"/>
            <a:ext cx="8128000" cy="2310825"/>
          </a:xfrm>
          <a:prstGeom prst="roundRect">
            <a:avLst/>
          </a:prstGeom>
          <a:solidFill>
            <a:srgbClr val="1E1E1E"/>
          </a:solidFill>
          <a:ln w="38100"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C826BE-4789-43DB-9742-97BA279C2279}"/>
              </a:ext>
            </a:extLst>
          </p:cNvPr>
          <p:cNvSpPr txBox="1"/>
          <p:nvPr/>
        </p:nvSpPr>
        <p:spPr>
          <a:xfrm>
            <a:off x="698500" y="870002"/>
            <a:ext cx="7747000" cy="230832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# FUNKSIONI REDUCE -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Shembulli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Word Count</a:t>
            </a: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def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reduce_function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(key, values):</a:t>
            </a: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   total = sum(values)  #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Agrego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vlerat</a:t>
            </a:r>
            <a:endParaRPr lang="en-US" sz="1200" dirty="0">
              <a:solidFill>
                <a:srgbClr val="DCDCDC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   return (key, total)</a:t>
            </a:r>
          </a:p>
          <a:p>
            <a:endParaRPr lang="en-US" sz="1200" dirty="0">
              <a:solidFill>
                <a:srgbClr val="DCDCDC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#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Shembull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1:</a:t>
            </a: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# Input:  ('data', [1, 1, 1, 1, 1, 1, 1, 1])</a:t>
            </a: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# Output: ('data', 8)  â† 8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herë</a:t>
            </a:r>
            <a:endParaRPr lang="en-US" sz="1200" dirty="0">
              <a:solidFill>
                <a:srgbClr val="DCDCDC"/>
              </a:solidFill>
              <a:latin typeface="Consolas" panose="020B0609020204030204" pitchFamily="49" charset="0"/>
            </a:endParaRPr>
          </a:p>
          <a:p>
            <a:endParaRPr lang="en-US" sz="1200" dirty="0">
              <a:solidFill>
                <a:srgbClr val="DCDCDC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#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Shembull</a:t>
            </a:r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 2:</a:t>
            </a: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# Input:  ('big', [1, 1, 1, 1, 1])</a:t>
            </a:r>
          </a:p>
          <a:p>
            <a:r>
              <a:rPr lang="en-US" sz="1200" dirty="0">
                <a:solidFill>
                  <a:srgbClr val="DCDCDC"/>
                </a:solidFill>
                <a:latin typeface="Consolas" panose="020B0609020204030204" pitchFamily="49" charset="0"/>
              </a:rPr>
              <a:t># Output: ('big', 5)  â† 5 </a:t>
            </a:r>
            <a:r>
              <a:rPr lang="en-US" sz="1200" dirty="0" err="1">
                <a:solidFill>
                  <a:srgbClr val="DCDCDC"/>
                </a:solidFill>
                <a:latin typeface="Consolas" panose="020B0609020204030204" pitchFamily="49" charset="0"/>
              </a:rPr>
              <a:t>herë</a:t>
            </a:r>
            <a:endParaRPr lang="en-US" sz="1200" dirty="0">
              <a:solidFill>
                <a:srgbClr val="DCDCDC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726F95-AC24-41DE-B0A0-4E9AD8FED545}"/>
              </a:ext>
            </a:extLst>
          </p:cNvPr>
          <p:cNvSpPr/>
          <p:nvPr/>
        </p:nvSpPr>
        <p:spPr>
          <a:xfrm>
            <a:off x="508000" y="3429000"/>
            <a:ext cx="8128000" cy="127000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6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1189CD-472C-4DDB-8B42-1EDF69F0782C}"/>
              </a:ext>
            </a:extLst>
          </p:cNvPr>
          <p:cNvSpPr txBox="1"/>
          <p:nvPr/>
        </p:nvSpPr>
        <p:spPr>
          <a:xfrm>
            <a:off x="762000" y="3556000"/>
            <a:ext cx="7620000" cy="95410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3C78"/>
                </a:solidFill>
              </a:rPr>
              <a:t>SI FUNKSIONON:</a:t>
            </a:r>
          </a:p>
          <a:p>
            <a:pPr algn="ctr"/>
            <a:r>
              <a:rPr lang="en-US" sz="1400" b="1" dirty="0">
                <a:solidFill>
                  <a:srgbClr val="003C78"/>
                </a:solidFill>
              </a:rPr>
              <a:t>Shuffle ’ ('data', [1,1,1,1,1,1,1,1]) ’</a:t>
            </a:r>
          </a:p>
          <a:p>
            <a:pPr algn="ctr"/>
            <a:r>
              <a:rPr lang="en-US" sz="1400" b="1" dirty="0">
                <a:solidFill>
                  <a:srgbClr val="003C78"/>
                </a:solidFill>
              </a:rPr>
              <a:t>REDUCE ’ ('data', 8)</a:t>
            </a:r>
          </a:p>
          <a:p>
            <a:pPr algn="ctr"/>
            <a:r>
              <a:rPr lang="en-US" sz="1400" b="1" dirty="0" err="1">
                <a:solidFill>
                  <a:srgbClr val="003C78"/>
                </a:solidFill>
              </a:rPr>
              <a:t>Çdo</a:t>
            </a:r>
            <a:r>
              <a:rPr lang="en-US" sz="1400" b="1" dirty="0">
                <a:solidFill>
                  <a:srgbClr val="003C78"/>
                </a:solidFill>
              </a:rPr>
              <a:t> key </a:t>
            </a:r>
            <a:r>
              <a:rPr lang="en-US" sz="1400" b="1" dirty="0" err="1">
                <a:solidFill>
                  <a:srgbClr val="003C78"/>
                </a:solidFill>
              </a:rPr>
              <a:t>agregon</a:t>
            </a:r>
            <a:r>
              <a:rPr lang="en-US" sz="1400" b="1" dirty="0">
                <a:solidFill>
                  <a:srgbClr val="003C78"/>
                </a:solidFill>
              </a:rPr>
              <a:t> </a:t>
            </a:r>
            <a:r>
              <a:rPr lang="en-US" sz="1400" b="1" dirty="0" err="1">
                <a:solidFill>
                  <a:srgbClr val="003C78"/>
                </a:solidFill>
              </a:rPr>
              <a:t>të</a:t>
            </a:r>
            <a:r>
              <a:rPr lang="en-US" sz="1400" b="1" dirty="0">
                <a:solidFill>
                  <a:srgbClr val="003C78"/>
                </a:solidFill>
              </a:rPr>
              <a:t> </a:t>
            </a:r>
            <a:r>
              <a:rPr lang="en-US" sz="1400" b="1" dirty="0" err="1">
                <a:solidFill>
                  <a:srgbClr val="003C78"/>
                </a:solidFill>
              </a:rPr>
              <a:t>gjitha</a:t>
            </a:r>
            <a:r>
              <a:rPr lang="en-US" sz="1400" b="1" dirty="0">
                <a:solidFill>
                  <a:srgbClr val="003C78"/>
                </a:solidFill>
              </a:rPr>
              <a:t> values </a:t>
            </a:r>
            <a:r>
              <a:rPr lang="en-US" sz="1400" b="1" dirty="0" err="1">
                <a:solidFill>
                  <a:srgbClr val="003C78"/>
                </a:solidFill>
              </a:rPr>
              <a:t>në</a:t>
            </a:r>
            <a:r>
              <a:rPr lang="en-US" sz="1400" b="1" dirty="0">
                <a:solidFill>
                  <a:srgbClr val="003C78"/>
                </a:solidFill>
              </a:rPr>
              <a:t> </a:t>
            </a:r>
            <a:r>
              <a:rPr lang="en-US" sz="1400" b="1" dirty="0" err="1">
                <a:solidFill>
                  <a:srgbClr val="003C78"/>
                </a:solidFill>
              </a:rPr>
              <a:t>një</a:t>
            </a:r>
            <a:r>
              <a:rPr lang="en-US" sz="1400" b="1" dirty="0">
                <a:solidFill>
                  <a:srgbClr val="003C78"/>
                </a:solidFill>
              </a:rPr>
              <a:t> </a:t>
            </a:r>
            <a:r>
              <a:rPr lang="en-US" sz="1400" b="1" dirty="0" err="1">
                <a:solidFill>
                  <a:srgbClr val="003C78"/>
                </a:solidFill>
              </a:rPr>
              <a:t>rezultat</a:t>
            </a:r>
            <a:r>
              <a:rPr lang="en-US" sz="1400" b="1" dirty="0">
                <a:solidFill>
                  <a:srgbClr val="003C78"/>
                </a:solidFill>
              </a:rPr>
              <a:t> final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84C758C-CAAC-40E5-9C36-17118AEA00FC}"/>
              </a:ext>
            </a:extLst>
          </p:cNvPr>
          <p:cNvSpPr/>
          <p:nvPr/>
        </p:nvSpPr>
        <p:spPr>
          <a:xfrm>
            <a:off x="508000" y="4953000"/>
            <a:ext cx="8128000" cy="1524000"/>
          </a:xfrm>
          <a:prstGeom prst="roundRect">
            <a:avLst/>
          </a:prstGeom>
          <a:solidFill>
            <a:srgbClr val="FFFAF0"/>
          </a:solidFill>
          <a:ln w="25400">
            <a:solidFill>
              <a:srgbClr val="FF8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B77BD0-8762-4C40-A18A-1718255DB3A7}"/>
              </a:ext>
            </a:extLst>
          </p:cNvPr>
          <p:cNvSpPr txBox="1"/>
          <p:nvPr/>
        </p:nvSpPr>
        <p:spPr>
          <a:xfrm>
            <a:off x="762000" y="4984284"/>
            <a:ext cx="7620000" cy="149271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dirty="0">
                <a:solidFill>
                  <a:srgbClr val="643C00"/>
                </a:solidFill>
              </a:rPr>
              <a:t>KARAKTERISTIKAT E FAZËS REDUCE: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300" dirty="0" err="1">
                <a:solidFill>
                  <a:srgbClr val="643C00"/>
                </a:solidFill>
              </a:rPr>
              <a:t>Proceson</a:t>
            </a:r>
            <a:r>
              <a:rPr lang="en-US" sz="1300" dirty="0">
                <a:solidFill>
                  <a:srgbClr val="643C00"/>
                </a:solidFill>
              </a:rPr>
              <a:t> TË GJITHA </a:t>
            </a:r>
            <a:r>
              <a:rPr lang="en-US" sz="1300" dirty="0" err="1">
                <a:solidFill>
                  <a:srgbClr val="643C00"/>
                </a:solidFill>
              </a:rPr>
              <a:t>vlerat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për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një</a:t>
            </a:r>
            <a:r>
              <a:rPr lang="en-US" sz="1300" dirty="0">
                <a:solidFill>
                  <a:srgbClr val="643C00"/>
                </a:solidFill>
              </a:rPr>
              <a:t> KEY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300" dirty="0" err="1">
                <a:solidFill>
                  <a:srgbClr val="643C00"/>
                </a:solidFill>
              </a:rPr>
              <a:t>Nxjerr</a:t>
            </a:r>
            <a:r>
              <a:rPr lang="en-US" sz="1300" dirty="0">
                <a:solidFill>
                  <a:srgbClr val="643C00"/>
                </a:solidFill>
              </a:rPr>
              <a:t> NJË </a:t>
            </a:r>
            <a:r>
              <a:rPr lang="en-US" sz="1300" dirty="0" err="1">
                <a:solidFill>
                  <a:srgbClr val="643C00"/>
                </a:solidFill>
              </a:rPr>
              <a:t>rezultat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për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çdo</a:t>
            </a:r>
            <a:r>
              <a:rPr lang="en-US" sz="1300" dirty="0">
                <a:solidFill>
                  <a:srgbClr val="643C00"/>
                </a:solidFill>
              </a:rPr>
              <a:t> key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300" dirty="0" err="1">
                <a:solidFill>
                  <a:srgbClr val="643C00"/>
                </a:solidFill>
              </a:rPr>
              <a:t>Shumë</a:t>
            </a:r>
            <a:r>
              <a:rPr lang="en-US" sz="1300" dirty="0">
                <a:solidFill>
                  <a:srgbClr val="643C00"/>
                </a:solidFill>
              </a:rPr>
              <a:t> reducer-a </a:t>
            </a:r>
            <a:r>
              <a:rPr lang="en-US" sz="1300" dirty="0" err="1">
                <a:solidFill>
                  <a:srgbClr val="643C00"/>
                </a:solidFill>
              </a:rPr>
              <a:t>ekzekutohen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në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mënyrë</a:t>
            </a:r>
            <a:r>
              <a:rPr lang="en-US" sz="1300" dirty="0">
                <a:solidFill>
                  <a:srgbClr val="643C00"/>
                </a:solidFill>
              </a:rPr>
              <a:t> PARALELE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300" dirty="0" err="1">
                <a:solidFill>
                  <a:srgbClr val="643C00"/>
                </a:solidFill>
              </a:rPr>
              <a:t>Çdo</a:t>
            </a:r>
            <a:r>
              <a:rPr lang="en-US" sz="1300" dirty="0">
                <a:solidFill>
                  <a:srgbClr val="643C00"/>
                </a:solidFill>
              </a:rPr>
              <a:t> reducer </a:t>
            </a:r>
            <a:r>
              <a:rPr lang="en-US" sz="1300" dirty="0" err="1">
                <a:solidFill>
                  <a:srgbClr val="643C00"/>
                </a:solidFill>
              </a:rPr>
              <a:t>trajton</a:t>
            </a:r>
            <a:r>
              <a:rPr lang="en-US" sz="1300" dirty="0">
                <a:solidFill>
                  <a:srgbClr val="643C00"/>
                </a:solidFill>
              </a:rPr>
              <a:t> key-a </a:t>
            </a:r>
            <a:r>
              <a:rPr lang="en-US" sz="1300" dirty="0" err="1">
                <a:solidFill>
                  <a:srgbClr val="643C00"/>
                </a:solidFill>
              </a:rPr>
              <a:t>të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ndryshme</a:t>
            </a:r>
            <a:endParaRPr lang="en-US" sz="1300" dirty="0">
              <a:solidFill>
                <a:srgbClr val="643C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300" dirty="0">
                <a:solidFill>
                  <a:srgbClr val="643C00"/>
                </a:solidFill>
              </a:rPr>
              <a:t>Output final </a:t>
            </a:r>
            <a:r>
              <a:rPr lang="en-US" sz="1300" dirty="0" err="1">
                <a:solidFill>
                  <a:srgbClr val="643C00"/>
                </a:solidFill>
              </a:rPr>
              <a:t>është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i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rradhitur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sipas</a:t>
            </a:r>
            <a:r>
              <a:rPr lang="en-US" sz="1300" dirty="0">
                <a:solidFill>
                  <a:srgbClr val="643C00"/>
                </a:solidFill>
              </a:rPr>
              <a:t> key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300" dirty="0">
                <a:solidFill>
                  <a:srgbClr val="643C00"/>
                </a:solidFill>
              </a:rPr>
              <a:t>REZULTATI YNË: 51 </a:t>
            </a:r>
            <a:r>
              <a:rPr lang="en-US" sz="1300" dirty="0" err="1">
                <a:solidFill>
                  <a:srgbClr val="643C00"/>
                </a:solidFill>
              </a:rPr>
              <a:t>fjalë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unike</a:t>
            </a:r>
            <a:r>
              <a:rPr lang="en-US" sz="1300" dirty="0">
                <a:solidFill>
                  <a:srgbClr val="643C00"/>
                </a:solidFill>
              </a:rPr>
              <a:t> me </a:t>
            </a:r>
            <a:r>
              <a:rPr lang="en-US" sz="1300" dirty="0" err="1">
                <a:solidFill>
                  <a:srgbClr val="643C00"/>
                </a:solidFill>
              </a:rPr>
              <a:t>numërimet</a:t>
            </a:r>
            <a:r>
              <a:rPr lang="en-US" sz="1300" dirty="0">
                <a:solidFill>
                  <a:srgbClr val="643C00"/>
                </a:solidFill>
              </a:rPr>
              <a:t> e </a:t>
            </a:r>
            <a:r>
              <a:rPr lang="en-US" sz="1300" dirty="0" err="1">
                <a:solidFill>
                  <a:srgbClr val="643C00"/>
                </a:solidFill>
              </a:rPr>
              <a:t>tyre</a:t>
            </a:r>
            <a:endParaRPr lang="en-US" sz="1300" dirty="0">
              <a:solidFill>
                <a:srgbClr val="643C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3946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F21F65-B7EF-4141-AD3A-D27D74C0418D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B87DD1-157D-4241-874D-9FC102B734CA}"/>
              </a:ext>
            </a:extLst>
          </p:cNvPr>
          <p:cNvSpPr txBox="1"/>
          <p:nvPr/>
        </p:nvSpPr>
        <p:spPr>
          <a:xfrm>
            <a:off x="254000" y="152400"/>
            <a:ext cx="863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 dirty="0" err="1">
                <a:solidFill>
                  <a:srgbClr val="FFFFFF"/>
                </a:solidFill>
              </a:rPr>
              <a:t>ðŸ“Š</a:t>
            </a:r>
            <a:r>
              <a:rPr lang="en-US" sz="2800" b="1" dirty="0">
                <a:solidFill>
                  <a:srgbClr val="FFFFFF"/>
                </a:solidFill>
              </a:rPr>
              <a:t> RASTI I AVANCUAR: ANALIZA E SKEDARËVE LOG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CAF3A5-82B5-42AC-A491-0E1B8EF7B939}"/>
              </a:ext>
            </a:extLst>
          </p:cNvPr>
          <p:cNvSpPr/>
          <p:nvPr/>
        </p:nvSpPr>
        <p:spPr>
          <a:xfrm>
            <a:off x="508000" y="1016000"/>
            <a:ext cx="3937000" cy="1651000"/>
          </a:xfrm>
          <a:prstGeom prst="roundRect">
            <a:avLst/>
          </a:prstGeom>
          <a:solidFill>
            <a:srgbClr val="F0FFF0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08B45D-388B-4BB5-8284-8B448ED32C52}"/>
              </a:ext>
            </a:extLst>
          </p:cNvPr>
          <p:cNvSpPr txBox="1"/>
          <p:nvPr/>
        </p:nvSpPr>
        <p:spPr>
          <a:xfrm>
            <a:off x="698500" y="1143000"/>
            <a:ext cx="3556000" cy="138499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dirty="0">
                <a:solidFill>
                  <a:srgbClr val="005000"/>
                </a:solidFill>
              </a:rPr>
              <a:t>JOB 1: SHPËRNDARJA E KODEVE HTTP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5000"/>
                </a:solidFill>
              </a:rPr>
              <a:t>HTTP 200: 7 </a:t>
            </a:r>
            <a:r>
              <a:rPr lang="en-US" sz="1200" dirty="0" err="1">
                <a:solidFill>
                  <a:srgbClr val="005000"/>
                </a:solidFill>
              </a:rPr>
              <a:t>kërkesa</a:t>
            </a:r>
            <a:r>
              <a:rPr lang="en-US" sz="1200" dirty="0">
                <a:solidFill>
                  <a:srgbClr val="005000"/>
                </a:solidFill>
              </a:rPr>
              <a:t> (70%)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5000"/>
                </a:solidFill>
              </a:rPr>
              <a:t>HTTP 404: 1 </a:t>
            </a:r>
            <a:r>
              <a:rPr lang="en-US" sz="1200" dirty="0" err="1">
                <a:solidFill>
                  <a:srgbClr val="005000"/>
                </a:solidFill>
              </a:rPr>
              <a:t>kërkesë</a:t>
            </a:r>
            <a:r>
              <a:rPr lang="en-US" sz="1200" dirty="0">
                <a:solidFill>
                  <a:srgbClr val="005000"/>
                </a:solidFill>
              </a:rPr>
              <a:t> (10%)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5000"/>
                </a:solidFill>
              </a:rPr>
              <a:t>HTTP 500: 1 </a:t>
            </a:r>
            <a:r>
              <a:rPr lang="en-US" sz="1200" dirty="0" err="1">
                <a:solidFill>
                  <a:srgbClr val="005000"/>
                </a:solidFill>
              </a:rPr>
              <a:t>kërkesë</a:t>
            </a:r>
            <a:r>
              <a:rPr lang="en-US" sz="1200" dirty="0">
                <a:solidFill>
                  <a:srgbClr val="005000"/>
                </a:solidFill>
              </a:rPr>
              <a:t> (10%)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5000"/>
                </a:solidFill>
              </a:rPr>
              <a:t>HTTP 403: 1 </a:t>
            </a:r>
            <a:r>
              <a:rPr lang="en-US" sz="1200" dirty="0" err="1">
                <a:solidFill>
                  <a:srgbClr val="005000"/>
                </a:solidFill>
              </a:rPr>
              <a:t>kërkesë</a:t>
            </a:r>
            <a:r>
              <a:rPr lang="en-US" sz="1200" dirty="0">
                <a:solidFill>
                  <a:srgbClr val="005000"/>
                </a:solidFill>
              </a:rPr>
              <a:t> (10%)</a:t>
            </a:r>
          </a:p>
          <a:p>
            <a:endParaRPr lang="en-US" sz="1200" dirty="0">
              <a:solidFill>
                <a:srgbClr val="005000"/>
              </a:solidFill>
            </a:endParaRPr>
          </a:p>
          <a:p>
            <a:r>
              <a:rPr lang="en-US" sz="1200" dirty="0" err="1">
                <a:solidFill>
                  <a:srgbClr val="005000"/>
                </a:solidFill>
              </a:rPr>
              <a:t>Analiza</a:t>
            </a:r>
            <a:r>
              <a:rPr lang="en-US" sz="1200" dirty="0">
                <a:solidFill>
                  <a:srgbClr val="005000"/>
                </a:solidFill>
              </a:rPr>
              <a:t>: 70% </a:t>
            </a:r>
            <a:r>
              <a:rPr lang="en-US" sz="1200" dirty="0" err="1">
                <a:solidFill>
                  <a:srgbClr val="005000"/>
                </a:solidFill>
              </a:rPr>
              <a:t>sukses</a:t>
            </a:r>
            <a:r>
              <a:rPr lang="en-US" sz="1200" dirty="0">
                <a:solidFill>
                  <a:srgbClr val="005000"/>
                </a:solidFill>
              </a:rPr>
              <a:t>, 30% </a:t>
            </a:r>
            <a:r>
              <a:rPr lang="en-US" sz="1200" dirty="0" err="1">
                <a:solidFill>
                  <a:srgbClr val="005000"/>
                </a:solidFill>
              </a:rPr>
              <a:t>gabime</a:t>
            </a:r>
            <a:endParaRPr lang="en-US" sz="1200" dirty="0">
              <a:solidFill>
                <a:srgbClr val="005000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8E458C1-3B08-4591-94CC-887A2845ADD2}"/>
              </a:ext>
            </a:extLst>
          </p:cNvPr>
          <p:cNvSpPr/>
          <p:nvPr/>
        </p:nvSpPr>
        <p:spPr>
          <a:xfrm>
            <a:off x="4699000" y="1016000"/>
            <a:ext cx="3937000" cy="1651000"/>
          </a:xfrm>
          <a:prstGeom prst="roundRect">
            <a:avLst/>
          </a:prstGeom>
          <a:solidFill>
            <a:srgbClr val="FFF5E6"/>
          </a:solidFill>
          <a:ln w="38100">
            <a:solidFill>
              <a:srgbClr val="FF8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6E0256-3312-4E72-8211-0B2A433D9BBB}"/>
              </a:ext>
            </a:extLst>
          </p:cNvPr>
          <p:cNvSpPr txBox="1"/>
          <p:nvPr/>
        </p:nvSpPr>
        <p:spPr>
          <a:xfrm>
            <a:off x="4889500" y="1143000"/>
            <a:ext cx="3556000" cy="138499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dirty="0">
                <a:solidFill>
                  <a:srgbClr val="643C00"/>
                </a:solidFill>
                <a:latin typeface="Consolas" panose="020B0609020204030204" pitchFamily="49" charset="0"/>
              </a:rPr>
              <a:t>JOB 2: BANDWIDTH PËR IP</a:t>
            </a:r>
          </a:p>
          <a:p>
            <a:pPr marL="228600" indent="-228600">
              <a:buFont typeface="Wingdings" panose="05000000000000000000" pitchFamily="2" charset="2"/>
              <a:buChar char="v"/>
            </a:pPr>
            <a:r>
              <a:rPr lang="en-US" sz="1200" dirty="0">
                <a:solidFill>
                  <a:srgbClr val="643C00"/>
                </a:solidFill>
                <a:latin typeface="Consolas" panose="020B0609020204030204" pitchFamily="49" charset="0"/>
              </a:rPr>
              <a:t>192.168.1.100: 4.00 KB</a:t>
            </a:r>
          </a:p>
          <a:p>
            <a:pPr marL="228600" indent="-228600">
              <a:buFont typeface="Wingdings" panose="05000000000000000000" pitchFamily="2" charset="2"/>
              <a:buChar char="v"/>
            </a:pPr>
            <a:r>
              <a:rPr lang="en-US" sz="1200" dirty="0">
                <a:solidFill>
                  <a:srgbClr val="643C00"/>
                </a:solidFill>
                <a:latin typeface="Consolas" panose="020B0609020204030204" pitchFamily="49" charset="0"/>
              </a:rPr>
              <a:t>192.168.1.102: 4.00 KB</a:t>
            </a:r>
          </a:p>
          <a:p>
            <a:pPr marL="228600" indent="-228600">
              <a:buFont typeface="Wingdings" panose="05000000000000000000" pitchFamily="2" charset="2"/>
              <a:buChar char="v"/>
            </a:pPr>
            <a:r>
              <a:rPr lang="en-US" sz="1200" dirty="0">
                <a:solidFill>
                  <a:srgbClr val="643C00"/>
                </a:solidFill>
                <a:latin typeface="Consolas" panose="020B0609020204030204" pitchFamily="49" charset="0"/>
              </a:rPr>
              <a:t>192.168.1.103: 3.00 KB</a:t>
            </a:r>
          </a:p>
          <a:p>
            <a:pPr marL="228600" indent="-228600">
              <a:buFont typeface="Wingdings" panose="05000000000000000000" pitchFamily="2" charset="2"/>
              <a:buChar char="v"/>
            </a:pPr>
            <a:r>
              <a:rPr lang="en-US" sz="1200" dirty="0">
                <a:solidFill>
                  <a:srgbClr val="643C00"/>
                </a:solidFill>
                <a:latin typeface="Consolas" panose="020B0609020204030204" pitchFamily="49" charset="0"/>
              </a:rPr>
              <a:t>192.168.1.101: 2.50 KB</a:t>
            </a:r>
          </a:p>
          <a:p>
            <a:endParaRPr lang="en-US" sz="1200" dirty="0">
              <a:solidFill>
                <a:srgbClr val="643C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643C00"/>
                </a:solidFill>
                <a:latin typeface="Consolas" panose="020B0609020204030204" pitchFamily="49" charset="0"/>
              </a:rPr>
              <a:t>Total bandwidth: 13.50 KB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59D17A-7550-49AC-A1D9-F4B752B2C194}"/>
              </a:ext>
            </a:extLst>
          </p:cNvPr>
          <p:cNvSpPr/>
          <p:nvPr/>
        </p:nvSpPr>
        <p:spPr>
          <a:xfrm>
            <a:off x="508000" y="2921000"/>
            <a:ext cx="3937000" cy="1651000"/>
          </a:xfrm>
          <a:prstGeom prst="roundRect">
            <a:avLst/>
          </a:prstGeom>
          <a:solidFill>
            <a:srgbClr val="F0F8FF"/>
          </a:solidFill>
          <a:ln w="38100"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F835BE-7554-46FD-B3D6-7CB8F769BAC7}"/>
              </a:ext>
            </a:extLst>
          </p:cNvPr>
          <p:cNvSpPr txBox="1"/>
          <p:nvPr/>
        </p:nvSpPr>
        <p:spPr>
          <a:xfrm>
            <a:off x="698500" y="3048000"/>
            <a:ext cx="3556000" cy="138499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dirty="0">
                <a:solidFill>
                  <a:srgbClr val="003C78"/>
                </a:solidFill>
              </a:rPr>
              <a:t>JOB 3: URL-TË MË POPULLI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003C78"/>
                </a:solidFill>
              </a:rPr>
              <a:t>/home:     2 </a:t>
            </a:r>
            <a:r>
              <a:rPr lang="en-US" sz="1200" dirty="0" err="1">
                <a:solidFill>
                  <a:srgbClr val="003C78"/>
                </a:solidFill>
              </a:rPr>
              <a:t>vizita</a:t>
            </a:r>
            <a:endParaRPr lang="en-US" sz="1200" dirty="0">
              <a:solidFill>
                <a:srgbClr val="003C78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003C78"/>
                </a:solidFill>
              </a:rPr>
              <a:t>/products: 1 </a:t>
            </a:r>
            <a:r>
              <a:rPr lang="en-US" sz="1200" dirty="0" err="1">
                <a:solidFill>
                  <a:srgbClr val="003C78"/>
                </a:solidFill>
              </a:rPr>
              <a:t>vizitë</a:t>
            </a:r>
            <a:endParaRPr lang="en-US" sz="1200" dirty="0">
              <a:solidFill>
                <a:srgbClr val="003C78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003C78"/>
                </a:solidFill>
              </a:rPr>
              <a:t>/services: 1 </a:t>
            </a:r>
            <a:r>
              <a:rPr lang="en-US" sz="1200" dirty="0" err="1">
                <a:solidFill>
                  <a:srgbClr val="003C78"/>
                </a:solidFill>
              </a:rPr>
              <a:t>vizitë</a:t>
            </a:r>
            <a:endParaRPr lang="en-US" sz="1200" dirty="0">
              <a:solidFill>
                <a:srgbClr val="003C78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003C78"/>
                </a:solidFill>
              </a:rPr>
              <a:t>/contact:  1 </a:t>
            </a:r>
            <a:r>
              <a:rPr lang="en-US" sz="1200" dirty="0" err="1">
                <a:solidFill>
                  <a:srgbClr val="003C78"/>
                </a:solidFill>
              </a:rPr>
              <a:t>vizitë</a:t>
            </a:r>
            <a:endParaRPr lang="en-US" sz="1200" dirty="0">
              <a:solidFill>
                <a:srgbClr val="003C78"/>
              </a:solidFill>
            </a:endParaRPr>
          </a:p>
          <a:p>
            <a:endParaRPr lang="en-US" sz="1200" dirty="0">
              <a:solidFill>
                <a:srgbClr val="003C78"/>
              </a:solidFill>
            </a:endParaRPr>
          </a:p>
          <a:p>
            <a:r>
              <a:rPr lang="en-US" sz="1200" dirty="0" err="1">
                <a:solidFill>
                  <a:srgbClr val="003C78"/>
                </a:solidFill>
              </a:rPr>
              <a:t>Faqja</a:t>
            </a:r>
            <a:r>
              <a:rPr lang="en-US" sz="1200" dirty="0">
                <a:solidFill>
                  <a:srgbClr val="003C78"/>
                </a:solidFill>
              </a:rPr>
              <a:t> </a:t>
            </a:r>
            <a:r>
              <a:rPr lang="en-US" sz="1200" dirty="0" err="1">
                <a:solidFill>
                  <a:srgbClr val="003C78"/>
                </a:solidFill>
              </a:rPr>
              <a:t>më</a:t>
            </a:r>
            <a:r>
              <a:rPr lang="en-US" sz="1200" dirty="0">
                <a:solidFill>
                  <a:srgbClr val="003C78"/>
                </a:solidFill>
              </a:rPr>
              <a:t> e </a:t>
            </a:r>
            <a:r>
              <a:rPr lang="en-US" sz="1200" dirty="0" err="1">
                <a:solidFill>
                  <a:srgbClr val="003C78"/>
                </a:solidFill>
              </a:rPr>
              <a:t>vizituar</a:t>
            </a:r>
            <a:r>
              <a:rPr lang="en-US" sz="1200" dirty="0">
                <a:solidFill>
                  <a:srgbClr val="003C78"/>
                </a:solidFill>
              </a:rPr>
              <a:t>: /home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984ADFE-9907-47D0-92FC-CDB69A1BE947}"/>
              </a:ext>
            </a:extLst>
          </p:cNvPr>
          <p:cNvSpPr/>
          <p:nvPr/>
        </p:nvSpPr>
        <p:spPr>
          <a:xfrm>
            <a:off x="4699000" y="2921000"/>
            <a:ext cx="3937000" cy="1651000"/>
          </a:xfrm>
          <a:prstGeom prst="roundRect">
            <a:avLst/>
          </a:prstGeom>
          <a:solidFill>
            <a:srgbClr val="FFFAF0"/>
          </a:solidFill>
          <a:ln w="38100">
            <a:solidFill>
              <a:srgbClr val="B88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67982B-3B3E-4A4D-B83F-B967C8AD5A28}"/>
              </a:ext>
            </a:extLst>
          </p:cNvPr>
          <p:cNvSpPr txBox="1"/>
          <p:nvPr/>
        </p:nvSpPr>
        <p:spPr>
          <a:xfrm>
            <a:off x="4889500" y="3048000"/>
            <a:ext cx="3556000" cy="138499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dirty="0">
                <a:solidFill>
                  <a:srgbClr val="503C00"/>
                </a:solidFill>
              </a:rPr>
              <a:t> SI FUNKSIONON:</a:t>
            </a:r>
          </a:p>
          <a:p>
            <a:r>
              <a:rPr lang="en-US" sz="1200" dirty="0">
                <a:solidFill>
                  <a:srgbClr val="503C00"/>
                </a:solidFill>
              </a:rPr>
              <a:t>1. MAP: Parse log lines</a:t>
            </a:r>
          </a:p>
          <a:p>
            <a:r>
              <a:rPr lang="en-US" sz="1200" dirty="0">
                <a:solidFill>
                  <a:srgbClr val="503C00"/>
                </a:solidFill>
              </a:rPr>
              <a:t>2. Extract key (status/IP/URL)</a:t>
            </a:r>
          </a:p>
          <a:p>
            <a:r>
              <a:rPr lang="en-US" sz="1200" dirty="0">
                <a:solidFill>
                  <a:srgbClr val="503C00"/>
                </a:solidFill>
              </a:rPr>
              <a:t>3. SHUFFLE: Group by key</a:t>
            </a:r>
          </a:p>
          <a:p>
            <a:r>
              <a:rPr lang="en-US" sz="1200" dirty="0">
                <a:solidFill>
                  <a:srgbClr val="503C00"/>
                </a:solidFill>
              </a:rPr>
              <a:t>4. REDUCE: Count/Sum values</a:t>
            </a:r>
          </a:p>
          <a:p>
            <a:endParaRPr lang="en-US" sz="1200" dirty="0">
              <a:solidFill>
                <a:srgbClr val="503C00"/>
              </a:solidFill>
            </a:endParaRPr>
          </a:p>
          <a:p>
            <a:r>
              <a:rPr lang="en-US" sz="1200" dirty="0">
                <a:solidFill>
                  <a:srgbClr val="503C00"/>
                </a:solidFill>
              </a:rPr>
              <a:t>TË NJËJTIT PATTERN, PROBLEME TË NDRYSHME!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67AA145-BF56-4128-8A44-9E93023E89F0}"/>
              </a:ext>
            </a:extLst>
          </p:cNvPr>
          <p:cNvSpPr/>
          <p:nvPr/>
        </p:nvSpPr>
        <p:spPr>
          <a:xfrm>
            <a:off x="508000" y="4826000"/>
            <a:ext cx="8128000" cy="1524000"/>
          </a:xfrm>
          <a:prstGeom prst="roundRect">
            <a:avLst/>
          </a:prstGeom>
          <a:solidFill>
            <a:srgbClr val="FFFFE0"/>
          </a:solidFill>
          <a:ln w="38100">
            <a:solidFill>
              <a:srgbClr val="DAA5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ABCB1B-89EA-4DB5-B895-56E033CB4706}"/>
              </a:ext>
            </a:extLst>
          </p:cNvPr>
          <p:cNvSpPr txBox="1"/>
          <p:nvPr/>
        </p:nvSpPr>
        <p:spPr>
          <a:xfrm>
            <a:off x="762000" y="4953000"/>
            <a:ext cx="7620000" cy="129266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dirty="0">
                <a:solidFill>
                  <a:srgbClr val="503C00"/>
                </a:solidFill>
              </a:rPr>
              <a:t>NJOHURITË E FITUARA: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300" dirty="0">
                <a:solidFill>
                  <a:srgbClr val="503C00"/>
                </a:solidFill>
              </a:rPr>
              <a:t>TRE PUNË MapReduce </a:t>
            </a:r>
            <a:r>
              <a:rPr lang="en-US" sz="1300" dirty="0" err="1">
                <a:solidFill>
                  <a:srgbClr val="503C00"/>
                </a:solidFill>
              </a:rPr>
              <a:t>të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ndryshme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në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të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njëjtin</a:t>
            </a:r>
            <a:r>
              <a:rPr lang="en-US" sz="1300" dirty="0">
                <a:solidFill>
                  <a:srgbClr val="503C00"/>
                </a:solidFill>
              </a:rPr>
              <a:t> dataset log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300" dirty="0" err="1">
                <a:solidFill>
                  <a:srgbClr val="503C00"/>
                </a:solidFill>
              </a:rPr>
              <a:t>Çdo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punë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nxjerr</a:t>
            </a:r>
            <a:r>
              <a:rPr lang="en-US" sz="1300" dirty="0">
                <a:solidFill>
                  <a:srgbClr val="503C00"/>
                </a:solidFill>
              </a:rPr>
              <a:t> insights </a:t>
            </a:r>
            <a:r>
              <a:rPr lang="en-US" sz="1300" dirty="0" err="1">
                <a:solidFill>
                  <a:srgbClr val="503C00"/>
                </a:solidFill>
              </a:rPr>
              <a:t>të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ndryshme</a:t>
            </a:r>
            <a:r>
              <a:rPr lang="en-US" sz="1300" dirty="0">
                <a:solidFill>
                  <a:srgbClr val="503C00"/>
                </a:solidFill>
              </a:rPr>
              <a:t>: </a:t>
            </a:r>
            <a:r>
              <a:rPr lang="en-US" sz="1300" dirty="0" err="1">
                <a:solidFill>
                  <a:srgbClr val="503C00"/>
                </a:solidFill>
              </a:rPr>
              <a:t>Sukses</a:t>
            </a:r>
            <a:r>
              <a:rPr lang="en-US" sz="1300" dirty="0">
                <a:solidFill>
                  <a:srgbClr val="503C00"/>
                </a:solidFill>
              </a:rPr>
              <a:t>, </a:t>
            </a:r>
            <a:r>
              <a:rPr lang="en-US" sz="1300" dirty="0" err="1">
                <a:solidFill>
                  <a:srgbClr val="503C00"/>
                </a:solidFill>
              </a:rPr>
              <a:t>Konsum</a:t>
            </a:r>
            <a:r>
              <a:rPr lang="en-US" sz="1300" dirty="0">
                <a:solidFill>
                  <a:srgbClr val="503C00"/>
                </a:solidFill>
              </a:rPr>
              <a:t>, </a:t>
            </a:r>
            <a:r>
              <a:rPr lang="en-US" sz="1300" dirty="0" err="1">
                <a:solidFill>
                  <a:srgbClr val="503C00"/>
                </a:solidFill>
              </a:rPr>
              <a:t>Popularitet</a:t>
            </a:r>
            <a:endParaRPr lang="en-US" sz="1300" dirty="0">
              <a:solidFill>
                <a:srgbClr val="503C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300" dirty="0" err="1">
                <a:solidFill>
                  <a:srgbClr val="503C00"/>
                </a:solidFill>
              </a:rPr>
              <a:t>Demostron</a:t>
            </a:r>
            <a:r>
              <a:rPr lang="en-US" sz="1300" dirty="0">
                <a:solidFill>
                  <a:srgbClr val="503C00"/>
                </a:solidFill>
              </a:rPr>
              <a:t> FLEKSIBILITETIN e MapReduce </a:t>
            </a:r>
            <a:r>
              <a:rPr lang="en-US" sz="1300" dirty="0" err="1">
                <a:solidFill>
                  <a:srgbClr val="503C00"/>
                </a:solidFill>
              </a:rPr>
              <a:t>për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agregime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të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ndryshme</a:t>
            </a:r>
            <a:endParaRPr lang="en-US" sz="1300" dirty="0">
              <a:solidFill>
                <a:srgbClr val="503C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300" dirty="0">
                <a:solidFill>
                  <a:srgbClr val="503C00"/>
                </a:solidFill>
              </a:rPr>
              <a:t>E </a:t>
            </a:r>
            <a:r>
              <a:rPr lang="en-US" sz="1300" dirty="0" err="1">
                <a:solidFill>
                  <a:srgbClr val="503C00"/>
                </a:solidFill>
              </a:rPr>
              <a:t>njëjta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paradigmë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zbatohet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për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miliona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rekorde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në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kohë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reale</a:t>
            </a:r>
            <a:endParaRPr lang="en-US" sz="1300" dirty="0">
              <a:solidFill>
                <a:srgbClr val="503C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300" dirty="0" err="1">
                <a:solidFill>
                  <a:srgbClr val="503C00"/>
                </a:solidFill>
              </a:rPr>
              <a:t>Përdoret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nga</a:t>
            </a:r>
            <a:r>
              <a:rPr lang="en-US" sz="1300" dirty="0">
                <a:solidFill>
                  <a:srgbClr val="503C00"/>
                </a:solidFill>
              </a:rPr>
              <a:t> Google, Facebook, Amazon </a:t>
            </a:r>
            <a:r>
              <a:rPr lang="en-US" sz="1300" dirty="0" err="1">
                <a:solidFill>
                  <a:srgbClr val="503C00"/>
                </a:solidFill>
              </a:rPr>
              <a:t>për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analizën</a:t>
            </a:r>
            <a:r>
              <a:rPr lang="en-US" sz="1300" dirty="0">
                <a:solidFill>
                  <a:srgbClr val="503C00"/>
                </a:solidFill>
              </a:rPr>
              <a:t> e log-eve</a:t>
            </a:r>
          </a:p>
        </p:txBody>
      </p:sp>
    </p:spTree>
    <p:extLst>
      <p:ext uri="{BB962C8B-B14F-4D97-AF65-F5344CB8AC3E}">
        <p14:creationId xmlns:p14="http://schemas.microsoft.com/office/powerpoint/2010/main" val="25091703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B02A8D-4CEE-4CAE-929E-125C55AA770C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31E718-9D1E-4B32-98ED-D0CD8C652FD3}"/>
              </a:ext>
            </a:extLst>
          </p:cNvPr>
          <p:cNvSpPr txBox="1"/>
          <p:nvPr/>
        </p:nvSpPr>
        <p:spPr>
          <a:xfrm>
            <a:off x="254000" y="152400"/>
            <a:ext cx="863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MODELET E ZAKONSHME MAPREDUCE (</a:t>
            </a:r>
            <a:r>
              <a:rPr lang="en-US" sz="2800" b="1" dirty="0" err="1">
                <a:solidFill>
                  <a:srgbClr val="FFFFFF"/>
                </a:solidFill>
              </a:rPr>
              <a:t>Kap</a:t>
            </a:r>
            <a:r>
              <a:rPr lang="en-US" sz="2800" b="1" dirty="0">
                <a:solidFill>
                  <a:srgbClr val="FFFFFF"/>
                </a:solidFill>
              </a:rPr>
              <a:t>. 4.3)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894C95-A3AA-4E2A-B870-BD4BD8157E1D}"/>
              </a:ext>
            </a:extLst>
          </p:cNvPr>
          <p:cNvSpPr/>
          <p:nvPr/>
        </p:nvSpPr>
        <p:spPr>
          <a:xfrm>
            <a:off x="508000" y="1016000"/>
            <a:ext cx="8128000" cy="889000"/>
          </a:xfrm>
          <a:prstGeom prst="roundRect">
            <a:avLst/>
          </a:prstGeom>
          <a:solidFill>
            <a:srgbClr val="F0FFF0"/>
          </a:solidFill>
          <a:ln w="254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CDC71-8EA3-49BF-BFE6-7F3047BF89F5}"/>
              </a:ext>
            </a:extLst>
          </p:cNvPr>
          <p:cNvSpPr txBox="1"/>
          <p:nvPr/>
        </p:nvSpPr>
        <p:spPr>
          <a:xfrm>
            <a:off x="698500" y="1117600"/>
            <a:ext cx="7747000" cy="6924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dirty="0">
                <a:solidFill>
                  <a:srgbClr val="005000"/>
                </a:solidFill>
              </a:rPr>
              <a:t>1. NUMËRIMI &amp; PËRMBLEDHJA (counting &amp; summarizing)</a:t>
            </a:r>
          </a:p>
          <a:p>
            <a:r>
              <a:rPr lang="en-US" sz="1300" dirty="0">
                <a:solidFill>
                  <a:srgbClr val="005000"/>
                </a:solidFill>
              </a:rPr>
              <a:t>   </a:t>
            </a:r>
            <a:r>
              <a:rPr lang="en-US" sz="1300" dirty="0" err="1">
                <a:solidFill>
                  <a:srgbClr val="005000"/>
                </a:solidFill>
              </a:rPr>
              <a:t>Shembuj</a:t>
            </a:r>
            <a:r>
              <a:rPr lang="en-US" sz="1300" dirty="0">
                <a:solidFill>
                  <a:srgbClr val="005000"/>
                </a:solidFill>
              </a:rPr>
              <a:t>: word count, </a:t>
            </a:r>
            <a:r>
              <a:rPr lang="en-US" sz="1300" dirty="0" err="1">
                <a:solidFill>
                  <a:srgbClr val="005000"/>
                </a:solidFill>
              </a:rPr>
              <a:t>analiza</a:t>
            </a:r>
            <a:r>
              <a:rPr lang="en-US" sz="1300" dirty="0">
                <a:solidFill>
                  <a:srgbClr val="005000"/>
                </a:solidFill>
              </a:rPr>
              <a:t> log, </a:t>
            </a:r>
            <a:r>
              <a:rPr lang="en-US" sz="1300" dirty="0" err="1">
                <a:solidFill>
                  <a:srgbClr val="005000"/>
                </a:solidFill>
              </a:rPr>
              <a:t>aktiviteti</a:t>
            </a:r>
            <a:r>
              <a:rPr lang="en-US" sz="1300" dirty="0">
                <a:solidFill>
                  <a:srgbClr val="005000"/>
                </a:solidFill>
              </a:rPr>
              <a:t> </a:t>
            </a:r>
            <a:r>
              <a:rPr lang="en-US" sz="1300" dirty="0" err="1">
                <a:solidFill>
                  <a:srgbClr val="005000"/>
                </a:solidFill>
              </a:rPr>
              <a:t>përdoruesit</a:t>
            </a:r>
            <a:endParaRPr lang="en-US" sz="1300" dirty="0">
              <a:solidFill>
                <a:srgbClr val="005000"/>
              </a:solidFill>
            </a:endParaRPr>
          </a:p>
          <a:p>
            <a:r>
              <a:rPr lang="en-US" sz="1300" dirty="0">
                <a:solidFill>
                  <a:srgbClr val="005000"/>
                </a:solidFill>
              </a:rPr>
              <a:t>   Pattern: (key, 1) ’ (key, sum)  |  </a:t>
            </a:r>
            <a:r>
              <a:rPr lang="en-US" sz="1300" dirty="0" err="1">
                <a:solidFill>
                  <a:srgbClr val="005000"/>
                </a:solidFill>
              </a:rPr>
              <a:t>Përdorimi</a:t>
            </a:r>
            <a:r>
              <a:rPr lang="en-US" sz="1300" dirty="0">
                <a:solidFill>
                  <a:srgbClr val="005000"/>
                </a:solidFill>
              </a:rPr>
              <a:t>: 40% e </a:t>
            </a:r>
            <a:r>
              <a:rPr lang="en-US" sz="1300" dirty="0" err="1">
                <a:solidFill>
                  <a:srgbClr val="005000"/>
                </a:solidFill>
              </a:rPr>
              <a:t>rasteve</a:t>
            </a:r>
            <a:endParaRPr lang="en-US" sz="1300" dirty="0">
              <a:solidFill>
                <a:srgbClr val="005000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BF20E66-5BA3-49E5-B64A-959E718BF829}"/>
              </a:ext>
            </a:extLst>
          </p:cNvPr>
          <p:cNvSpPr/>
          <p:nvPr/>
        </p:nvSpPr>
        <p:spPr>
          <a:xfrm>
            <a:off x="508000" y="2032000"/>
            <a:ext cx="8128000" cy="889000"/>
          </a:xfrm>
          <a:prstGeom prst="roundRect">
            <a:avLst/>
          </a:prstGeom>
          <a:solidFill>
            <a:srgbClr val="FFF5E6"/>
          </a:solidFill>
          <a:ln w="25400">
            <a:solidFill>
              <a:srgbClr val="FF8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BD7FEA-2B9C-4BD8-AA95-2137C913F6E9}"/>
              </a:ext>
            </a:extLst>
          </p:cNvPr>
          <p:cNvSpPr txBox="1"/>
          <p:nvPr/>
        </p:nvSpPr>
        <p:spPr>
          <a:xfrm>
            <a:off x="698500" y="2133600"/>
            <a:ext cx="7747000" cy="6924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dirty="0">
                <a:solidFill>
                  <a:srgbClr val="643C00"/>
                </a:solidFill>
              </a:rPr>
              <a:t>2. FILTRIMI &amp; KËRKIMI (filtering &amp; searching)</a:t>
            </a:r>
          </a:p>
          <a:p>
            <a:r>
              <a:rPr lang="en-US" sz="1300" dirty="0">
                <a:solidFill>
                  <a:srgbClr val="643C00"/>
                </a:solidFill>
              </a:rPr>
              <a:t>   </a:t>
            </a:r>
            <a:r>
              <a:rPr lang="en-US" sz="1300" dirty="0" err="1">
                <a:solidFill>
                  <a:srgbClr val="643C00"/>
                </a:solidFill>
              </a:rPr>
              <a:t>Shembuj</a:t>
            </a:r>
            <a:r>
              <a:rPr lang="en-US" sz="1300" dirty="0">
                <a:solidFill>
                  <a:srgbClr val="643C00"/>
                </a:solidFill>
              </a:rPr>
              <a:t>: </a:t>
            </a:r>
            <a:r>
              <a:rPr lang="en-US" sz="1300" dirty="0" err="1">
                <a:solidFill>
                  <a:srgbClr val="643C00"/>
                </a:solidFill>
              </a:rPr>
              <a:t>filtrimi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i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gabimeve</a:t>
            </a:r>
            <a:r>
              <a:rPr lang="en-US" sz="1300" dirty="0">
                <a:solidFill>
                  <a:srgbClr val="643C00"/>
                </a:solidFill>
              </a:rPr>
              <a:t>, </a:t>
            </a:r>
            <a:r>
              <a:rPr lang="en-US" sz="1300" dirty="0" err="1">
                <a:solidFill>
                  <a:srgbClr val="643C00"/>
                </a:solidFill>
              </a:rPr>
              <a:t>validimi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i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të</a:t>
            </a:r>
            <a:r>
              <a:rPr lang="en-US" sz="1300" dirty="0">
                <a:solidFill>
                  <a:srgbClr val="643C00"/>
                </a:solidFill>
              </a:rPr>
              <a:t> </a:t>
            </a:r>
            <a:r>
              <a:rPr lang="en-US" sz="1300" dirty="0" err="1">
                <a:solidFill>
                  <a:srgbClr val="643C00"/>
                </a:solidFill>
              </a:rPr>
              <a:t>dhënave</a:t>
            </a:r>
            <a:r>
              <a:rPr lang="en-US" sz="1300" dirty="0">
                <a:solidFill>
                  <a:srgbClr val="643C00"/>
                </a:solidFill>
              </a:rPr>
              <a:t>, </a:t>
            </a:r>
            <a:r>
              <a:rPr lang="en-US" sz="1300" dirty="0" err="1">
                <a:solidFill>
                  <a:srgbClr val="643C00"/>
                </a:solidFill>
              </a:rPr>
              <a:t>kërkimi</a:t>
            </a:r>
            <a:endParaRPr lang="en-US" sz="1300" dirty="0">
              <a:solidFill>
                <a:srgbClr val="643C00"/>
              </a:solidFill>
            </a:endParaRPr>
          </a:p>
          <a:p>
            <a:r>
              <a:rPr lang="en-US" sz="1300" dirty="0">
                <a:solidFill>
                  <a:srgbClr val="643C00"/>
                </a:solidFill>
              </a:rPr>
              <a:t>   Pattern: (key, record) if condition  |  </a:t>
            </a:r>
            <a:r>
              <a:rPr lang="en-US" sz="1300" dirty="0" err="1">
                <a:solidFill>
                  <a:srgbClr val="643C00"/>
                </a:solidFill>
              </a:rPr>
              <a:t>Përdorimi</a:t>
            </a:r>
            <a:r>
              <a:rPr lang="en-US" sz="1300" dirty="0">
                <a:solidFill>
                  <a:srgbClr val="643C00"/>
                </a:solidFill>
              </a:rPr>
              <a:t>: 25% e </a:t>
            </a:r>
            <a:r>
              <a:rPr lang="en-US" sz="1300" dirty="0" err="1">
                <a:solidFill>
                  <a:srgbClr val="643C00"/>
                </a:solidFill>
              </a:rPr>
              <a:t>rasteve</a:t>
            </a:r>
            <a:endParaRPr lang="en-US" sz="1300" dirty="0">
              <a:solidFill>
                <a:srgbClr val="643C00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10B5CDC-DCDC-4C44-9559-A5920CB0F9B4}"/>
              </a:ext>
            </a:extLst>
          </p:cNvPr>
          <p:cNvSpPr/>
          <p:nvPr/>
        </p:nvSpPr>
        <p:spPr>
          <a:xfrm>
            <a:off x="508000" y="3048000"/>
            <a:ext cx="8128000" cy="8890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581D51-EF7C-4511-AAB3-9E6556600E99}"/>
              </a:ext>
            </a:extLst>
          </p:cNvPr>
          <p:cNvSpPr txBox="1"/>
          <p:nvPr/>
        </p:nvSpPr>
        <p:spPr>
          <a:xfrm>
            <a:off x="698500" y="3149600"/>
            <a:ext cx="7747000" cy="6924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dirty="0">
                <a:solidFill>
                  <a:srgbClr val="003C78"/>
                </a:solidFill>
              </a:rPr>
              <a:t>3. RENDITJA &amp; KLASIFIKIMI (sorting &amp; ranking)</a:t>
            </a:r>
          </a:p>
          <a:p>
            <a:r>
              <a:rPr lang="en-US" sz="1300" dirty="0">
                <a:solidFill>
                  <a:srgbClr val="003C78"/>
                </a:solidFill>
              </a:rPr>
              <a:t>   </a:t>
            </a:r>
            <a:r>
              <a:rPr lang="en-US" sz="1300" dirty="0" err="1">
                <a:solidFill>
                  <a:srgbClr val="003C78"/>
                </a:solidFill>
              </a:rPr>
              <a:t>Shembuj</a:t>
            </a:r>
            <a:r>
              <a:rPr lang="en-US" sz="1300" dirty="0">
                <a:solidFill>
                  <a:srgbClr val="003C78"/>
                </a:solidFill>
              </a:rPr>
              <a:t>: Top-K, leaderboards, </a:t>
            </a:r>
            <a:r>
              <a:rPr lang="en-US" sz="1300" dirty="0" err="1">
                <a:solidFill>
                  <a:srgbClr val="003C78"/>
                </a:solidFill>
              </a:rPr>
              <a:t>rezultate</a:t>
            </a:r>
            <a:r>
              <a:rPr lang="en-US" sz="1300" dirty="0">
                <a:solidFill>
                  <a:srgbClr val="003C78"/>
                </a:solidFill>
              </a:rPr>
              <a:t> </a:t>
            </a:r>
            <a:r>
              <a:rPr lang="en-US" sz="1300" dirty="0" err="1">
                <a:solidFill>
                  <a:srgbClr val="003C78"/>
                </a:solidFill>
              </a:rPr>
              <a:t>kërkimi</a:t>
            </a:r>
            <a:r>
              <a:rPr lang="en-US" sz="1300" dirty="0">
                <a:solidFill>
                  <a:srgbClr val="003C78"/>
                </a:solidFill>
              </a:rPr>
              <a:t>, </a:t>
            </a:r>
            <a:r>
              <a:rPr lang="en-US" sz="1300" dirty="0" err="1">
                <a:solidFill>
                  <a:srgbClr val="003C78"/>
                </a:solidFill>
              </a:rPr>
              <a:t>renditje</a:t>
            </a:r>
            <a:endParaRPr lang="en-US" sz="1300" dirty="0">
              <a:solidFill>
                <a:srgbClr val="003C78"/>
              </a:solidFill>
            </a:endParaRPr>
          </a:p>
          <a:p>
            <a:r>
              <a:rPr lang="en-US" sz="1300" dirty="0">
                <a:solidFill>
                  <a:srgbClr val="003C78"/>
                </a:solidFill>
              </a:rPr>
              <a:t>   Pattern: (score, record) ’ sorted list  |  </a:t>
            </a:r>
            <a:r>
              <a:rPr lang="en-US" sz="1300" dirty="0" err="1">
                <a:solidFill>
                  <a:srgbClr val="003C78"/>
                </a:solidFill>
              </a:rPr>
              <a:t>Përdorimi</a:t>
            </a:r>
            <a:r>
              <a:rPr lang="en-US" sz="1300" dirty="0">
                <a:solidFill>
                  <a:srgbClr val="003C78"/>
                </a:solidFill>
              </a:rPr>
              <a:t>: 15% e </a:t>
            </a:r>
            <a:r>
              <a:rPr lang="en-US" sz="1300" dirty="0" err="1">
                <a:solidFill>
                  <a:srgbClr val="003C78"/>
                </a:solidFill>
              </a:rPr>
              <a:t>rasteve</a:t>
            </a:r>
            <a:endParaRPr lang="en-US" sz="1300" dirty="0">
              <a:solidFill>
                <a:srgbClr val="003C78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E4E48E9-50C8-46F3-96AB-7F8666DA17C8}"/>
              </a:ext>
            </a:extLst>
          </p:cNvPr>
          <p:cNvSpPr/>
          <p:nvPr/>
        </p:nvSpPr>
        <p:spPr>
          <a:xfrm>
            <a:off x="508000" y="4064000"/>
            <a:ext cx="8128000" cy="889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4F5B3B-1951-4BFE-A474-541A4D5061E3}"/>
              </a:ext>
            </a:extLst>
          </p:cNvPr>
          <p:cNvSpPr txBox="1"/>
          <p:nvPr/>
        </p:nvSpPr>
        <p:spPr>
          <a:xfrm>
            <a:off x="698500" y="4165600"/>
            <a:ext cx="7747000" cy="6924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dirty="0">
                <a:solidFill>
                  <a:srgbClr val="501478"/>
                </a:solidFill>
              </a:rPr>
              <a:t>4. BASHKIMI &amp; INTEGRIMI (joining &amp; merging)</a:t>
            </a:r>
          </a:p>
          <a:p>
            <a:r>
              <a:rPr lang="en-US" sz="1300" dirty="0">
                <a:solidFill>
                  <a:srgbClr val="501478"/>
                </a:solidFill>
              </a:rPr>
              <a:t>   </a:t>
            </a:r>
            <a:r>
              <a:rPr lang="en-US" sz="1300" dirty="0" err="1">
                <a:solidFill>
                  <a:srgbClr val="501478"/>
                </a:solidFill>
              </a:rPr>
              <a:t>Shembuj</a:t>
            </a:r>
            <a:r>
              <a:rPr lang="en-US" sz="1300" dirty="0">
                <a:solidFill>
                  <a:srgbClr val="501478"/>
                </a:solidFill>
              </a:rPr>
              <a:t>: database joins, </a:t>
            </a:r>
            <a:r>
              <a:rPr lang="en-US" sz="1300" dirty="0" err="1">
                <a:solidFill>
                  <a:srgbClr val="501478"/>
                </a:solidFill>
              </a:rPr>
              <a:t>integrimi</a:t>
            </a:r>
            <a:r>
              <a:rPr lang="en-US" sz="1300" dirty="0">
                <a:solidFill>
                  <a:srgbClr val="501478"/>
                </a:solidFill>
              </a:rPr>
              <a:t> </a:t>
            </a:r>
            <a:r>
              <a:rPr lang="en-US" sz="1300" dirty="0" err="1">
                <a:solidFill>
                  <a:srgbClr val="501478"/>
                </a:solidFill>
              </a:rPr>
              <a:t>i</a:t>
            </a:r>
            <a:r>
              <a:rPr lang="en-US" sz="1300" dirty="0">
                <a:solidFill>
                  <a:srgbClr val="501478"/>
                </a:solidFill>
              </a:rPr>
              <a:t> </a:t>
            </a:r>
            <a:r>
              <a:rPr lang="en-US" sz="1300" dirty="0" err="1">
                <a:solidFill>
                  <a:srgbClr val="501478"/>
                </a:solidFill>
              </a:rPr>
              <a:t>të</a:t>
            </a:r>
            <a:r>
              <a:rPr lang="en-US" sz="1300" dirty="0">
                <a:solidFill>
                  <a:srgbClr val="501478"/>
                </a:solidFill>
              </a:rPr>
              <a:t> </a:t>
            </a:r>
            <a:r>
              <a:rPr lang="en-US" sz="1300" dirty="0" err="1">
                <a:solidFill>
                  <a:srgbClr val="501478"/>
                </a:solidFill>
              </a:rPr>
              <a:t>dhënave</a:t>
            </a:r>
            <a:r>
              <a:rPr lang="en-US" sz="1300" dirty="0">
                <a:solidFill>
                  <a:srgbClr val="501478"/>
                </a:solidFill>
              </a:rPr>
              <a:t>, </a:t>
            </a:r>
            <a:r>
              <a:rPr lang="en-US" sz="1300" dirty="0" err="1">
                <a:solidFill>
                  <a:srgbClr val="501478"/>
                </a:solidFill>
              </a:rPr>
              <a:t>lidhja</a:t>
            </a:r>
            <a:r>
              <a:rPr lang="en-US" sz="1300" dirty="0">
                <a:solidFill>
                  <a:srgbClr val="501478"/>
                </a:solidFill>
              </a:rPr>
              <a:t> e </a:t>
            </a:r>
            <a:r>
              <a:rPr lang="en-US" sz="1300" dirty="0" err="1">
                <a:solidFill>
                  <a:srgbClr val="501478"/>
                </a:solidFill>
              </a:rPr>
              <a:t>tabelave</a:t>
            </a:r>
            <a:endParaRPr lang="en-US" sz="1300" dirty="0">
              <a:solidFill>
                <a:srgbClr val="501478"/>
              </a:solidFill>
            </a:endParaRPr>
          </a:p>
          <a:p>
            <a:r>
              <a:rPr lang="en-US" sz="1300" dirty="0">
                <a:solidFill>
                  <a:srgbClr val="501478"/>
                </a:solidFill>
              </a:rPr>
              <a:t>   Pattern: (</a:t>
            </a:r>
            <a:r>
              <a:rPr lang="en-US" sz="1300" dirty="0" err="1">
                <a:solidFill>
                  <a:srgbClr val="501478"/>
                </a:solidFill>
              </a:rPr>
              <a:t>join_key</a:t>
            </a:r>
            <a:r>
              <a:rPr lang="en-US" sz="1300" dirty="0">
                <a:solidFill>
                  <a:srgbClr val="501478"/>
                </a:solidFill>
              </a:rPr>
              <a:t>, (source, record))  |  </a:t>
            </a:r>
            <a:r>
              <a:rPr lang="en-US" sz="1300" dirty="0" err="1">
                <a:solidFill>
                  <a:srgbClr val="501478"/>
                </a:solidFill>
              </a:rPr>
              <a:t>Përdorimi</a:t>
            </a:r>
            <a:r>
              <a:rPr lang="en-US" sz="1300" dirty="0">
                <a:solidFill>
                  <a:srgbClr val="501478"/>
                </a:solidFill>
              </a:rPr>
              <a:t>: 12% e </a:t>
            </a:r>
            <a:r>
              <a:rPr lang="en-US" sz="1300" dirty="0" err="1">
                <a:solidFill>
                  <a:srgbClr val="501478"/>
                </a:solidFill>
              </a:rPr>
              <a:t>rasteve</a:t>
            </a:r>
            <a:endParaRPr lang="en-US" sz="1300" dirty="0">
              <a:solidFill>
                <a:srgbClr val="501478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5B14503-F60C-41F9-8BD4-B6B900DBD6F9}"/>
              </a:ext>
            </a:extLst>
          </p:cNvPr>
          <p:cNvSpPr/>
          <p:nvPr/>
        </p:nvSpPr>
        <p:spPr>
          <a:xfrm>
            <a:off x="508000" y="5080000"/>
            <a:ext cx="8128000" cy="889000"/>
          </a:xfrm>
          <a:prstGeom prst="roundRect">
            <a:avLst/>
          </a:prstGeom>
          <a:solidFill>
            <a:srgbClr val="FFFAF0"/>
          </a:solidFill>
          <a:ln w="25400">
            <a:solidFill>
              <a:srgbClr val="B88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2220D5-CC8F-48EF-A9FD-8604ACA5E850}"/>
              </a:ext>
            </a:extLst>
          </p:cNvPr>
          <p:cNvSpPr txBox="1"/>
          <p:nvPr/>
        </p:nvSpPr>
        <p:spPr>
          <a:xfrm>
            <a:off x="698500" y="5181600"/>
            <a:ext cx="7747000" cy="6924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dirty="0">
                <a:solidFill>
                  <a:srgbClr val="503C00"/>
                </a:solidFill>
              </a:rPr>
              <a:t>5. GRUPIMI &amp; AGREGIMI (grouping &amp; aggregation)</a:t>
            </a:r>
          </a:p>
          <a:p>
            <a:r>
              <a:rPr lang="en-US" sz="1300" dirty="0">
                <a:solidFill>
                  <a:srgbClr val="503C00"/>
                </a:solidFill>
              </a:rPr>
              <a:t>   </a:t>
            </a:r>
            <a:r>
              <a:rPr lang="en-US" sz="1300" dirty="0" err="1">
                <a:solidFill>
                  <a:srgbClr val="503C00"/>
                </a:solidFill>
              </a:rPr>
              <a:t>Shembuj</a:t>
            </a:r>
            <a:r>
              <a:rPr lang="en-US" sz="1300" dirty="0">
                <a:solidFill>
                  <a:srgbClr val="503C00"/>
                </a:solidFill>
              </a:rPr>
              <a:t>: GROUP BY SQL, </a:t>
            </a:r>
            <a:r>
              <a:rPr lang="en-US" sz="1300" dirty="0" err="1">
                <a:solidFill>
                  <a:srgbClr val="503C00"/>
                </a:solidFill>
              </a:rPr>
              <a:t>shitjet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sipas</a:t>
            </a:r>
            <a:r>
              <a:rPr lang="en-US" sz="1300" dirty="0">
                <a:solidFill>
                  <a:srgbClr val="503C00"/>
                </a:solidFill>
              </a:rPr>
              <a:t> </a:t>
            </a:r>
            <a:r>
              <a:rPr lang="en-US" sz="1300" dirty="0" err="1">
                <a:solidFill>
                  <a:srgbClr val="503C00"/>
                </a:solidFill>
              </a:rPr>
              <a:t>rajonit</a:t>
            </a:r>
            <a:r>
              <a:rPr lang="en-US" sz="1300" dirty="0">
                <a:solidFill>
                  <a:srgbClr val="503C00"/>
                </a:solidFill>
              </a:rPr>
              <a:t>, </a:t>
            </a:r>
            <a:r>
              <a:rPr lang="en-US" sz="1300" dirty="0" err="1">
                <a:solidFill>
                  <a:srgbClr val="503C00"/>
                </a:solidFill>
              </a:rPr>
              <a:t>statistika</a:t>
            </a:r>
            <a:endParaRPr lang="en-US" sz="1300" dirty="0">
              <a:solidFill>
                <a:srgbClr val="503C00"/>
              </a:solidFill>
            </a:endParaRPr>
          </a:p>
          <a:p>
            <a:r>
              <a:rPr lang="en-US" sz="1300" dirty="0">
                <a:solidFill>
                  <a:srgbClr val="503C00"/>
                </a:solidFill>
              </a:rPr>
              <a:t>   Pattern: (</a:t>
            </a:r>
            <a:r>
              <a:rPr lang="en-US" sz="1300" dirty="0" err="1">
                <a:solidFill>
                  <a:srgbClr val="503C00"/>
                </a:solidFill>
              </a:rPr>
              <a:t>group_key</a:t>
            </a:r>
            <a:r>
              <a:rPr lang="en-US" sz="1300" dirty="0">
                <a:solidFill>
                  <a:srgbClr val="503C00"/>
                </a:solidFill>
              </a:rPr>
              <a:t>, value) ’ (</a:t>
            </a:r>
            <a:r>
              <a:rPr lang="en-US" sz="1300" dirty="0" err="1">
                <a:solidFill>
                  <a:srgbClr val="503C00"/>
                </a:solidFill>
              </a:rPr>
              <a:t>group_key</a:t>
            </a:r>
            <a:r>
              <a:rPr lang="en-US" sz="1300" dirty="0">
                <a:solidFill>
                  <a:srgbClr val="503C00"/>
                </a:solidFill>
              </a:rPr>
              <a:t>, aggregate)  |  </a:t>
            </a:r>
            <a:r>
              <a:rPr lang="en-US" sz="1300" dirty="0" err="1">
                <a:solidFill>
                  <a:srgbClr val="503C00"/>
                </a:solidFill>
              </a:rPr>
              <a:t>Përdorimi</a:t>
            </a:r>
            <a:r>
              <a:rPr lang="en-US" sz="1300" dirty="0">
                <a:solidFill>
                  <a:srgbClr val="503C00"/>
                </a:solidFill>
              </a:rPr>
              <a:t>: 8% e </a:t>
            </a:r>
            <a:r>
              <a:rPr lang="en-US" sz="1300" dirty="0" err="1">
                <a:solidFill>
                  <a:srgbClr val="503C00"/>
                </a:solidFill>
              </a:rPr>
              <a:t>rasteve</a:t>
            </a:r>
            <a:endParaRPr lang="en-US" sz="1300" dirty="0">
              <a:solidFill>
                <a:srgbClr val="503C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1679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DEB556-DD06-4243-A4EC-F9A0C27C76AC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FF45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99BC85-D6A9-4F95-8DDA-732651641AD4}"/>
              </a:ext>
            </a:extLst>
          </p:cNvPr>
          <p:cNvSpPr txBox="1"/>
          <p:nvPr/>
        </p:nvSpPr>
        <p:spPr>
          <a:xfrm>
            <a:off x="254000" y="152400"/>
            <a:ext cx="8636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200" b="1" dirty="0">
                <a:solidFill>
                  <a:srgbClr val="FFFFFF"/>
                </a:solidFill>
              </a:rPr>
              <a:t>KRAHASIMI: HADOOP vs SPARK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C4E2B5-264E-40DC-AED1-449AC39A69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9105791"/>
              </p:ext>
            </p:extLst>
          </p:nvPr>
        </p:nvGraphicFramePr>
        <p:xfrm>
          <a:off x="508000" y="1016000"/>
          <a:ext cx="8127999" cy="40640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08309701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03243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322098628"/>
                    </a:ext>
                  </a:extLst>
                </a:gridCol>
              </a:tblGrid>
              <a:tr h="451556"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VEÇORIA</a:t>
                      </a:r>
                    </a:p>
                  </a:txBody>
                  <a:tcPr>
                    <a:solidFill>
                      <a:srgbClr val="FF45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HADOOP MAPREDUCE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APACHE SPARK</a:t>
                      </a:r>
                    </a:p>
                  </a:txBody>
                  <a:tcPr>
                    <a:solidFill>
                      <a:srgbClr val="FF8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795619"/>
                  </a:ext>
                </a:extLst>
              </a:tr>
              <a:tr h="451556">
                <a:tc>
                  <a:txBody>
                    <a:bodyPr/>
                    <a:lstStyle/>
                    <a:p>
                      <a:r>
                        <a:rPr lang="en-US" sz="1100" b="1" dirty="0" err="1"/>
                        <a:t>Modeli</a:t>
                      </a:r>
                      <a:r>
                        <a:rPr lang="en-US" sz="1100" b="1" dirty="0"/>
                        <a:t> </a:t>
                      </a:r>
                      <a:r>
                        <a:rPr lang="en-US" sz="1100" b="1" dirty="0" err="1"/>
                        <a:t>procesimit</a:t>
                      </a:r>
                      <a:endParaRPr lang="en-US" sz="1100" b="1" dirty="0"/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Batch processing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Batch + Streaming</a:t>
                      </a:r>
                    </a:p>
                  </a:txBody>
                  <a:tcPr>
                    <a:solidFill>
                      <a:srgbClr val="FFF5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615240"/>
                  </a:ext>
                </a:extLst>
              </a:tr>
              <a:tr h="451556">
                <a:tc>
                  <a:txBody>
                    <a:bodyPr/>
                    <a:lstStyle/>
                    <a:p>
                      <a:r>
                        <a:rPr lang="en-US" sz="1100" b="1" dirty="0" err="1"/>
                        <a:t>Shpejtësia</a:t>
                      </a:r>
                      <a:endParaRPr lang="en-US" sz="1100" b="1" dirty="0"/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000" dirty="0"/>
                        <a:t>Më i ngadaltë (disk I/O)</a:t>
                      </a:r>
                      <a:endParaRPr lang="en-US" sz="1000" dirty="0"/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100x </a:t>
                      </a:r>
                      <a:r>
                        <a:rPr lang="en-US" sz="1000" dirty="0" err="1"/>
                        <a:t>më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i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shpejtë</a:t>
                      </a:r>
                      <a:r>
                        <a:rPr lang="en-US" sz="1000" dirty="0"/>
                        <a:t> (RAM)</a:t>
                      </a:r>
                    </a:p>
                  </a:txBody>
                  <a:tcPr>
                    <a:solidFill>
                      <a:srgbClr val="FFF5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7421693"/>
                  </a:ext>
                </a:extLst>
              </a:tr>
              <a:tr h="451556">
                <a:tc>
                  <a:txBody>
                    <a:bodyPr/>
                    <a:lstStyle/>
                    <a:p>
                      <a:r>
                        <a:rPr lang="pt-BR" sz="1100" b="1" dirty="0"/>
                        <a:t>Ruajtja e të dhënave</a:t>
                      </a:r>
                      <a:endParaRPr lang="en-US" sz="1100" b="1" dirty="0"/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HDFS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HDFS, S3, Cassandra</a:t>
                      </a:r>
                    </a:p>
                  </a:txBody>
                  <a:tcPr>
                    <a:solidFill>
                      <a:srgbClr val="FFF5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3166254"/>
                  </a:ext>
                </a:extLst>
              </a:tr>
              <a:tr h="451556">
                <a:tc>
                  <a:txBody>
                    <a:bodyPr/>
                    <a:lstStyle/>
                    <a:p>
                      <a:r>
                        <a:rPr lang="en-US" sz="1100" b="1" dirty="0"/>
                        <a:t>Fault tolerance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Replication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RDD lineage</a:t>
                      </a:r>
                    </a:p>
                  </a:txBody>
                  <a:tcPr>
                    <a:solidFill>
                      <a:srgbClr val="FFF5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957207"/>
                  </a:ext>
                </a:extLst>
              </a:tr>
              <a:tr h="451556">
                <a:tc>
                  <a:txBody>
                    <a:bodyPr/>
                    <a:lstStyle/>
                    <a:p>
                      <a:r>
                        <a:rPr lang="en-US" sz="1100" b="1" dirty="0" err="1"/>
                        <a:t>Lehtësia</a:t>
                      </a:r>
                      <a:r>
                        <a:rPr lang="en-US" sz="1100" b="1" dirty="0"/>
                        <a:t> e </a:t>
                      </a:r>
                      <a:r>
                        <a:rPr lang="en-US" sz="1100" b="1" dirty="0" err="1"/>
                        <a:t>përdorimit</a:t>
                      </a:r>
                      <a:endParaRPr lang="en-US" sz="1100" b="1" dirty="0"/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Komplekse (Java)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Më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lehtë</a:t>
                      </a:r>
                      <a:r>
                        <a:rPr lang="en-US" sz="1000" dirty="0"/>
                        <a:t> (Python, Scala)</a:t>
                      </a:r>
                    </a:p>
                  </a:txBody>
                  <a:tcPr>
                    <a:solidFill>
                      <a:srgbClr val="FFF5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91749"/>
                  </a:ext>
                </a:extLst>
              </a:tr>
              <a:tr h="451556">
                <a:tc>
                  <a:txBody>
                    <a:bodyPr/>
                    <a:lstStyle/>
                    <a:p>
                      <a:r>
                        <a:rPr lang="en-US" sz="1100" b="1" dirty="0"/>
                        <a:t>Real-time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Jo </a:t>
                      </a:r>
                      <a:r>
                        <a:rPr lang="en-US" sz="1000" dirty="0" err="1"/>
                        <a:t>i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përshtatshëm</a:t>
                      </a:r>
                      <a:endParaRPr lang="en-US" sz="1000" dirty="0"/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Po (Spark Streaming)</a:t>
                      </a:r>
                    </a:p>
                  </a:txBody>
                  <a:tcPr>
                    <a:solidFill>
                      <a:srgbClr val="FFF5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314161"/>
                  </a:ext>
                </a:extLst>
              </a:tr>
              <a:tr h="451556">
                <a:tc>
                  <a:txBody>
                    <a:bodyPr/>
                    <a:lstStyle/>
                    <a:p>
                      <a:r>
                        <a:rPr lang="en-US" sz="1100" b="1" dirty="0" err="1"/>
                        <a:t>Procesim</a:t>
                      </a:r>
                      <a:r>
                        <a:rPr lang="en-US" sz="1100" b="1" dirty="0"/>
                        <a:t> </a:t>
                      </a:r>
                      <a:r>
                        <a:rPr lang="en-US" sz="1100" b="1" dirty="0" err="1"/>
                        <a:t>iterativ</a:t>
                      </a:r>
                      <a:endParaRPr lang="en-US" sz="1100" b="1" dirty="0"/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 </a:t>
                      </a:r>
                      <a:r>
                        <a:rPr lang="en-US" sz="1000" dirty="0" err="1"/>
                        <a:t>ngadaltë</a:t>
                      </a:r>
                      <a:endParaRPr lang="en-US" sz="1000" dirty="0"/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 </a:t>
                      </a:r>
                      <a:r>
                        <a:rPr lang="en-US" sz="1000" dirty="0" err="1"/>
                        <a:t>shpejtë</a:t>
                      </a:r>
                      <a:endParaRPr lang="en-US" sz="1000" dirty="0"/>
                    </a:p>
                  </a:txBody>
                  <a:tcPr>
                    <a:solidFill>
                      <a:srgbClr val="FFF5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127787"/>
                  </a:ext>
                </a:extLst>
              </a:tr>
              <a:tr h="451556">
                <a:tc>
                  <a:txBody>
                    <a:bodyPr/>
                    <a:lstStyle/>
                    <a:p>
                      <a:r>
                        <a:rPr lang="en-US" sz="1100" b="1" dirty="0" err="1"/>
                        <a:t>Mbështetja</a:t>
                      </a:r>
                      <a:r>
                        <a:rPr lang="en-US" sz="1100" b="1" dirty="0"/>
                        <a:t> e </a:t>
                      </a:r>
                      <a:r>
                        <a:rPr lang="en-US" sz="1100" b="1" dirty="0" err="1"/>
                        <a:t>gjuhëve</a:t>
                      </a:r>
                      <a:endParaRPr lang="en-US" sz="1100" b="1" dirty="0"/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Java, Python (kufizuar)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Python, Scala, Java, R, SQL</a:t>
                      </a:r>
                      <a:endParaRPr lang="en-US" sz="1000" dirty="0"/>
                    </a:p>
                  </a:txBody>
                  <a:tcPr>
                    <a:solidFill>
                      <a:srgbClr val="FFF5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8630812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FAE39F-A64C-4515-A222-FDF283E2C5F8}"/>
              </a:ext>
            </a:extLst>
          </p:cNvPr>
          <p:cNvSpPr/>
          <p:nvPr/>
        </p:nvSpPr>
        <p:spPr>
          <a:xfrm>
            <a:off x="508000" y="5334000"/>
            <a:ext cx="3937000" cy="1143000"/>
          </a:xfrm>
          <a:prstGeom prst="roundRect">
            <a:avLst/>
          </a:prstGeom>
          <a:solidFill>
            <a:srgbClr val="FFF0DC"/>
          </a:solidFill>
          <a:ln w="38100">
            <a:solidFill>
              <a:srgbClr val="B88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23389D-16F2-4571-BCE9-51EE5558A915}"/>
              </a:ext>
            </a:extLst>
          </p:cNvPr>
          <p:cNvSpPr txBox="1"/>
          <p:nvPr/>
        </p:nvSpPr>
        <p:spPr>
          <a:xfrm>
            <a:off x="698500" y="5435600"/>
            <a:ext cx="3556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dirty="0">
                <a:solidFill>
                  <a:srgbClr val="503C00"/>
                </a:solidFill>
              </a:rPr>
              <a:t>PËRDOR HADOOP KUR:</a:t>
            </a: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sz="1200" dirty="0">
                <a:solidFill>
                  <a:srgbClr val="503C00"/>
                </a:solidFill>
              </a:rPr>
              <a:t>Batch jobs </a:t>
            </a:r>
            <a:r>
              <a:rPr lang="en-US" sz="1200" dirty="0" err="1">
                <a:solidFill>
                  <a:srgbClr val="503C00"/>
                </a:solidFill>
              </a:rPr>
              <a:t>shumë</a:t>
            </a:r>
            <a:r>
              <a:rPr lang="en-US" sz="1200" dirty="0">
                <a:solidFill>
                  <a:srgbClr val="503C00"/>
                </a:solidFill>
              </a:rPr>
              <a:t> </a:t>
            </a:r>
            <a:r>
              <a:rPr lang="en-US" sz="1200" dirty="0" err="1">
                <a:solidFill>
                  <a:srgbClr val="503C00"/>
                </a:solidFill>
              </a:rPr>
              <a:t>të</a:t>
            </a:r>
            <a:r>
              <a:rPr lang="en-US" sz="1200" dirty="0">
                <a:solidFill>
                  <a:srgbClr val="503C00"/>
                </a:solidFill>
              </a:rPr>
              <a:t> </a:t>
            </a:r>
            <a:r>
              <a:rPr lang="en-US" sz="1200" dirty="0" err="1">
                <a:solidFill>
                  <a:srgbClr val="503C00"/>
                </a:solidFill>
              </a:rPr>
              <a:t>mëdha</a:t>
            </a:r>
            <a:endParaRPr lang="en-US" sz="1200" dirty="0">
              <a:solidFill>
                <a:srgbClr val="503C00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sz="1200" dirty="0" err="1">
                <a:solidFill>
                  <a:srgbClr val="503C00"/>
                </a:solidFill>
              </a:rPr>
              <a:t>Kufizime</a:t>
            </a:r>
            <a:r>
              <a:rPr lang="en-US" sz="1200" dirty="0">
                <a:solidFill>
                  <a:srgbClr val="503C00"/>
                </a:solidFill>
              </a:rPr>
              <a:t> </a:t>
            </a:r>
            <a:r>
              <a:rPr lang="en-US" sz="1200" dirty="0" err="1">
                <a:solidFill>
                  <a:srgbClr val="503C00"/>
                </a:solidFill>
              </a:rPr>
              <a:t>buxhetore</a:t>
            </a:r>
            <a:endParaRPr lang="en-US" sz="1200" dirty="0">
              <a:solidFill>
                <a:srgbClr val="503C00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sz="1200" dirty="0">
                <a:solidFill>
                  <a:srgbClr val="503C00"/>
                </a:solidFill>
              </a:rPr>
              <a:t>Ambient </a:t>
            </a:r>
            <a:r>
              <a:rPr lang="en-US" sz="1200" dirty="0" err="1">
                <a:solidFill>
                  <a:srgbClr val="503C00"/>
                </a:solidFill>
              </a:rPr>
              <a:t>i</a:t>
            </a:r>
            <a:r>
              <a:rPr lang="en-US" sz="1200" dirty="0">
                <a:solidFill>
                  <a:srgbClr val="503C00"/>
                </a:solidFill>
              </a:rPr>
              <a:t> </a:t>
            </a:r>
            <a:r>
              <a:rPr lang="en-US" sz="1200" dirty="0" err="1">
                <a:solidFill>
                  <a:srgbClr val="503C00"/>
                </a:solidFill>
              </a:rPr>
              <a:t>pjekur</a:t>
            </a:r>
            <a:r>
              <a:rPr lang="en-US" sz="1200" dirty="0">
                <a:solidFill>
                  <a:srgbClr val="503C00"/>
                </a:solidFill>
              </a:rPr>
              <a:t> </a:t>
            </a:r>
            <a:r>
              <a:rPr lang="en-US" sz="1200" dirty="0" err="1">
                <a:solidFill>
                  <a:srgbClr val="503C00"/>
                </a:solidFill>
              </a:rPr>
              <a:t>ekzistues</a:t>
            </a:r>
            <a:endParaRPr lang="en-US" sz="1200" dirty="0">
              <a:solidFill>
                <a:srgbClr val="503C00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sz="1200" dirty="0" err="1">
                <a:solidFill>
                  <a:srgbClr val="503C00"/>
                </a:solidFill>
              </a:rPr>
              <a:t>Lexo-shkruaj</a:t>
            </a:r>
            <a:r>
              <a:rPr lang="en-US" sz="1200" dirty="0">
                <a:solidFill>
                  <a:srgbClr val="503C00"/>
                </a:solidFill>
              </a:rPr>
              <a:t> </a:t>
            </a:r>
            <a:r>
              <a:rPr lang="en-US" sz="1200" dirty="0" err="1">
                <a:solidFill>
                  <a:srgbClr val="503C00"/>
                </a:solidFill>
              </a:rPr>
              <a:t>të</a:t>
            </a:r>
            <a:r>
              <a:rPr lang="en-US" sz="1200" dirty="0">
                <a:solidFill>
                  <a:srgbClr val="503C00"/>
                </a:solidFill>
              </a:rPr>
              <a:t> </a:t>
            </a:r>
            <a:r>
              <a:rPr lang="en-US" sz="1200" dirty="0" err="1">
                <a:solidFill>
                  <a:srgbClr val="503C00"/>
                </a:solidFill>
              </a:rPr>
              <a:t>thjeshtë</a:t>
            </a:r>
            <a:endParaRPr lang="en-US" sz="1200" dirty="0">
              <a:solidFill>
                <a:srgbClr val="503C00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0B5C39C-8CEC-4957-9A6B-F21B2DAF6C26}"/>
              </a:ext>
            </a:extLst>
          </p:cNvPr>
          <p:cNvSpPr/>
          <p:nvPr/>
        </p:nvSpPr>
        <p:spPr>
          <a:xfrm>
            <a:off x="4699000" y="5334000"/>
            <a:ext cx="3937000" cy="1143000"/>
          </a:xfrm>
          <a:prstGeom prst="roundRect">
            <a:avLst/>
          </a:prstGeom>
          <a:solidFill>
            <a:srgbClr val="FFF5E6"/>
          </a:solidFill>
          <a:ln w="38100">
            <a:solidFill>
              <a:srgbClr val="FF8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D90929-46DC-4455-9896-84B52EFE98AE}"/>
              </a:ext>
            </a:extLst>
          </p:cNvPr>
          <p:cNvSpPr txBox="1"/>
          <p:nvPr/>
        </p:nvSpPr>
        <p:spPr>
          <a:xfrm>
            <a:off x="4889500" y="5435600"/>
            <a:ext cx="3556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dirty="0">
                <a:solidFill>
                  <a:srgbClr val="783C00"/>
                </a:solidFill>
              </a:rPr>
              <a:t>PËRDOR SPARK KUR:</a:t>
            </a:r>
          </a:p>
          <a:p>
            <a:pPr marL="228600" indent="-228600">
              <a:buFont typeface="Wingdings" panose="05000000000000000000" pitchFamily="2" charset="2"/>
              <a:buChar char="v"/>
            </a:pPr>
            <a:r>
              <a:rPr lang="en-US" sz="1200" dirty="0" err="1">
                <a:solidFill>
                  <a:srgbClr val="783C00"/>
                </a:solidFill>
              </a:rPr>
              <a:t>Algoritme</a:t>
            </a:r>
            <a:r>
              <a:rPr lang="en-US" sz="1200" dirty="0">
                <a:solidFill>
                  <a:srgbClr val="783C00"/>
                </a:solidFill>
              </a:rPr>
              <a:t> iterative (ML)</a:t>
            </a:r>
          </a:p>
          <a:p>
            <a:pPr marL="228600" indent="-228600">
              <a:buFont typeface="Wingdings" panose="05000000000000000000" pitchFamily="2" charset="2"/>
              <a:buChar char="v"/>
            </a:pPr>
            <a:r>
              <a:rPr lang="en-US" sz="1200" dirty="0" err="1">
                <a:solidFill>
                  <a:srgbClr val="783C00"/>
                </a:solidFill>
              </a:rPr>
              <a:t>Procesim</a:t>
            </a:r>
            <a:r>
              <a:rPr lang="en-US" sz="1200" dirty="0">
                <a:solidFill>
                  <a:srgbClr val="783C00"/>
                </a:solidFill>
              </a:rPr>
              <a:t> </a:t>
            </a:r>
            <a:r>
              <a:rPr lang="en-US" sz="1200" dirty="0" err="1">
                <a:solidFill>
                  <a:srgbClr val="783C00"/>
                </a:solidFill>
              </a:rPr>
              <a:t>në</a:t>
            </a:r>
            <a:r>
              <a:rPr lang="en-US" sz="1200" dirty="0">
                <a:solidFill>
                  <a:srgbClr val="783C00"/>
                </a:solidFill>
              </a:rPr>
              <a:t> </a:t>
            </a:r>
            <a:r>
              <a:rPr lang="en-US" sz="1200" dirty="0" err="1">
                <a:solidFill>
                  <a:srgbClr val="783C00"/>
                </a:solidFill>
              </a:rPr>
              <a:t>kohë</a:t>
            </a:r>
            <a:r>
              <a:rPr lang="en-US" sz="1200" dirty="0">
                <a:solidFill>
                  <a:srgbClr val="783C00"/>
                </a:solidFill>
              </a:rPr>
              <a:t> </a:t>
            </a:r>
            <a:r>
              <a:rPr lang="en-US" sz="1200" dirty="0" err="1">
                <a:solidFill>
                  <a:srgbClr val="783C00"/>
                </a:solidFill>
              </a:rPr>
              <a:t>reale</a:t>
            </a:r>
            <a:endParaRPr lang="en-US" sz="1200" dirty="0">
              <a:solidFill>
                <a:srgbClr val="783C00"/>
              </a:solidFill>
            </a:endParaRPr>
          </a:p>
          <a:p>
            <a:pPr marL="228600" indent="-228600">
              <a:buFont typeface="Wingdings" panose="05000000000000000000" pitchFamily="2" charset="2"/>
              <a:buChar char="v"/>
            </a:pPr>
            <a:r>
              <a:rPr lang="en-US" sz="1200" dirty="0">
                <a:solidFill>
                  <a:srgbClr val="783C00"/>
                </a:solidFill>
              </a:rPr>
              <a:t>Pipeline </a:t>
            </a:r>
            <a:r>
              <a:rPr lang="en-US" sz="1200" dirty="0" err="1">
                <a:solidFill>
                  <a:srgbClr val="783C00"/>
                </a:solidFill>
              </a:rPr>
              <a:t>komplekse</a:t>
            </a:r>
            <a:endParaRPr lang="en-US" sz="1200" dirty="0">
              <a:solidFill>
                <a:srgbClr val="783C00"/>
              </a:solidFill>
            </a:endParaRPr>
          </a:p>
          <a:p>
            <a:pPr marL="228600" indent="-228600">
              <a:buFont typeface="Wingdings" panose="05000000000000000000" pitchFamily="2" charset="2"/>
              <a:buChar char="v"/>
            </a:pPr>
            <a:r>
              <a:rPr lang="en-US" sz="1200" dirty="0" err="1">
                <a:solidFill>
                  <a:srgbClr val="783C00"/>
                </a:solidFill>
              </a:rPr>
              <a:t>Nevojitet</a:t>
            </a:r>
            <a:r>
              <a:rPr lang="en-US" sz="1200" dirty="0">
                <a:solidFill>
                  <a:srgbClr val="783C00"/>
                </a:solidFill>
              </a:rPr>
              <a:t> </a:t>
            </a:r>
            <a:r>
              <a:rPr lang="en-US" sz="1200" dirty="0" err="1">
                <a:solidFill>
                  <a:srgbClr val="783C00"/>
                </a:solidFill>
              </a:rPr>
              <a:t>shpejtësi</a:t>
            </a:r>
            <a:endParaRPr lang="en-US" sz="1200" dirty="0">
              <a:solidFill>
                <a:srgbClr val="783C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62698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2A64F-45C5-4A7C-8AA6-54D83D3AF269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00808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5271E6-28D0-4516-930D-E95B1BF531D2}"/>
              </a:ext>
            </a:extLst>
          </p:cNvPr>
          <p:cNvSpPr txBox="1"/>
          <p:nvPr/>
        </p:nvSpPr>
        <p:spPr>
          <a:xfrm>
            <a:off x="254000" y="152400"/>
            <a:ext cx="863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nn-NO" sz="2800" b="1" dirty="0">
                <a:solidFill>
                  <a:srgbClr val="FFFFFF"/>
                </a:solidFill>
              </a:rPr>
              <a:t>ARKITEKTURA E PIPELINE TË BIG DATA (Kap. 4.5)</a:t>
            </a:r>
            <a:endParaRPr lang="en-US" sz="2800" b="1" dirty="0">
              <a:solidFill>
                <a:srgbClr val="FFFFFF"/>
              </a:solidFill>
            </a:endParaRP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3A162CDC-B3A6-4125-9520-8DC0F5544E4F}"/>
              </a:ext>
            </a:extLst>
          </p:cNvPr>
          <p:cNvSpPr/>
          <p:nvPr/>
        </p:nvSpPr>
        <p:spPr>
          <a:xfrm>
            <a:off x="691561" y="1364792"/>
            <a:ext cx="3556000" cy="762000"/>
          </a:xfrm>
          <a:prstGeom prst="flowChartProcess">
            <a:avLst/>
          </a:prstGeom>
          <a:solidFill>
            <a:srgbClr val="FFE4B5"/>
          </a:solidFill>
          <a:ln w="25400">
            <a:solidFill>
              <a:srgbClr val="FF8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2E8C9B-DFA7-4EBA-B32C-3E06C9D821DB}"/>
              </a:ext>
            </a:extLst>
          </p:cNvPr>
          <p:cNvSpPr txBox="1"/>
          <p:nvPr/>
        </p:nvSpPr>
        <p:spPr>
          <a:xfrm>
            <a:off x="818561" y="1466392"/>
            <a:ext cx="3302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1300" b="1" dirty="0"/>
              <a:t>1. MARRJA E TË DHËNAVE</a:t>
            </a:r>
          </a:p>
          <a:p>
            <a:pPr algn="ctr"/>
            <a:r>
              <a:rPr lang="en-US" sz="1300" b="1" dirty="0"/>
              <a:t>Batch: HDFS, S3 | Streaming: Kafka, Kinesis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4A3941B-837A-4DE9-BD54-E9410B95EF22}"/>
              </a:ext>
            </a:extLst>
          </p:cNvPr>
          <p:cNvCxnSpPr>
            <a:cxnSpLocks/>
          </p:cNvCxnSpPr>
          <p:nvPr/>
        </p:nvCxnSpPr>
        <p:spPr>
          <a:xfrm>
            <a:off x="4247561" y="1745792"/>
            <a:ext cx="508000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A02CEC3A-0720-404C-9E56-9D59BB94B847}"/>
              </a:ext>
            </a:extLst>
          </p:cNvPr>
          <p:cNvSpPr/>
          <p:nvPr/>
        </p:nvSpPr>
        <p:spPr>
          <a:xfrm>
            <a:off x="4755561" y="1364792"/>
            <a:ext cx="3556000" cy="762000"/>
          </a:xfrm>
          <a:prstGeom prst="flowChartProcess">
            <a:avLst/>
          </a:prstGeom>
          <a:solidFill>
            <a:srgbClr val="FFDAB9"/>
          </a:solidFill>
          <a:ln w="25400">
            <a:solidFill>
              <a:srgbClr val="FF63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9E1A3B-F881-48B9-9B9A-6E64E0CCCE44}"/>
              </a:ext>
            </a:extLst>
          </p:cNvPr>
          <p:cNvSpPr txBox="1"/>
          <p:nvPr/>
        </p:nvSpPr>
        <p:spPr>
          <a:xfrm>
            <a:off x="4882561" y="1466392"/>
            <a:ext cx="3302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1300" b="1" dirty="0"/>
              <a:t>2. RUAJTJA</a:t>
            </a:r>
          </a:p>
          <a:p>
            <a:pPr algn="ctr"/>
            <a:r>
              <a:rPr lang="en-US" sz="1300" b="1" dirty="0"/>
              <a:t>Files: HDFS, S3 | NoSQL: HBase, Cassandra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6D19D6D3-34DA-4B97-9116-027B622F195D}"/>
              </a:ext>
            </a:extLst>
          </p:cNvPr>
          <p:cNvSpPr/>
          <p:nvPr/>
        </p:nvSpPr>
        <p:spPr>
          <a:xfrm>
            <a:off x="691561" y="2380792"/>
            <a:ext cx="7620000" cy="889000"/>
          </a:xfrm>
          <a:prstGeom prst="flowChartProcess">
            <a:avLst/>
          </a:prstGeom>
          <a:solidFill>
            <a:srgbClr val="90EE90"/>
          </a:solidFill>
          <a:ln w="38100">
            <a:solidFill>
              <a:srgbClr val="00B050"/>
            </a:solidFill>
          </a:ln>
          <a:effectLst>
            <a:outerShdw blurRad="50800" dist="38100" dir="2700000" algn="tl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DFF60F-3570-4DC4-9235-1DB4814C906D}"/>
              </a:ext>
            </a:extLst>
          </p:cNvPr>
          <p:cNvSpPr txBox="1"/>
          <p:nvPr/>
        </p:nvSpPr>
        <p:spPr>
          <a:xfrm>
            <a:off x="945561" y="2533192"/>
            <a:ext cx="7112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1500" b="1" dirty="0">
                <a:solidFill>
                  <a:srgbClr val="006400"/>
                </a:solidFill>
              </a:rPr>
              <a:t>3. PROCESIMI (MAPREDUCE KËTU)</a:t>
            </a:r>
          </a:p>
          <a:p>
            <a:pPr algn="ctr"/>
            <a:r>
              <a:rPr lang="en-US" sz="1500" b="1" dirty="0">
                <a:solidFill>
                  <a:srgbClr val="006400"/>
                </a:solidFill>
              </a:rPr>
              <a:t>Batch: Hadoop MapReduce, Spark | Stream: Spark streaming, </a:t>
            </a:r>
            <a:r>
              <a:rPr lang="en-US" sz="1500" b="1" dirty="0" err="1">
                <a:solidFill>
                  <a:srgbClr val="006400"/>
                </a:solidFill>
              </a:rPr>
              <a:t>Flink</a:t>
            </a:r>
            <a:endParaRPr lang="en-US" sz="1500" b="1" dirty="0">
              <a:solidFill>
                <a:srgbClr val="006400"/>
              </a:solidFill>
            </a:endParaRPr>
          </a:p>
        </p:txBody>
      </p:sp>
      <p:sp>
        <p:nvSpPr>
          <p:cNvPr id="11" name="Flowchart: Process 10">
            <a:extLst>
              <a:ext uri="{FF2B5EF4-FFF2-40B4-BE49-F238E27FC236}">
                <a16:creationId xmlns:a16="http://schemas.microsoft.com/office/drawing/2014/main" id="{ACEAE0AF-0F95-41B6-84AD-18FDFB76CF6E}"/>
              </a:ext>
            </a:extLst>
          </p:cNvPr>
          <p:cNvSpPr/>
          <p:nvPr/>
        </p:nvSpPr>
        <p:spPr>
          <a:xfrm>
            <a:off x="691561" y="3523792"/>
            <a:ext cx="3556000" cy="762000"/>
          </a:xfrm>
          <a:prstGeom prst="flowChartProcess">
            <a:avLst/>
          </a:prstGeom>
          <a:solidFill>
            <a:srgbClr val="ADD8E6"/>
          </a:solidFill>
          <a:ln w="25400">
            <a:solidFill>
              <a:srgbClr val="006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913784-5216-403A-986F-EA7C68B0E530}"/>
              </a:ext>
            </a:extLst>
          </p:cNvPr>
          <p:cNvSpPr txBox="1"/>
          <p:nvPr/>
        </p:nvSpPr>
        <p:spPr>
          <a:xfrm>
            <a:off x="818561" y="3625392"/>
            <a:ext cx="3302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1300" b="1" dirty="0"/>
              <a:t>4. ANALIZA</a:t>
            </a:r>
          </a:p>
          <a:p>
            <a:pPr algn="ctr"/>
            <a:r>
              <a:rPr lang="en-US" sz="1300" b="1" dirty="0"/>
              <a:t>ML: Spark </a:t>
            </a:r>
            <a:r>
              <a:rPr lang="en-US" sz="1300" b="1" dirty="0" err="1"/>
              <a:t>MLlib</a:t>
            </a:r>
            <a:r>
              <a:rPr lang="en-US" sz="1300" b="1" dirty="0"/>
              <a:t> | SQL: Hive, Presto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4E9DE9-0F27-46A0-B307-CEB08ADCFE9B}"/>
              </a:ext>
            </a:extLst>
          </p:cNvPr>
          <p:cNvCxnSpPr>
            <a:cxnSpLocks/>
          </p:cNvCxnSpPr>
          <p:nvPr/>
        </p:nvCxnSpPr>
        <p:spPr>
          <a:xfrm>
            <a:off x="4247561" y="3904792"/>
            <a:ext cx="508000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lowchart: Process 13">
            <a:extLst>
              <a:ext uri="{FF2B5EF4-FFF2-40B4-BE49-F238E27FC236}">
                <a16:creationId xmlns:a16="http://schemas.microsoft.com/office/drawing/2014/main" id="{3C40219C-BA8C-4ABD-B80B-E745166CF7C2}"/>
              </a:ext>
            </a:extLst>
          </p:cNvPr>
          <p:cNvSpPr/>
          <p:nvPr/>
        </p:nvSpPr>
        <p:spPr>
          <a:xfrm>
            <a:off x="4755561" y="3523792"/>
            <a:ext cx="3556000" cy="762000"/>
          </a:xfrm>
          <a:prstGeom prst="flowChartProcess">
            <a:avLst/>
          </a:prstGeom>
          <a:solidFill>
            <a:schemeClr val="accent3">
              <a:lumMod val="60000"/>
              <a:lumOff val="40000"/>
            </a:schemeClr>
          </a:solidFill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1BF26C-B028-45AF-A19E-994195579D20}"/>
              </a:ext>
            </a:extLst>
          </p:cNvPr>
          <p:cNvSpPr txBox="1"/>
          <p:nvPr/>
        </p:nvSpPr>
        <p:spPr>
          <a:xfrm>
            <a:off x="4882561" y="3625392"/>
            <a:ext cx="3302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1300" b="1" dirty="0"/>
              <a:t>5. SHËRBIMI</a:t>
            </a:r>
          </a:p>
          <a:p>
            <a:pPr algn="ctr"/>
            <a:r>
              <a:rPr lang="en-US" sz="1300" b="1" dirty="0"/>
              <a:t>APIs, Dashboards, </a:t>
            </a:r>
            <a:r>
              <a:rPr lang="en-US" sz="1300" b="1" dirty="0" err="1"/>
              <a:t>Aplikacione</a:t>
            </a:r>
            <a:endParaRPr lang="en-US" sz="1300" b="1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1AEF47B-2A34-4CC7-B383-ED5AB4250F1C}"/>
              </a:ext>
            </a:extLst>
          </p:cNvPr>
          <p:cNvCxnSpPr>
            <a:cxnSpLocks/>
          </p:cNvCxnSpPr>
          <p:nvPr/>
        </p:nvCxnSpPr>
        <p:spPr>
          <a:xfrm>
            <a:off x="4501561" y="2126792"/>
            <a:ext cx="0" cy="25400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89F594-1D0B-43E7-8AF7-1696739E2BA8}"/>
              </a:ext>
            </a:extLst>
          </p:cNvPr>
          <p:cNvCxnSpPr>
            <a:cxnSpLocks/>
          </p:cNvCxnSpPr>
          <p:nvPr/>
        </p:nvCxnSpPr>
        <p:spPr>
          <a:xfrm>
            <a:off x="4501561" y="3269792"/>
            <a:ext cx="0" cy="25400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4633E0-5C2E-4E14-8862-C3300AB73BBE}"/>
              </a:ext>
            </a:extLst>
          </p:cNvPr>
          <p:cNvSpPr/>
          <p:nvPr/>
        </p:nvSpPr>
        <p:spPr>
          <a:xfrm>
            <a:off x="508000" y="5083928"/>
            <a:ext cx="8128000" cy="1016000"/>
          </a:xfrm>
          <a:prstGeom prst="roundRect">
            <a:avLst/>
          </a:prstGeom>
          <a:solidFill>
            <a:srgbClr val="FFFFE0"/>
          </a:solidFill>
          <a:ln w="38100">
            <a:solidFill>
              <a:srgbClr val="DAA5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0F5B9D-332B-49BA-8D1E-509F49B378AA}"/>
              </a:ext>
            </a:extLst>
          </p:cNvPr>
          <p:cNvSpPr txBox="1"/>
          <p:nvPr/>
        </p:nvSpPr>
        <p:spPr>
          <a:xfrm>
            <a:off x="762000" y="5210928"/>
            <a:ext cx="7620000" cy="89255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 dirty="0">
                <a:solidFill>
                  <a:srgbClr val="503C00"/>
                </a:solidFill>
              </a:rPr>
              <a:t>5 V-</a:t>
            </a:r>
            <a:r>
              <a:rPr lang="en-US" sz="1300" b="1" dirty="0" err="1">
                <a:solidFill>
                  <a:srgbClr val="503C00"/>
                </a:solidFill>
              </a:rPr>
              <a:t>të</a:t>
            </a:r>
            <a:r>
              <a:rPr lang="en-US" sz="1300" b="1" dirty="0">
                <a:solidFill>
                  <a:srgbClr val="503C00"/>
                </a:solidFill>
              </a:rPr>
              <a:t> e BIG DATA:</a:t>
            </a:r>
          </a:p>
          <a:p>
            <a:r>
              <a:rPr lang="en-US" sz="1300" b="1" dirty="0">
                <a:solidFill>
                  <a:srgbClr val="503C00"/>
                </a:solidFill>
              </a:rPr>
              <a:t>VOLUME (</a:t>
            </a:r>
            <a:r>
              <a:rPr lang="en-US" sz="1300" b="1" dirty="0" err="1">
                <a:solidFill>
                  <a:srgbClr val="503C00"/>
                </a:solidFill>
              </a:rPr>
              <a:t>Vëllim</a:t>
            </a:r>
            <a:r>
              <a:rPr lang="en-US" sz="1300" b="1" dirty="0">
                <a:solidFill>
                  <a:srgbClr val="503C00"/>
                </a:solidFill>
              </a:rPr>
              <a:t>) - </a:t>
            </a:r>
            <a:r>
              <a:rPr lang="en-US" sz="1300" b="1" dirty="0" err="1">
                <a:solidFill>
                  <a:srgbClr val="503C00"/>
                </a:solidFill>
              </a:rPr>
              <a:t>Petabajt</a:t>
            </a:r>
            <a:r>
              <a:rPr lang="en-US" sz="1300" b="1" dirty="0">
                <a:solidFill>
                  <a:srgbClr val="503C00"/>
                </a:solidFill>
              </a:rPr>
              <a:t> | VELOCITY (</a:t>
            </a:r>
            <a:r>
              <a:rPr lang="en-US" sz="1300" b="1" dirty="0" err="1">
                <a:solidFill>
                  <a:srgbClr val="503C00"/>
                </a:solidFill>
              </a:rPr>
              <a:t>Shpejtësi</a:t>
            </a:r>
            <a:r>
              <a:rPr lang="en-US" sz="1300" b="1" dirty="0">
                <a:solidFill>
                  <a:srgbClr val="503C00"/>
                </a:solidFill>
              </a:rPr>
              <a:t>) - Real-time |</a:t>
            </a:r>
          </a:p>
          <a:p>
            <a:r>
              <a:rPr lang="en-US" sz="1300" b="1" dirty="0">
                <a:solidFill>
                  <a:srgbClr val="503C00"/>
                </a:solidFill>
              </a:rPr>
              <a:t>VARIETY (</a:t>
            </a:r>
            <a:r>
              <a:rPr lang="en-US" sz="1300" b="1" dirty="0" err="1">
                <a:solidFill>
                  <a:srgbClr val="503C00"/>
                </a:solidFill>
              </a:rPr>
              <a:t>Llojshmëri</a:t>
            </a:r>
            <a:r>
              <a:rPr lang="en-US" sz="1300" b="1" dirty="0">
                <a:solidFill>
                  <a:srgbClr val="503C00"/>
                </a:solidFill>
              </a:rPr>
              <a:t>) - </a:t>
            </a:r>
            <a:r>
              <a:rPr lang="en-US" sz="1300" b="1" dirty="0" err="1">
                <a:solidFill>
                  <a:srgbClr val="503C00"/>
                </a:solidFill>
              </a:rPr>
              <a:t>Të</a:t>
            </a:r>
            <a:r>
              <a:rPr lang="en-US" sz="1300" b="1" dirty="0">
                <a:solidFill>
                  <a:srgbClr val="503C00"/>
                </a:solidFill>
              </a:rPr>
              <a:t> </a:t>
            </a:r>
            <a:r>
              <a:rPr lang="en-US" sz="1300" b="1" dirty="0" err="1">
                <a:solidFill>
                  <a:srgbClr val="503C00"/>
                </a:solidFill>
              </a:rPr>
              <a:t>strukturuara</a:t>
            </a:r>
            <a:r>
              <a:rPr lang="en-US" sz="1300" b="1" dirty="0">
                <a:solidFill>
                  <a:srgbClr val="503C00"/>
                </a:solidFill>
              </a:rPr>
              <a:t>/Jo | VERACITY (</a:t>
            </a:r>
            <a:r>
              <a:rPr lang="en-US" sz="1300" b="1" dirty="0" err="1">
                <a:solidFill>
                  <a:srgbClr val="503C00"/>
                </a:solidFill>
              </a:rPr>
              <a:t>Besueshmëria</a:t>
            </a:r>
            <a:r>
              <a:rPr lang="en-US" sz="1300" b="1" dirty="0">
                <a:solidFill>
                  <a:srgbClr val="503C00"/>
                </a:solidFill>
              </a:rPr>
              <a:t>) - </a:t>
            </a:r>
            <a:r>
              <a:rPr lang="en-US" sz="1300" b="1" dirty="0" err="1">
                <a:solidFill>
                  <a:srgbClr val="503C00"/>
                </a:solidFill>
              </a:rPr>
              <a:t>Cilësia</a:t>
            </a:r>
            <a:r>
              <a:rPr lang="en-US" sz="1300" b="1" dirty="0">
                <a:solidFill>
                  <a:srgbClr val="503C00"/>
                </a:solidFill>
              </a:rPr>
              <a:t> |</a:t>
            </a:r>
          </a:p>
          <a:p>
            <a:r>
              <a:rPr lang="en-US" sz="1300" b="1" dirty="0">
                <a:solidFill>
                  <a:srgbClr val="503C00"/>
                </a:solidFill>
              </a:rPr>
              <a:t>VALUE (</a:t>
            </a:r>
            <a:r>
              <a:rPr lang="en-US" sz="1300" b="1" dirty="0" err="1">
                <a:solidFill>
                  <a:srgbClr val="503C00"/>
                </a:solidFill>
              </a:rPr>
              <a:t>Vlera</a:t>
            </a:r>
            <a:r>
              <a:rPr lang="en-US" sz="1300" b="1" dirty="0">
                <a:solidFill>
                  <a:srgbClr val="503C00"/>
                </a:solidFill>
              </a:rPr>
              <a:t>) - Business insights</a:t>
            </a:r>
          </a:p>
        </p:txBody>
      </p:sp>
    </p:spTree>
    <p:extLst>
      <p:ext uri="{BB962C8B-B14F-4D97-AF65-F5344CB8AC3E}">
        <p14:creationId xmlns:p14="http://schemas.microsoft.com/office/powerpoint/2010/main" val="10367423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D2122BC-F7C0-4B52-BB88-842120BA0492}"/>
              </a:ext>
            </a:extLst>
          </p:cNvPr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19197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B2DD9F-AC13-497F-9313-17548D537A2E}"/>
              </a:ext>
            </a:extLst>
          </p:cNvPr>
          <p:cNvSpPr txBox="1"/>
          <p:nvPr/>
        </p:nvSpPr>
        <p:spPr>
          <a:xfrm>
            <a:off x="254000" y="152400"/>
            <a:ext cx="863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 dirty="0">
                <a:solidFill>
                  <a:srgbClr val="FFD700"/>
                </a:solidFill>
              </a:rPr>
              <a:t>IMPLEMENTIMI ME PYTHON (</a:t>
            </a:r>
            <a:r>
              <a:rPr lang="en-US" sz="2800" b="1" dirty="0" err="1">
                <a:solidFill>
                  <a:srgbClr val="FFD700"/>
                </a:solidFill>
              </a:rPr>
              <a:t>Kap</a:t>
            </a:r>
            <a:r>
              <a:rPr lang="en-US" sz="2800" b="1" dirty="0">
                <a:solidFill>
                  <a:srgbClr val="FFD700"/>
                </a:solidFill>
              </a:rPr>
              <a:t>. 5.3)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5AF5DB6-EC08-460F-AFA1-8F8697F1F99B}"/>
              </a:ext>
            </a:extLst>
          </p:cNvPr>
          <p:cNvSpPr/>
          <p:nvPr/>
        </p:nvSpPr>
        <p:spPr>
          <a:xfrm>
            <a:off x="254000" y="828021"/>
            <a:ext cx="8636000" cy="2976482"/>
          </a:xfrm>
          <a:prstGeom prst="roundRect">
            <a:avLst/>
          </a:prstGeom>
          <a:solidFill>
            <a:srgbClr val="1E1E1E"/>
          </a:solidFill>
          <a:ln w="25400">
            <a:solidFill>
              <a:srgbClr val="008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FE610B-F693-44A1-A692-473F8108B62A}"/>
              </a:ext>
            </a:extLst>
          </p:cNvPr>
          <p:cNvSpPr txBox="1"/>
          <p:nvPr/>
        </p:nvSpPr>
        <p:spPr>
          <a:xfrm>
            <a:off x="444500" y="822524"/>
            <a:ext cx="8255000" cy="30469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from multiprocessing import Pool</a:t>
            </a:r>
          </a:p>
          <a:p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from collections import 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defaultdict</a:t>
            </a:r>
            <a:endParaRPr lang="en-US" sz="1200" dirty="0">
              <a:solidFill>
                <a:srgbClr val="DCFFDC"/>
              </a:solidFill>
              <a:latin typeface="Consolas" panose="020B0609020204030204" pitchFamily="49" charset="0"/>
            </a:endParaRPr>
          </a:p>
          <a:p>
            <a:endParaRPr lang="en-US" sz="1200" dirty="0">
              <a:solidFill>
                <a:srgbClr val="DCFFDC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# 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Funksioni</a:t>
            </a:r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 Map: 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Përsërit</a:t>
            </a:r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Ã§do</a:t>
            </a:r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 element</a:t>
            </a:r>
          </a:p>
          <a:p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def mapper(line):</a:t>
            </a:r>
          </a:p>
          <a:p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    for word in 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line.split</a:t>
            </a:r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():</a:t>
            </a:r>
          </a:p>
          <a:p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        yield (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word.lower</a:t>
            </a:r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(), 1)</a:t>
            </a:r>
          </a:p>
          <a:p>
            <a:endParaRPr lang="en-US" sz="1200" dirty="0">
              <a:solidFill>
                <a:srgbClr val="DCFFDC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# 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Funksioni</a:t>
            </a:r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 Reduce: 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Grupimi</a:t>
            </a:r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dhe</a:t>
            </a:r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agreguimi</a:t>
            </a:r>
            <a:endParaRPr lang="en-US" sz="1200" dirty="0">
              <a:solidFill>
                <a:srgbClr val="DCFFDC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def reducer(key, values):</a:t>
            </a:r>
          </a:p>
          <a:p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    return (key, sum(values))</a:t>
            </a:r>
          </a:p>
          <a:p>
            <a:endParaRPr lang="en-US" sz="1200" dirty="0">
              <a:solidFill>
                <a:srgbClr val="DCFFDC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# MapReduce Engine (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paralelëi</a:t>
            </a:r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 me Pool)</a:t>
            </a:r>
          </a:p>
          <a:p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def 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mapreduce</a:t>
            </a:r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(inputs, mapper, reducer, 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num_workers</a:t>
            </a:r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=4):</a:t>
            </a:r>
          </a:p>
          <a:p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    with Pool(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num_workers</a:t>
            </a:r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) as pool:</a:t>
            </a:r>
          </a:p>
          <a:p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map_results</a:t>
            </a:r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DCFFDC"/>
                </a:solidFill>
                <a:latin typeface="Consolas" panose="020B0609020204030204" pitchFamily="49" charset="0"/>
              </a:rPr>
              <a:t>pool.map</a:t>
            </a:r>
            <a:r>
              <a:rPr lang="en-US" sz="1200" dirty="0">
                <a:solidFill>
                  <a:srgbClr val="DCFFDC"/>
                </a:solidFill>
                <a:latin typeface="Consolas" panose="020B0609020204030204" pitchFamily="49" charset="0"/>
              </a:rPr>
              <a:t>(mapper, inputs)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7FD9120-A421-4CEE-9F6A-67C94C6C5795}"/>
              </a:ext>
            </a:extLst>
          </p:cNvPr>
          <p:cNvSpPr/>
          <p:nvPr/>
        </p:nvSpPr>
        <p:spPr>
          <a:xfrm>
            <a:off x="254000" y="3930036"/>
            <a:ext cx="8636000" cy="1403964"/>
          </a:xfrm>
          <a:prstGeom prst="roundRect">
            <a:avLst/>
          </a:prstGeom>
          <a:solidFill>
            <a:srgbClr val="1E1E1E"/>
          </a:solidFill>
          <a:ln w="25400">
            <a:solidFill>
              <a:srgbClr val="FF8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0368B0-D5C4-402D-BC5B-336A166AB6AA}"/>
              </a:ext>
            </a:extLst>
          </p:cNvPr>
          <p:cNvSpPr txBox="1"/>
          <p:nvPr/>
        </p:nvSpPr>
        <p:spPr>
          <a:xfrm>
            <a:off x="444500" y="3995003"/>
            <a:ext cx="8255000" cy="120032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# PËRDORIMI: </a:t>
            </a:r>
            <a:r>
              <a:rPr lang="en-US" sz="1200" dirty="0" err="1">
                <a:solidFill>
                  <a:srgbClr val="FFDCB4"/>
                </a:solidFill>
                <a:latin typeface="Consolas" panose="020B0609020204030204" pitchFamily="49" charset="0"/>
              </a:rPr>
              <a:t>Numërimi</a:t>
            </a:r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FFDCB4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FFDCB4"/>
                </a:solidFill>
                <a:latin typeface="Consolas" panose="020B0609020204030204" pitchFamily="49" charset="0"/>
              </a:rPr>
              <a:t>fjalëve</a:t>
            </a:r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FFDCB4"/>
                </a:solidFill>
                <a:latin typeface="Consolas" panose="020B0609020204030204" pitchFamily="49" charset="0"/>
              </a:rPr>
              <a:t>nga</a:t>
            </a:r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 log files</a:t>
            </a:r>
          </a:p>
          <a:p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logs = ['GET /home 200', 'POST /</a:t>
            </a:r>
            <a:r>
              <a:rPr lang="en-US" sz="1200" dirty="0" err="1">
                <a:solidFill>
                  <a:srgbClr val="FFDCB4"/>
                </a:solidFill>
                <a:latin typeface="Consolas" panose="020B0609020204030204" pitchFamily="49" charset="0"/>
              </a:rPr>
              <a:t>api</a:t>
            </a:r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 500', 'GET /home 200']</a:t>
            </a:r>
          </a:p>
          <a:p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results = </a:t>
            </a:r>
            <a:r>
              <a:rPr lang="en-US" sz="1200" dirty="0" err="1">
                <a:solidFill>
                  <a:srgbClr val="FFDCB4"/>
                </a:solidFill>
                <a:latin typeface="Consolas" panose="020B0609020204030204" pitchFamily="49" charset="0"/>
              </a:rPr>
              <a:t>mapreduce</a:t>
            </a:r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(logs, mapper, reducer)</a:t>
            </a:r>
          </a:p>
          <a:p>
            <a:endParaRPr lang="en-US" sz="1200" dirty="0">
              <a:solidFill>
                <a:srgbClr val="FFDCB4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# DALJA: {'get': 2, '/home': 2, '200': 2, 'post': 1, '/</a:t>
            </a:r>
            <a:r>
              <a:rPr lang="en-US" sz="1200" dirty="0" err="1">
                <a:solidFill>
                  <a:srgbClr val="FFDCB4"/>
                </a:solidFill>
                <a:latin typeface="Consolas" panose="020B0609020204030204" pitchFamily="49" charset="0"/>
              </a:rPr>
              <a:t>api</a:t>
            </a:r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': 1, '500': 1}</a:t>
            </a:r>
          </a:p>
          <a:p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# </a:t>
            </a:r>
            <a:r>
              <a:rPr lang="en-US" sz="1200" dirty="0" err="1">
                <a:solidFill>
                  <a:srgbClr val="FFDCB4"/>
                </a:solidFill>
                <a:latin typeface="Consolas" panose="020B0609020204030204" pitchFamily="49" charset="0"/>
              </a:rPr>
              <a:t>âš</a:t>
            </a:r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¡ </a:t>
            </a:r>
            <a:r>
              <a:rPr lang="en-US" sz="1200" dirty="0" err="1">
                <a:solidFill>
                  <a:srgbClr val="FFDCB4"/>
                </a:solidFill>
                <a:latin typeface="Consolas" panose="020B0609020204030204" pitchFamily="49" charset="0"/>
              </a:rPr>
              <a:t>Parallelizimi</a:t>
            </a:r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: 4 workers </a:t>
            </a:r>
            <a:r>
              <a:rPr lang="en-US" sz="1200" dirty="0" err="1">
                <a:solidFill>
                  <a:srgbClr val="FFDCB4"/>
                </a:solidFill>
                <a:latin typeface="Consolas" panose="020B0609020204030204" pitchFamily="49" charset="0"/>
              </a:rPr>
              <a:t>përdoren</a:t>
            </a:r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 (4-fish </a:t>
            </a:r>
            <a:r>
              <a:rPr lang="en-US" sz="1200" dirty="0" err="1">
                <a:solidFill>
                  <a:srgbClr val="FFDCB4"/>
                </a:solidFill>
                <a:latin typeface="Consolas" panose="020B0609020204030204" pitchFamily="49" charset="0"/>
              </a:rPr>
              <a:t>më</a:t>
            </a:r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FFDCB4"/>
                </a:solidFill>
                <a:latin typeface="Consolas" panose="020B0609020204030204" pitchFamily="49" charset="0"/>
              </a:rPr>
              <a:t>shpejt</a:t>
            </a:r>
            <a:r>
              <a:rPr lang="en-US" sz="1200" dirty="0">
                <a:solidFill>
                  <a:srgbClr val="FFDCB4"/>
                </a:solidFill>
                <a:latin typeface="Consolas" panose="020B0609020204030204" pitchFamily="49" charset="0"/>
              </a:rPr>
              <a:t>!)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6DBAC0C-1310-4DD5-8ACF-3345B85F260E}"/>
              </a:ext>
            </a:extLst>
          </p:cNvPr>
          <p:cNvSpPr/>
          <p:nvPr/>
        </p:nvSpPr>
        <p:spPr>
          <a:xfrm>
            <a:off x="254000" y="5524500"/>
            <a:ext cx="4191000" cy="952500"/>
          </a:xfrm>
          <a:prstGeom prst="roundRect">
            <a:avLst/>
          </a:prstGeom>
          <a:solidFill>
            <a:srgbClr val="F0FFF0"/>
          </a:solidFill>
          <a:ln w="254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577D78-DB33-4E6F-A6C5-B2EDA1114AE9}"/>
              </a:ext>
            </a:extLst>
          </p:cNvPr>
          <p:cNvSpPr txBox="1"/>
          <p:nvPr/>
        </p:nvSpPr>
        <p:spPr>
          <a:xfrm>
            <a:off x="444500" y="5651500"/>
            <a:ext cx="3810000" cy="8309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 dirty="0">
                <a:solidFill>
                  <a:srgbClr val="006400"/>
                </a:solidFill>
              </a:rPr>
              <a:t>PERFORMANCA: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200" b="1" dirty="0">
                <a:solidFill>
                  <a:srgbClr val="006400"/>
                </a:solidFill>
              </a:rPr>
              <a:t>worker: 124.5s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200" b="1" dirty="0">
                <a:solidFill>
                  <a:srgbClr val="006400"/>
                </a:solidFill>
              </a:rPr>
              <a:t>4 workers: 35.2s (3.5x)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200" b="1" dirty="0">
                <a:solidFill>
                  <a:srgbClr val="006400"/>
                </a:solidFill>
              </a:rPr>
              <a:t>8 workers: 18.7s (6.7x)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953A5B6-5A28-4316-8D58-9ED6E140D4E5}"/>
              </a:ext>
            </a:extLst>
          </p:cNvPr>
          <p:cNvSpPr/>
          <p:nvPr/>
        </p:nvSpPr>
        <p:spPr>
          <a:xfrm>
            <a:off x="4699000" y="5524500"/>
            <a:ext cx="4191000" cy="95250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BED0FB-89E4-44A8-9B36-B2362D5DD01B}"/>
              </a:ext>
            </a:extLst>
          </p:cNvPr>
          <p:cNvSpPr txBox="1"/>
          <p:nvPr/>
        </p:nvSpPr>
        <p:spPr>
          <a:xfrm>
            <a:off x="4889500" y="5651500"/>
            <a:ext cx="3810000" cy="8309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 dirty="0">
                <a:solidFill>
                  <a:srgbClr val="8B0000"/>
                </a:solidFill>
              </a:rPr>
              <a:t>NË PRAKTIKË: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200" b="1" dirty="0">
                <a:solidFill>
                  <a:srgbClr val="8B0000"/>
                </a:solidFill>
              </a:rPr>
              <a:t>Hadoop: Deri </a:t>
            </a:r>
            <a:r>
              <a:rPr lang="en-US" sz="1200" b="1" dirty="0" err="1">
                <a:solidFill>
                  <a:srgbClr val="8B0000"/>
                </a:solidFill>
              </a:rPr>
              <a:t>në</a:t>
            </a:r>
            <a:r>
              <a:rPr lang="en-US" sz="1200" b="1" dirty="0">
                <a:solidFill>
                  <a:srgbClr val="8B0000"/>
                </a:solidFill>
              </a:rPr>
              <a:t> 10,000 nodes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200" b="1" dirty="0">
                <a:solidFill>
                  <a:srgbClr val="8B0000"/>
                </a:solidFill>
              </a:rPr>
              <a:t>Spark: 100x </a:t>
            </a:r>
            <a:r>
              <a:rPr lang="en-US" sz="1200" b="1" dirty="0" err="1">
                <a:solidFill>
                  <a:srgbClr val="8B0000"/>
                </a:solidFill>
              </a:rPr>
              <a:t>më</a:t>
            </a:r>
            <a:r>
              <a:rPr lang="en-US" sz="1200" b="1" dirty="0">
                <a:solidFill>
                  <a:srgbClr val="8B0000"/>
                </a:solidFill>
              </a:rPr>
              <a:t> </a:t>
            </a:r>
            <a:r>
              <a:rPr lang="en-US" sz="1200" b="1" dirty="0" err="1">
                <a:solidFill>
                  <a:srgbClr val="8B0000"/>
                </a:solidFill>
              </a:rPr>
              <a:t>i</a:t>
            </a:r>
            <a:r>
              <a:rPr lang="en-US" sz="1200" b="1" dirty="0">
                <a:solidFill>
                  <a:srgbClr val="8B0000"/>
                </a:solidFill>
              </a:rPr>
              <a:t> </a:t>
            </a:r>
            <a:r>
              <a:rPr lang="en-US" sz="1200" b="1" dirty="0" err="1">
                <a:solidFill>
                  <a:srgbClr val="8B0000"/>
                </a:solidFill>
              </a:rPr>
              <a:t>shpejtë</a:t>
            </a:r>
            <a:endParaRPr lang="en-US" sz="1200" b="1" dirty="0">
              <a:solidFill>
                <a:srgbClr val="8B0000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200" b="1" dirty="0">
                <a:solidFill>
                  <a:srgbClr val="8B0000"/>
                </a:solidFill>
              </a:rPr>
              <a:t>TB/PB </a:t>
            </a:r>
            <a:r>
              <a:rPr lang="en-US" sz="1200" b="1" dirty="0" err="1">
                <a:solidFill>
                  <a:srgbClr val="8B0000"/>
                </a:solidFill>
              </a:rPr>
              <a:t>të</a:t>
            </a:r>
            <a:r>
              <a:rPr lang="en-US" sz="1200" b="1" dirty="0">
                <a:solidFill>
                  <a:srgbClr val="8B0000"/>
                </a:solidFill>
              </a:rPr>
              <a:t> </a:t>
            </a:r>
            <a:r>
              <a:rPr lang="en-US" sz="1200" b="1" dirty="0" err="1">
                <a:solidFill>
                  <a:srgbClr val="8B0000"/>
                </a:solidFill>
              </a:rPr>
              <a:t>dhëna</a:t>
            </a:r>
            <a:r>
              <a:rPr lang="en-US" sz="1200" b="1" dirty="0">
                <a:solidFill>
                  <a:srgbClr val="8B0000"/>
                </a:solidFill>
              </a:rPr>
              <a:t> </a:t>
            </a:r>
            <a:r>
              <a:rPr lang="en-US" sz="1200" b="1" dirty="0" err="1">
                <a:solidFill>
                  <a:srgbClr val="8B0000"/>
                </a:solidFill>
              </a:rPr>
              <a:t>në</a:t>
            </a:r>
            <a:r>
              <a:rPr lang="en-US" sz="1200" b="1" dirty="0">
                <a:solidFill>
                  <a:srgbClr val="8B0000"/>
                </a:solidFill>
              </a:rPr>
              <a:t> </a:t>
            </a:r>
            <a:r>
              <a:rPr lang="en-US" sz="1200" b="1" dirty="0" err="1">
                <a:solidFill>
                  <a:srgbClr val="8B0000"/>
                </a:solidFill>
              </a:rPr>
              <a:t>minuta</a:t>
            </a:r>
            <a:r>
              <a:rPr lang="en-US" sz="1200" b="1" dirty="0">
                <a:solidFill>
                  <a:srgbClr val="8B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117892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A6FC415-8DBE-4FDD-8174-E3C18815CB21}"/>
              </a:ext>
            </a:extLst>
          </p:cNvPr>
          <p:cNvSpPr/>
          <p:nvPr/>
        </p:nvSpPr>
        <p:spPr>
          <a:xfrm>
            <a:off x="0" y="0"/>
            <a:ext cx="9144000" cy="889000"/>
          </a:xfrm>
          <a:prstGeom prst="rect">
            <a:avLst/>
          </a:prstGeom>
          <a:solidFill>
            <a:srgbClr val="00808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02E7A5-E755-4800-974C-89E7250A2A38}"/>
              </a:ext>
            </a:extLst>
          </p:cNvPr>
          <p:cNvSpPr txBox="1"/>
          <p:nvPr/>
        </p:nvSpPr>
        <p:spPr>
          <a:xfrm>
            <a:off x="381000" y="190500"/>
            <a:ext cx="8382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200" b="1" dirty="0">
                <a:solidFill>
                  <a:srgbClr val="FFFFFF"/>
                </a:solidFill>
              </a:rPr>
              <a:t>PËRFUNDIME &amp; NJOHURITË KRYESORE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1B8776A-A186-4B38-8C1E-5D0FB8F6E31D}"/>
              </a:ext>
            </a:extLst>
          </p:cNvPr>
          <p:cNvSpPr/>
          <p:nvPr/>
        </p:nvSpPr>
        <p:spPr>
          <a:xfrm>
            <a:off x="508000" y="1143000"/>
            <a:ext cx="8128000" cy="1905000"/>
          </a:xfrm>
          <a:prstGeom prst="roundRect">
            <a:avLst/>
          </a:prstGeom>
          <a:solidFill>
            <a:srgbClr val="E6F0FF"/>
          </a:solidFill>
          <a:ln w="38100">
            <a:solidFill>
              <a:srgbClr val="006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137A1F-6CD0-47F3-AF91-F5FD806EAD15}"/>
              </a:ext>
            </a:extLst>
          </p:cNvPr>
          <p:cNvSpPr txBox="1"/>
          <p:nvPr/>
        </p:nvSpPr>
        <p:spPr>
          <a:xfrm>
            <a:off x="762000" y="1126004"/>
            <a:ext cx="7620000" cy="193899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500" dirty="0">
                <a:solidFill>
                  <a:srgbClr val="003C78"/>
                </a:solidFill>
              </a:rPr>
              <a:t>KONCEPTET E ZOTËRUARA: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500" dirty="0">
                <a:solidFill>
                  <a:srgbClr val="003C78"/>
                </a:solidFill>
              </a:rPr>
              <a:t> </a:t>
            </a:r>
            <a:r>
              <a:rPr lang="en-US" sz="1500" dirty="0" err="1">
                <a:solidFill>
                  <a:srgbClr val="003C78"/>
                </a:solidFill>
              </a:rPr>
              <a:t>Modeli</a:t>
            </a:r>
            <a:r>
              <a:rPr lang="en-US" sz="1500" dirty="0">
                <a:solidFill>
                  <a:srgbClr val="003C78"/>
                </a:solidFill>
              </a:rPr>
              <a:t> </a:t>
            </a:r>
            <a:r>
              <a:rPr lang="en-US" sz="1500" dirty="0" err="1">
                <a:solidFill>
                  <a:srgbClr val="003C78"/>
                </a:solidFill>
              </a:rPr>
              <a:t>programues</a:t>
            </a:r>
            <a:r>
              <a:rPr lang="en-US" sz="1500" dirty="0">
                <a:solidFill>
                  <a:srgbClr val="003C78"/>
                </a:solidFill>
              </a:rPr>
              <a:t> MapReduce (map, shuffle, reduce)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500" dirty="0">
                <a:solidFill>
                  <a:srgbClr val="003C78"/>
                </a:solidFill>
              </a:rPr>
              <a:t> </a:t>
            </a:r>
            <a:r>
              <a:rPr lang="en-US" sz="1500" dirty="0" err="1">
                <a:solidFill>
                  <a:srgbClr val="003C78"/>
                </a:solidFill>
              </a:rPr>
              <a:t>Fazat</a:t>
            </a:r>
            <a:r>
              <a:rPr lang="en-US" sz="1500" dirty="0">
                <a:solidFill>
                  <a:srgbClr val="003C78"/>
                </a:solidFill>
              </a:rPr>
              <a:t> e </a:t>
            </a:r>
            <a:r>
              <a:rPr lang="en-US" sz="1500" dirty="0" err="1">
                <a:solidFill>
                  <a:srgbClr val="003C78"/>
                </a:solidFill>
              </a:rPr>
              <a:t>procesimit</a:t>
            </a:r>
            <a:r>
              <a:rPr lang="en-US" sz="1500" dirty="0">
                <a:solidFill>
                  <a:srgbClr val="003C78"/>
                </a:solidFill>
              </a:rPr>
              <a:t> </a:t>
            </a:r>
            <a:r>
              <a:rPr lang="en-US" sz="1500" dirty="0" err="1">
                <a:solidFill>
                  <a:srgbClr val="003C78"/>
                </a:solidFill>
              </a:rPr>
              <a:t>të</a:t>
            </a:r>
            <a:r>
              <a:rPr lang="en-US" sz="1500" dirty="0">
                <a:solidFill>
                  <a:srgbClr val="003C78"/>
                </a:solidFill>
              </a:rPr>
              <a:t> </a:t>
            </a:r>
            <a:r>
              <a:rPr lang="en-US" sz="1500" dirty="0" err="1">
                <a:solidFill>
                  <a:srgbClr val="003C78"/>
                </a:solidFill>
              </a:rPr>
              <a:t>shpërndarë</a:t>
            </a:r>
            <a:endParaRPr lang="en-US" sz="1500" dirty="0">
              <a:solidFill>
                <a:srgbClr val="003C78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500" dirty="0">
                <a:solidFill>
                  <a:srgbClr val="003C78"/>
                </a:solidFill>
              </a:rPr>
              <a:t> </a:t>
            </a:r>
            <a:r>
              <a:rPr lang="en-US" sz="1500" dirty="0" err="1">
                <a:solidFill>
                  <a:srgbClr val="003C78"/>
                </a:solidFill>
              </a:rPr>
              <a:t>Modelet</a:t>
            </a:r>
            <a:r>
              <a:rPr lang="en-US" sz="1500" dirty="0">
                <a:solidFill>
                  <a:srgbClr val="003C78"/>
                </a:solidFill>
              </a:rPr>
              <a:t> e MapReduce (</a:t>
            </a:r>
            <a:r>
              <a:rPr lang="en-US" sz="1500" dirty="0" err="1">
                <a:solidFill>
                  <a:srgbClr val="003C78"/>
                </a:solidFill>
              </a:rPr>
              <a:t>numërim</a:t>
            </a:r>
            <a:r>
              <a:rPr lang="en-US" sz="1500" dirty="0">
                <a:solidFill>
                  <a:srgbClr val="003C78"/>
                </a:solidFill>
              </a:rPr>
              <a:t>, </a:t>
            </a:r>
            <a:r>
              <a:rPr lang="en-US" sz="1500" dirty="0" err="1">
                <a:solidFill>
                  <a:srgbClr val="003C78"/>
                </a:solidFill>
              </a:rPr>
              <a:t>filtrim</a:t>
            </a:r>
            <a:r>
              <a:rPr lang="en-US" sz="1500" dirty="0">
                <a:solidFill>
                  <a:srgbClr val="003C78"/>
                </a:solidFill>
              </a:rPr>
              <a:t>, </a:t>
            </a:r>
            <a:r>
              <a:rPr lang="en-US" sz="1500" dirty="0" err="1">
                <a:solidFill>
                  <a:srgbClr val="003C78"/>
                </a:solidFill>
              </a:rPr>
              <a:t>renditje</a:t>
            </a:r>
            <a:r>
              <a:rPr lang="en-US" sz="1500" dirty="0">
                <a:solidFill>
                  <a:srgbClr val="003C78"/>
                </a:solidFill>
              </a:rPr>
              <a:t>, </a:t>
            </a:r>
            <a:r>
              <a:rPr lang="en-US" sz="1500" dirty="0" err="1">
                <a:solidFill>
                  <a:srgbClr val="003C78"/>
                </a:solidFill>
              </a:rPr>
              <a:t>bashkim</a:t>
            </a:r>
            <a:r>
              <a:rPr lang="en-US" sz="1500" dirty="0">
                <a:solidFill>
                  <a:srgbClr val="003C78"/>
                </a:solidFill>
              </a:rPr>
              <a:t>, </a:t>
            </a:r>
            <a:r>
              <a:rPr lang="en-US" sz="1500" dirty="0" err="1">
                <a:solidFill>
                  <a:srgbClr val="003C78"/>
                </a:solidFill>
              </a:rPr>
              <a:t>grupim</a:t>
            </a:r>
            <a:r>
              <a:rPr lang="en-US" sz="1500" dirty="0">
                <a:solidFill>
                  <a:srgbClr val="003C78"/>
                </a:solidFill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500" dirty="0">
                <a:solidFill>
                  <a:srgbClr val="003C78"/>
                </a:solidFill>
              </a:rPr>
              <a:t> Word count </a:t>
            </a:r>
            <a:r>
              <a:rPr lang="en-US" sz="1500" dirty="0" err="1">
                <a:solidFill>
                  <a:srgbClr val="003C78"/>
                </a:solidFill>
              </a:rPr>
              <a:t>dhe</a:t>
            </a:r>
            <a:r>
              <a:rPr lang="en-US" sz="1500" dirty="0">
                <a:solidFill>
                  <a:srgbClr val="003C78"/>
                </a:solidFill>
              </a:rPr>
              <a:t> </a:t>
            </a:r>
            <a:r>
              <a:rPr lang="en-US" sz="1500" dirty="0" err="1">
                <a:solidFill>
                  <a:srgbClr val="003C78"/>
                </a:solidFill>
              </a:rPr>
              <a:t>analiza</a:t>
            </a:r>
            <a:r>
              <a:rPr lang="en-US" sz="1500" dirty="0">
                <a:solidFill>
                  <a:srgbClr val="003C78"/>
                </a:solidFill>
              </a:rPr>
              <a:t> e log-eve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500" dirty="0">
                <a:solidFill>
                  <a:srgbClr val="003C78"/>
                </a:solidFill>
              </a:rPr>
              <a:t> </a:t>
            </a:r>
            <a:r>
              <a:rPr lang="en-US" sz="1500" dirty="0" err="1">
                <a:solidFill>
                  <a:srgbClr val="003C78"/>
                </a:solidFill>
              </a:rPr>
              <a:t>Krahasimi</a:t>
            </a:r>
            <a:r>
              <a:rPr lang="en-US" sz="1500" dirty="0">
                <a:solidFill>
                  <a:srgbClr val="003C78"/>
                </a:solidFill>
              </a:rPr>
              <a:t> </a:t>
            </a:r>
            <a:r>
              <a:rPr lang="en-US" sz="1500" dirty="0" err="1">
                <a:solidFill>
                  <a:srgbClr val="003C78"/>
                </a:solidFill>
              </a:rPr>
              <a:t>hadoop</a:t>
            </a:r>
            <a:r>
              <a:rPr lang="en-US" sz="1500" dirty="0">
                <a:solidFill>
                  <a:srgbClr val="003C78"/>
                </a:solidFill>
              </a:rPr>
              <a:t> vs spark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500" dirty="0">
                <a:solidFill>
                  <a:srgbClr val="003C78"/>
                </a:solidFill>
              </a:rPr>
              <a:t> </a:t>
            </a:r>
            <a:r>
              <a:rPr lang="en-US" sz="1500" dirty="0" err="1">
                <a:solidFill>
                  <a:srgbClr val="003C78"/>
                </a:solidFill>
              </a:rPr>
              <a:t>Arkitektura</a:t>
            </a:r>
            <a:r>
              <a:rPr lang="en-US" sz="1500" dirty="0">
                <a:solidFill>
                  <a:srgbClr val="003C78"/>
                </a:solidFill>
              </a:rPr>
              <a:t> e </a:t>
            </a:r>
            <a:r>
              <a:rPr lang="en-US" sz="1500" dirty="0" err="1">
                <a:solidFill>
                  <a:srgbClr val="003C78"/>
                </a:solidFill>
              </a:rPr>
              <a:t>plotë</a:t>
            </a:r>
            <a:r>
              <a:rPr lang="en-US" sz="1500" dirty="0">
                <a:solidFill>
                  <a:srgbClr val="003C78"/>
                </a:solidFill>
              </a:rPr>
              <a:t> e pipeline </a:t>
            </a:r>
            <a:r>
              <a:rPr lang="en-US" sz="1500" dirty="0" err="1">
                <a:solidFill>
                  <a:srgbClr val="003C78"/>
                </a:solidFill>
              </a:rPr>
              <a:t>të</a:t>
            </a:r>
            <a:r>
              <a:rPr lang="en-US" sz="1500" dirty="0">
                <a:solidFill>
                  <a:srgbClr val="003C78"/>
                </a:solidFill>
              </a:rPr>
              <a:t> Big Data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500" dirty="0">
                <a:solidFill>
                  <a:srgbClr val="003C78"/>
                </a:solidFill>
              </a:rPr>
              <a:t> </a:t>
            </a:r>
            <a:r>
              <a:rPr lang="en-US" sz="1500" dirty="0" err="1">
                <a:solidFill>
                  <a:srgbClr val="003C78"/>
                </a:solidFill>
              </a:rPr>
              <a:t>Skalabiliteti</a:t>
            </a:r>
            <a:r>
              <a:rPr lang="en-US" sz="1500" dirty="0">
                <a:solidFill>
                  <a:srgbClr val="003C78"/>
                </a:solidFill>
              </a:rPr>
              <a:t>, fault tolerance </a:t>
            </a:r>
            <a:r>
              <a:rPr lang="en-US" sz="1500" dirty="0" err="1">
                <a:solidFill>
                  <a:srgbClr val="003C78"/>
                </a:solidFill>
              </a:rPr>
              <a:t>dhe</a:t>
            </a:r>
            <a:r>
              <a:rPr lang="en-US" sz="1500" dirty="0">
                <a:solidFill>
                  <a:srgbClr val="003C78"/>
                </a:solidFill>
              </a:rPr>
              <a:t> </a:t>
            </a:r>
            <a:r>
              <a:rPr lang="en-US" sz="1500" dirty="0" err="1">
                <a:solidFill>
                  <a:srgbClr val="003C78"/>
                </a:solidFill>
              </a:rPr>
              <a:t>paralelizmi</a:t>
            </a:r>
            <a:endParaRPr lang="en-US" sz="1500" dirty="0">
              <a:solidFill>
                <a:srgbClr val="003C78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3932140-2F2F-4ED9-B06F-92B041519FB2}"/>
              </a:ext>
            </a:extLst>
          </p:cNvPr>
          <p:cNvSpPr/>
          <p:nvPr/>
        </p:nvSpPr>
        <p:spPr>
          <a:xfrm>
            <a:off x="508000" y="3175000"/>
            <a:ext cx="8128000" cy="1778000"/>
          </a:xfrm>
          <a:prstGeom prst="roundRect">
            <a:avLst/>
          </a:prstGeom>
          <a:solidFill>
            <a:srgbClr val="F0FFF0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A97B19-B26A-43AD-99C5-9B31BA731A7D}"/>
              </a:ext>
            </a:extLst>
          </p:cNvPr>
          <p:cNvSpPr txBox="1"/>
          <p:nvPr/>
        </p:nvSpPr>
        <p:spPr>
          <a:xfrm>
            <a:off x="762000" y="3204776"/>
            <a:ext cx="7620000" cy="170816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500" dirty="0">
                <a:solidFill>
                  <a:srgbClr val="005000"/>
                </a:solidFill>
              </a:rPr>
              <a:t>AFTËSITË PRAKTIKE: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500" dirty="0" err="1">
                <a:solidFill>
                  <a:srgbClr val="005000"/>
                </a:solidFill>
              </a:rPr>
              <a:t>Implementimi</a:t>
            </a:r>
            <a:r>
              <a:rPr lang="en-US" sz="1500" dirty="0">
                <a:solidFill>
                  <a:srgbClr val="005000"/>
                </a:solidFill>
              </a:rPr>
              <a:t> </a:t>
            </a:r>
            <a:r>
              <a:rPr lang="en-US" sz="1500" dirty="0" err="1">
                <a:solidFill>
                  <a:srgbClr val="005000"/>
                </a:solidFill>
              </a:rPr>
              <a:t>i</a:t>
            </a:r>
            <a:r>
              <a:rPr lang="en-US" sz="1500" dirty="0">
                <a:solidFill>
                  <a:srgbClr val="005000"/>
                </a:solidFill>
              </a:rPr>
              <a:t> MapReduce </a:t>
            </a:r>
            <a:r>
              <a:rPr lang="en-US" sz="1500" dirty="0" err="1">
                <a:solidFill>
                  <a:srgbClr val="005000"/>
                </a:solidFill>
              </a:rPr>
              <a:t>nga</a:t>
            </a:r>
            <a:r>
              <a:rPr lang="en-US" sz="1500" dirty="0">
                <a:solidFill>
                  <a:srgbClr val="005000"/>
                </a:solidFill>
              </a:rPr>
              <a:t> zero </a:t>
            </a:r>
            <a:r>
              <a:rPr lang="en-US" sz="1500" dirty="0" err="1">
                <a:solidFill>
                  <a:srgbClr val="005000"/>
                </a:solidFill>
              </a:rPr>
              <a:t>në</a:t>
            </a:r>
            <a:r>
              <a:rPr lang="en-US" sz="1500" dirty="0">
                <a:solidFill>
                  <a:srgbClr val="005000"/>
                </a:solidFill>
              </a:rPr>
              <a:t> Python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500" dirty="0" err="1">
                <a:solidFill>
                  <a:srgbClr val="005000"/>
                </a:solidFill>
              </a:rPr>
              <a:t>Analiza</a:t>
            </a:r>
            <a:r>
              <a:rPr lang="en-US" sz="1500" dirty="0">
                <a:solidFill>
                  <a:srgbClr val="005000"/>
                </a:solidFill>
              </a:rPr>
              <a:t> e 10 </a:t>
            </a:r>
            <a:r>
              <a:rPr lang="en-US" sz="1500" dirty="0" err="1">
                <a:solidFill>
                  <a:srgbClr val="005000"/>
                </a:solidFill>
              </a:rPr>
              <a:t>dokumenteve</a:t>
            </a:r>
            <a:r>
              <a:rPr lang="en-US" sz="1500" dirty="0">
                <a:solidFill>
                  <a:srgbClr val="005000"/>
                </a:solidFill>
              </a:rPr>
              <a:t> </a:t>
            </a:r>
            <a:r>
              <a:rPr lang="en-US" sz="1500" dirty="0" err="1">
                <a:solidFill>
                  <a:srgbClr val="005000"/>
                </a:solidFill>
              </a:rPr>
              <a:t>dhe</a:t>
            </a:r>
            <a:r>
              <a:rPr lang="en-US" sz="1500" dirty="0">
                <a:solidFill>
                  <a:srgbClr val="005000"/>
                </a:solidFill>
              </a:rPr>
              <a:t> </a:t>
            </a:r>
            <a:r>
              <a:rPr lang="en-US" sz="1500" dirty="0" err="1">
                <a:solidFill>
                  <a:srgbClr val="005000"/>
                </a:solidFill>
              </a:rPr>
              <a:t>skedarëve</a:t>
            </a:r>
            <a:r>
              <a:rPr lang="en-US" sz="1500" dirty="0">
                <a:solidFill>
                  <a:srgbClr val="005000"/>
                </a:solidFill>
              </a:rPr>
              <a:t> log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500" dirty="0" err="1">
                <a:solidFill>
                  <a:srgbClr val="005000"/>
                </a:solidFill>
              </a:rPr>
              <a:t>Zbatimi</a:t>
            </a:r>
            <a:r>
              <a:rPr lang="en-US" sz="1500" dirty="0">
                <a:solidFill>
                  <a:srgbClr val="005000"/>
                </a:solidFill>
              </a:rPr>
              <a:t> </a:t>
            </a:r>
            <a:r>
              <a:rPr lang="en-US" sz="1500" dirty="0" err="1">
                <a:solidFill>
                  <a:srgbClr val="005000"/>
                </a:solidFill>
              </a:rPr>
              <a:t>i</a:t>
            </a:r>
            <a:r>
              <a:rPr lang="en-US" sz="1500" dirty="0">
                <a:solidFill>
                  <a:srgbClr val="005000"/>
                </a:solidFill>
              </a:rPr>
              <a:t> 5 </a:t>
            </a:r>
            <a:r>
              <a:rPr lang="en-US" sz="1500" dirty="0" err="1">
                <a:solidFill>
                  <a:srgbClr val="005000"/>
                </a:solidFill>
              </a:rPr>
              <a:t>modeleve</a:t>
            </a:r>
            <a:r>
              <a:rPr lang="en-US" sz="1500" dirty="0">
                <a:solidFill>
                  <a:srgbClr val="005000"/>
                </a:solidFill>
              </a:rPr>
              <a:t> </a:t>
            </a:r>
            <a:r>
              <a:rPr lang="en-US" sz="1500" dirty="0" err="1">
                <a:solidFill>
                  <a:srgbClr val="005000"/>
                </a:solidFill>
              </a:rPr>
              <a:t>të</a:t>
            </a:r>
            <a:r>
              <a:rPr lang="en-US" sz="1500" dirty="0">
                <a:solidFill>
                  <a:srgbClr val="005000"/>
                </a:solidFill>
              </a:rPr>
              <a:t> MapReduce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500" dirty="0" err="1">
                <a:solidFill>
                  <a:srgbClr val="005000"/>
                </a:solidFill>
              </a:rPr>
              <a:t>Gjenerimi</a:t>
            </a:r>
            <a:r>
              <a:rPr lang="en-US" sz="1500" dirty="0">
                <a:solidFill>
                  <a:srgbClr val="005000"/>
                </a:solidFill>
              </a:rPr>
              <a:t> </a:t>
            </a:r>
            <a:r>
              <a:rPr lang="en-US" sz="1500" dirty="0" err="1">
                <a:solidFill>
                  <a:srgbClr val="005000"/>
                </a:solidFill>
              </a:rPr>
              <a:t>i</a:t>
            </a:r>
            <a:r>
              <a:rPr lang="en-US" sz="1500" dirty="0">
                <a:solidFill>
                  <a:srgbClr val="005000"/>
                </a:solidFill>
              </a:rPr>
              <a:t> 6 </a:t>
            </a:r>
            <a:r>
              <a:rPr lang="en-US" sz="1500" dirty="0" err="1">
                <a:solidFill>
                  <a:srgbClr val="005000"/>
                </a:solidFill>
              </a:rPr>
              <a:t>skedarëve</a:t>
            </a:r>
            <a:r>
              <a:rPr lang="en-US" sz="1500" dirty="0">
                <a:solidFill>
                  <a:srgbClr val="005000"/>
                </a:solidFill>
              </a:rPr>
              <a:t> CSV me </a:t>
            </a:r>
            <a:r>
              <a:rPr lang="en-US" sz="1500" dirty="0" err="1">
                <a:solidFill>
                  <a:srgbClr val="005000"/>
                </a:solidFill>
              </a:rPr>
              <a:t>rezultate</a:t>
            </a:r>
            <a:r>
              <a:rPr lang="en-US" sz="1500" dirty="0">
                <a:solidFill>
                  <a:srgbClr val="005000"/>
                </a:solidFill>
              </a:rPr>
              <a:t> </a:t>
            </a:r>
            <a:r>
              <a:rPr lang="en-US" sz="1500" dirty="0" err="1">
                <a:solidFill>
                  <a:srgbClr val="005000"/>
                </a:solidFill>
              </a:rPr>
              <a:t>të</a:t>
            </a:r>
            <a:r>
              <a:rPr lang="en-US" sz="1500" dirty="0">
                <a:solidFill>
                  <a:srgbClr val="005000"/>
                </a:solidFill>
              </a:rPr>
              <a:t> </a:t>
            </a:r>
            <a:r>
              <a:rPr lang="en-US" sz="1500" dirty="0" err="1">
                <a:solidFill>
                  <a:srgbClr val="005000"/>
                </a:solidFill>
              </a:rPr>
              <a:t>detajuara</a:t>
            </a:r>
            <a:endParaRPr lang="en-US" sz="1500" dirty="0">
              <a:solidFill>
                <a:srgbClr val="005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500" dirty="0" err="1">
                <a:solidFill>
                  <a:srgbClr val="005000"/>
                </a:solidFill>
              </a:rPr>
              <a:t>Optimizimi</a:t>
            </a:r>
            <a:r>
              <a:rPr lang="en-US" sz="1500" dirty="0">
                <a:solidFill>
                  <a:srgbClr val="005000"/>
                </a:solidFill>
              </a:rPr>
              <a:t> </a:t>
            </a:r>
            <a:r>
              <a:rPr lang="en-US" sz="1500" dirty="0" err="1">
                <a:solidFill>
                  <a:srgbClr val="005000"/>
                </a:solidFill>
              </a:rPr>
              <a:t>dhe</a:t>
            </a:r>
            <a:r>
              <a:rPr lang="en-US" sz="1500" dirty="0">
                <a:solidFill>
                  <a:srgbClr val="005000"/>
                </a:solidFill>
              </a:rPr>
              <a:t> debugging </a:t>
            </a:r>
            <a:r>
              <a:rPr lang="en-US" sz="1500" dirty="0" err="1">
                <a:solidFill>
                  <a:srgbClr val="005000"/>
                </a:solidFill>
              </a:rPr>
              <a:t>i</a:t>
            </a:r>
            <a:r>
              <a:rPr lang="en-US" sz="1500" dirty="0">
                <a:solidFill>
                  <a:srgbClr val="005000"/>
                </a:solidFill>
              </a:rPr>
              <a:t> </a:t>
            </a:r>
            <a:r>
              <a:rPr lang="en-US" sz="1500" dirty="0" err="1">
                <a:solidFill>
                  <a:srgbClr val="005000"/>
                </a:solidFill>
              </a:rPr>
              <a:t>punëve</a:t>
            </a:r>
            <a:r>
              <a:rPr lang="en-US" sz="1500" dirty="0">
                <a:solidFill>
                  <a:srgbClr val="005000"/>
                </a:solidFill>
              </a:rPr>
              <a:t> MapReduce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500" dirty="0" err="1">
                <a:solidFill>
                  <a:srgbClr val="005000"/>
                </a:solidFill>
              </a:rPr>
              <a:t>Zgjedhja</a:t>
            </a:r>
            <a:r>
              <a:rPr lang="en-US" sz="1500" dirty="0">
                <a:solidFill>
                  <a:srgbClr val="005000"/>
                </a:solidFill>
              </a:rPr>
              <a:t> e </a:t>
            </a:r>
            <a:r>
              <a:rPr lang="en-US" sz="1500" dirty="0" err="1">
                <a:solidFill>
                  <a:srgbClr val="005000"/>
                </a:solidFill>
              </a:rPr>
              <a:t>teknologjisë</a:t>
            </a:r>
            <a:r>
              <a:rPr lang="en-US" sz="1500" dirty="0">
                <a:solidFill>
                  <a:srgbClr val="005000"/>
                </a:solidFill>
              </a:rPr>
              <a:t> </a:t>
            </a:r>
            <a:r>
              <a:rPr lang="en-US" sz="1500" dirty="0" err="1">
                <a:solidFill>
                  <a:srgbClr val="005000"/>
                </a:solidFill>
              </a:rPr>
              <a:t>së</a:t>
            </a:r>
            <a:r>
              <a:rPr lang="en-US" sz="1500" dirty="0">
                <a:solidFill>
                  <a:srgbClr val="005000"/>
                </a:solidFill>
              </a:rPr>
              <a:t> </a:t>
            </a:r>
            <a:r>
              <a:rPr lang="en-US" sz="1500" dirty="0" err="1">
                <a:solidFill>
                  <a:srgbClr val="005000"/>
                </a:solidFill>
              </a:rPr>
              <a:t>duhur</a:t>
            </a:r>
            <a:r>
              <a:rPr lang="en-US" sz="1500" dirty="0">
                <a:solidFill>
                  <a:srgbClr val="005000"/>
                </a:solidFill>
              </a:rPr>
              <a:t> (Hadoop vs Spark)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B6B1E5-EC03-4ACA-B8E0-A940476B5A24}"/>
              </a:ext>
            </a:extLst>
          </p:cNvPr>
          <p:cNvSpPr/>
          <p:nvPr/>
        </p:nvSpPr>
        <p:spPr>
          <a:xfrm>
            <a:off x="508000" y="5206999"/>
            <a:ext cx="5317765" cy="1296551"/>
          </a:xfrm>
          <a:prstGeom prst="roundRect">
            <a:avLst/>
          </a:prstGeom>
          <a:solidFill>
            <a:srgbClr val="FFFAF0"/>
          </a:solidFill>
          <a:ln w="25400">
            <a:solidFill>
              <a:srgbClr val="FF8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14C14F-CC33-4B99-A0EA-7EAB90730666}"/>
              </a:ext>
            </a:extLst>
          </p:cNvPr>
          <p:cNvSpPr txBox="1"/>
          <p:nvPr/>
        </p:nvSpPr>
        <p:spPr>
          <a:xfrm>
            <a:off x="690382" y="5270498"/>
            <a:ext cx="4953000" cy="116955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dirty="0">
                <a:solidFill>
                  <a:srgbClr val="502800"/>
                </a:solidFill>
              </a:rPr>
              <a:t>REFERENCAT:</a:t>
            </a:r>
          </a:p>
          <a:p>
            <a:r>
              <a:rPr lang="en-US" sz="1400" dirty="0" err="1">
                <a:solidFill>
                  <a:srgbClr val="502800"/>
                </a:solidFill>
              </a:rPr>
              <a:t>Erl</a:t>
            </a:r>
            <a:r>
              <a:rPr lang="en-US" sz="1400" dirty="0">
                <a:solidFill>
                  <a:srgbClr val="502800"/>
                </a:solidFill>
              </a:rPr>
              <a:t>, Buhler, </a:t>
            </a:r>
            <a:r>
              <a:rPr lang="en-US" sz="1400" dirty="0" err="1">
                <a:solidFill>
                  <a:srgbClr val="502800"/>
                </a:solidFill>
              </a:rPr>
              <a:t>Khattak</a:t>
            </a:r>
            <a:r>
              <a:rPr lang="en-US" sz="1400" dirty="0">
                <a:solidFill>
                  <a:srgbClr val="502800"/>
                </a:solidFill>
              </a:rPr>
              <a:t> - 'Big Data</a:t>
            </a:r>
          </a:p>
          <a:p>
            <a:r>
              <a:rPr lang="en-US" sz="1400" dirty="0">
                <a:solidFill>
                  <a:srgbClr val="502800"/>
                </a:solidFill>
              </a:rPr>
              <a:t>  Fundamentals' (</a:t>
            </a:r>
            <a:r>
              <a:rPr lang="en-US" sz="1400" dirty="0" err="1">
                <a:solidFill>
                  <a:srgbClr val="502800"/>
                </a:solidFill>
              </a:rPr>
              <a:t>Kapitujt</a:t>
            </a:r>
            <a:r>
              <a:rPr lang="en-US" sz="1400" dirty="0">
                <a:solidFill>
                  <a:srgbClr val="502800"/>
                </a:solidFill>
              </a:rPr>
              <a:t> 3-4)</a:t>
            </a:r>
          </a:p>
          <a:p>
            <a:r>
              <a:rPr lang="en-US" sz="1400" dirty="0">
                <a:solidFill>
                  <a:srgbClr val="502800"/>
                </a:solidFill>
              </a:rPr>
              <a:t> Apache Hadoop Documentation</a:t>
            </a:r>
          </a:p>
          <a:p>
            <a:r>
              <a:rPr lang="en-US" sz="1400" dirty="0">
                <a:solidFill>
                  <a:srgbClr val="502800"/>
                </a:solidFill>
              </a:rPr>
              <a:t> Apache Spark Documentation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4A4B4EC-F7DB-4411-8DB5-98E4A429B67E}"/>
              </a:ext>
            </a:extLst>
          </p:cNvPr>
          <p:cNvSpPr/>
          <p:nvPr/>
        </p:nvSpPr>
        <p:spPr>
          <a:xfrm>
            <a:off x="6096000" y="5207000"/>
            <a:ext cx="2540000" cy="1143000"/>
          </a:xfrm>
          <a:prstGeom prst="roundRect">
            <a:avLst/>
          </a:prstGeom>
          <a:solidFill>
            <a:srgbClr val="0078D7"/>
          </a:solidFill>
          <a:ln w="12700" cap="flat" cmpd="sng" algn="ctr">
            <a:noFill/>
            <a:prstDash val="solid"/>
            <a:miter lim="800000"/>
          </a:ln>
          <a:effectLst>
            <a:prstShdw prst="shdw6" dist="107763" dir="2700000">
              <a:scrgbClr r="0" g="0" b="0">
                <a:alpha val="50000"/>
              </a:scrgbClr>
            </a:prst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078280-0AB8-4281-BA6C-0D42F71636F8}"/>
              </a:ext>
            </a:extLst>
          </p:cNvPr>
          <p:cNvSpPr txBox="1"/>
          <p:nvPr/>
        </p:nvSpPr>
        <p:spPr>
          <a:xfrm>
            <a:off x="6286500" y="5363001"/>
            <a:ext cx="2167118" cy="83099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FALEMINDERIT!</a:t>
            </a:r>
          </a:p>
          <a:p>
            <a:pPr algn="ctr"/>
            <a:r>
              <a:rPr lang="en-US" sz="2400" b="1" dirty="0" err="1">
                <a:solidFill>
                  <a:srgbClr val="FFFFFF"/>
                </a:solidFill>
              </a:rPr>
              <a:t>Pyetje</a:t>
            </a:r>
            <a:r>
              <a:rPr lang="en-US" sz="2400" b="1" dirty="0">
                <a:solidFill>
                  <a:srgbClr val="FFFFFF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525258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1994</Words>
  <Application>Microsoft Office PowerPoint</Application>
  <PresentationFormat>On-screen Show (4:3)</PresentationFormat>
  <Paragraphs>331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Consolas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Administrator</dc:creator>
  <cp:lastModifiedBy>Administrator</cp:lastModifiedBy>
  <cp:revision>12</cp:revision>
  <dcterms:created xsi:type="dcterms:W3CDTF">2025-10-26T22:44:53Z</dcterms:created>
  <dcterms:modified xsi:type="dcterms:W3CDTF">2025-10-30T17:49:12Z</dcterms:modified>
</cp:coreProperties>
</file>