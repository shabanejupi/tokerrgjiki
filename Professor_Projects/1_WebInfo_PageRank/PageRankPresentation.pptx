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7" r:id="rId11"/>
    <p:sldId id="268" r:id="rId12"/>
    <p:sldId id="269" r:id="rId13"/>
    <p:sldId id="263" r:id="rId14"/>
    <p:sldId id="266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49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C34C2-87DE-4E40-A171-0FDDC56E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B56C13-0F48-4F0A-886A-32125648C5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FE7C7-A536-4214-921C-E304F9BE0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872D7-D1CE-4470-BE10-4B03C971333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4FEC9-30F2-4130-A262-2F39BA240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B91556-2AB5-45CD-A03B-D713D2A1D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5D107-7E2E-4E14-999C-066F1F38B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2384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F9E73-2841-4C71-B644-0B670B5CD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1CA86-251C-4190-9D6B-16D20D02D4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A418A-F57B-4543-8BFC-06754114D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872D7-D1CE-4470-BE10-4B03C971333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D454C-AEAA-480C-A157-B5B452B82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B6C56-6E25-40CF-9101-2E793B1DD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5D107-7E2E-4E14-999C-066F1F38B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75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657AB-15C1-4CE7-82FA-73A1F9ABD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DC2129-44A7-4117-97BD-B4E58BE46B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4C4EC1-E617-4D27-A475-3D409F436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872D7-D1CE-4470-BE10-4B03C971333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AA45EE-53ED-468F-A01C-0C6ECCC9B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1D442-D979-4624-AE9F-168B10B67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5D107-7E2E-4E14-999C-066F1F38B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85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0870A-373D-4A4C-B844-0B5A5A5E8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8A7FF-1976-4A84-81AE-BA1994D83A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54A90D-F976-488D-A593-E20F3DAE91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EC6A5E-37FE-4ED4-9EE7-D865EB457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872D7-D1CE-4470-BE10-4B03C971333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2F6612-C3E2-418E-AB8D-9F2806DFE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FAB7B0-1FAB-43C5-B08B-F7AAC9EFC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5D107-7E2E-4E14-999C-066F1F38B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095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FF619-EE9F-4B32-8919-83C6AA48F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5D28C-6C28-4B68-964D-A4632A3B87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767393-439F-4E69-8D26-08185890FB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D7609C-FC11-4170-B468-A48E87B662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B48D0F-7473-4A2A-822E-12053BC1C5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A77C3B-F404-46C7-95C8-3E36BFAD5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872D7-D1CE-4470-BE10-4B03C971333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E21781-370D-49B4-9F38-8E14140F0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C4DCAF-EC6B-4230-9959-F10EB4B9F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5D107-7E2E-4E14-999C-066F1F38B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411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2DF9F-F179-474A-983A-D7CCB0AF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BDFB6F-C53B-461C-A974-BE097B235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872D7-D1CE-4470-BE10-4B03C971333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52F39D-3590-40DA-BAD0-1E6D3D287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E10635-EC91-4D39-9A87-AD8223C61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5D107-7E2E-4E14-999C-066F1F38B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076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B1D554-A33E-4EFB-A55F-3A2C8F40D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872D7-D1CE-4470-BE10-4B03C971333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DB3DFB-7FEE-4ABB-930D-DD7FB0D36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8CC5A1-387F-42BB-9834-B56980D54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5D107-7E2E-4E14-999C-066F1F38B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784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B2AA-5CAF-4DAB-BE85-8018E1912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84F40-9942-4492-BCA6-8E583DB701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4AB533-73F8-491E-9D84-AA2B64A295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E00044-8968-48E3-AEEE-51C9D4F59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872D7-D1CE-4470-BE10-4B03C971333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3629F4-969D-4FE4-8548-27F7C1285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944C75-D0E6-4A7A-A190-53A07667C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5D107-7E2E-4E14-999C-066F1F38B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63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5F299-3212-4929-A079-ED366AD4A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FF2DE4-3A4D-4F58-B5A1-4F9AC9D00F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648199-9586-4001-8576-71C91799C2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CA65C9-E26B-44B4-BE43-A5CA586C5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872D7-D1CE-4470-BE10-4B03C971333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5144C6-F1A3-438E-83BC-B80CF227A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E77FF-441A-4709-A9C9-500F07812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5D107-7E2E-4E14-999C-066F1F38B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04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FD1B0-CF55-4921-B1C0-E39F87608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E4848C-2ACD-4911-BFFD-EEF95A23E3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734D2-A375-4B43-AF2A-819FC3B2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872D7-D1CE-4470-BE10-4B03C971333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9B1CB-8387-47FD-8776-D0AE9F2CE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6E86D3-46D9-4539-97A4-86B5DADD4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5D107-7E2E-4E14-999C-066F1F38B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96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8EB26-CF16-4C9F-A3BC-BD95143A58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D602B1-C842-463E-94D1-DD9FBF3D89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840865-B282-43F5-A2EF-AC179E1F9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872D7-D1CE-4470-BE10-4B03C971333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6C66B-711D-484A-92F4-668C5DE0C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B661D-E856-4B57-893B-96B3D1A8F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5D107-7E2E-4E14-999C-066F1F38B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0791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2469C-F83D-49CB-82C2-F6D01B45D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EAC18-3AE8-41AB-9530-B91DC48D3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BC5CFC-2988-4034-88A4-F9FC41BD8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872D7-D1CE-4470-BE10-4B03C971333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F66E3E-13DA-4584-A880-58D2AC82D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C909B-3351-4326-B623-D715BCCB0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5D107-7E2E-4E14-999C-066F1F38B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441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9B23C-CA32-4CA5-943A-E89AC2ECF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A0F90-FF7C-470C-B677-18D51A97EC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930A-750C-41F8-A708-BBFAC6B96B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0872D7-D1CE-4470-BE10-4B03C971333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CFD2C4-1727-4385-9C48-24FF95C53F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258161-E8F0-4677-BD27-77C889EE56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A5D107-7E2E-4E14-999C-066F1F38B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969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F2346"/>
            </a:gs>
            <a:gs pos="100000">
              <a:srgbClr val="FFFFF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6306122-6B21-49DE-A91E-C137C9DD934E}"/>
              </a:ext>
            </a:extLst>
          </p:cNvPr>
          <p:cNvSpPr/>
          <p:nvPr/>
        </p:nvSpPr>
        <p:spPr>
          <a:xfrm>
            <a:off x="7620000" y="-635000"/>
            <a:ext cx="3810000" cy="3810000"/>
          </a:xfrm>
          <a:prstGeom prst="ellipse">
            <a:avLst/>
          </a:prstGeom>
          <a:solidFill>
            <a:srgbClr val="5078B4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46E0DE1-E1E1-4C16-9DEB-5BCA23B19687}"/>
              </a:ext>
            </a:extLst>
          </p:cNvPr>
          <p:cNvSpPr/>
          <p:nvPr/>
        </p:nvSpPr>
        <p:spPr>
          <a:xfrm>
            <a:off x="-1016000" y="4445000"/>
            <a:ext cx="3175000" cy="3175000"/>
          </a:xfrm>
          <a:prstGeom prst="ellipse">
            <a:avLst/>
          </a:prstGeom>
          <a:solidFill>
            <a:srgbClr val="3C64A0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3255F9-D6C6-484D-8673-81572CD07061}"/>
              </a:ext>
            </a:extLst>
          </p:cNvPr>
          <p:cNvSpPr txBox="1"/>
          <p:nvPr/>
        </p:nvSpPr>
        <p:spPr>
          <a:xfrm>
            <a:off x="444500" y="483615"/>
            <a:ext cx="8255000" cy="249299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BR" sz="5200" b="1" dirty="0">
                <a:solidFill>
                  <a:srgbClr val="FFFFFF"/>
                </a:solidFill>
                <a:latin typeface="Arial" panose="020B0604020202020204" pitchFamily="34" charset="0"/>
              </a:rPr>
              <a:t>MARRJA E INFORMACIONIT NË WEB</a:t>
            </a:r>
            <a:endParaRPr lang="en-US" sz="52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254170-D6A7-4225-811E-A7E283D39ACF}"/>
              </a:ext>
            </a:extLst>
          </p:cNvPr>
          <p:cNvSpPr txBox="1"/>
          <p:nvPr/>
        </p:nvSpPr>
        <p:spPr>
          <a:xfrm>
            <a:off x="635000" y="2956004"/>
            <a:ext cx="825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600" b="1" dirty="0">
                <a:solidFill>
                  <a:srgbClr val="FFD700"/>
                </a:solidFill>
                <a:latin typeface="Arial" panose="020B0604020202020204" pitchFamily="34" charset="0"/>
              </a:rPr>
              <a:t>PageRank &amp; </a:t>
            </a:r>
            <a:r>
              <a:rPr lang="en-US" sz="3600" b="1" dirty="0" err="1">
                <a:solidFill>
                  <a:srgbClr val="FFD700"/>
                </a:solidFill>
                <a:latin typeface="Arial" panose="020B0604020202020204" pitchFamily="34" charset="0"/>
              </a:rPr>
              <a:t>analiza</a:t>
            </a:r>
            <a:r>
              <a:rPr lang="en-US" sz="3600" b="1" dirty="0">
                <a:solidFill>
                  <a:srgbClr val="FFD700"/>
                </a:solidFill>
                <a:latin typeface="Arial" panose="020B0604020202020204" pitchFamily="34" charset="0"/>
              </a:rPr>
              <a:t> e </a:t>
            </a:r>
            <a:r>
              <a:rPr lang="en-US" sz="3600" b="1" dirty="0" err="1">
                <a:solidFill>
                  <a:srgbClr val="FFD700"/>
                </a:solidFill>
                <a:latin typeface="Arial" panose="020B0604020202020204" pitchFamily="34" charset="0"/>
              </a:rPr>
              <a:t>hiperlidhjeve</a:t>
            </a:r>
            <a:endParaRPr lang="en-US" sz="3600" b="1" dirty="0">
              <a:solidFill>
                <a:srgbClr val="FFD700"/>
              </a:solidFill>
              <a:latin typeface="Arial" panose="020B060402020202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B6CF44-BED0-4CAD-99A3-C290838B3528}"/>
              </a:ext>
            </a:extLst>
          </p:cNvPr>
          <p:cNvSpPr/>
          <p:nvPr/>
        </p:nvSpPr>
        <p:spPr>
          <a:xfrm>
            <a:off x="1905000" y="3741340"/>
            <a:ext cx="5715000" cy="1084659"/>
          </a:xfrm>
          <a:prstGeom prst="roundRect">
            <a:avLst/>
          </a:prstGeom>
          <a:solidFill>
            <a:srgbClr val="FFFFFF">
              <a:alpha val="90000"/>
            </a:srgbClr>
          </a:solidFill>
          <a:ln w="38100">
            <a:solidFill>
              <a:srgbClr val="FFD7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273B5F-F00A-41AB-928A-208E4526FE39}"/>
              </a:ext>
            </a:extLst>
          </p:cNvPr>
          <p:cNvSpPr txBox="1"/>
          <p:nvPr/>
        </p:nvSpPr>
        <p:spPr>
          <a:xfrm>
            <a:off x="2159000" y="4099003"/>
            <a:ext cx="5207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b="1" dirty="0" err="1"/>
              <a:t>Bazuar</a:t>
            </a:r>
            <a:r>
              <a:rPr lang="en-US" b="1" dirty="0"/>
              <a:t> </a:t>
            </a:r>
            <a:r>
              <a:rPr lang="en-US" b="1" dirty="0" err="1"/>
              <a:t>në</a:t>
            </a:r>
            <a:r>
              <a:rPr lang="en-US" b="1" dirty="0"/>
              <a:t>: </a:t>
            </a:r>
            <a:r>
              <a:rPr lang="en-US" b="1" dirty="0" err="1"/>
              <a:t>Literaturë</a:t>
            </a:r>
            <a:r>
              <a:rPr lang="en-US" b="1" dirty="0"/>
              <a:t> </a:t>
            </a:r>
            <a:r>
              <a:rPr lang="en-US" b="1" dirty="0" err="1"/>
              <a:t>të</a:t>
            </a:r>
            <a:r>
              <a:rPr lang="en-US" b="1" dirty="0"/>
              <a:t> </a:t>
            </a:r>
            <a:r>
              <a:rPr lang="en-US" b="1" dirty="0" err="1"/>
              <a:t>librit</a:t>
            </a:r>
            <a:endParaRPr lang="en-US" b="1" dirty="0"/>
          </a:p>
        </p:txBody>
      </p:sp>
      <p:sp>
        <p:nvSpPr>
          <p:cNvPr id="8" name="Action Button: Go Home 7">
            <a:extLst>
              <a:ext uri="{FF2B5EF4-FFF2-40B4-BE49-F238E27FC236}">
                <a16:creationId xmlns:a16="http://schemas.microsoft.com/office/drawing/2014/main" id="{AFCFB3AA-5BE4-4E1D-8BE0-D9B354D7D07F}"/>
              </a:ext>
            </a:extLst>
          </p:cNvPr>
          <p:cNvSpPr/>
          <p:nvPr/>
        </p:nvSpPr>
        <p:spPr>
          <a:xfrm>
            <a:off x="4191000" y="5334000"/>
            <a:ext cx="762000" cy="762000"/>
          </a:xfrm>
          <a:prstGeom prst="actionButtonHome">
            <a:avLst/>
          </a:prstGeom>
          <a:solidFill>
            <a:srgbClr val="FFD700"/>
          </a:solidFill>
          <a:ln w="254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381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5FA"/>
            </a:gs>
            <a:gs pos="100000">
              <a:srgbClr val="FFFFFF"/>
            </a:gs>
          </a:gsLst>
          <a:lin ang="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AE2C4B-4A73-4F3E-8E64-6337158C044D}"/>
              </a:ext>
            </a:extLst>
          </p:cNvPr>
          <p:cNvSpPr/>
          <p:nvPr/>
        </p:nvSpPr>
        <p:spPr>
          <a:xfrm>
            <a:off x="0" y="0"/>
            <a:ext cx="9144000" cy="889000"/>
          </a:xfrm>
          <a:prstGeom prst="rect">
            <a:avLst/>
          </a:prstGeom>
          <a:solidFill>
            <a:srgbClr val="0050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9FAB0-7FC6-41E7-B6B3-4BC8D7A7F2D8}"/>
              </a:ext>
            </a:extLst>
          </p:cNvPr>
          <p:cNvSpPr txBox="1"/>
          <p:nvPr/>
        </p:nvSpPr>
        <p:spPr>
          <a:xfrm>
            <a:off x="381000" y="190500"/>
            <a:ext cx="8382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BR" sz="3200" b="1" dirty="0">
                <a:solidFill>
                  <a:srgbClr val="FFFFFF"/>
                </a:solidFill>
              </a:rPr>
              <a:t>REFERENCA E LIBRIT &amp; OBJEKTIVAT</a:t>
            </a:r>
            <a:endParaRPr lang="en-US" sz="3200" b="1" dirty="0">
              <a:solidFill>
                <a:srgbClr val="FFFFFF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C46075-88AB-4A8F-A946-7AB5986EF5EF}"/>
              </a:ext>
            </a:extLst>
          </p:cNvPr>
          <p:cNvSpPr/>
          <p:nvPr/>
        </p:nvSpPr>
        <p:spPr>
          <a:xfrm>
            <a:off x="508000" y="1143000"/>
            <a:ext cx="8128000" cy="1778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50A0"/>
            </a:solidFill>
          </a:ln>
          <a:effectLst>
            <a:outerShdw blurRad="50800" dist="38100" dir="2700000" algn="tl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8BC2A9-71D3-4074-8ACE-CC8BDA5BAE40}"/>
              </a:ext>
            </a:extLst>
          </p:cNvPr>
          <p:cNvSpPr txBox="1"/>
          <p:nvPr/>
        </p:nvSpPr>
        <p:spPr>
          <a:xfrm>
            <a:off x="762000" y="1203568"/>
            <a:ext cx="7620000" cy="165686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142850"/>
                </a:solidFill>
              </a:rPr>
              <a:t>– LIBRI: Web Data Mining: Exploring Hyperlinks, Contents, and Usage Data</a:t>
            </a:r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142850"/>
                </a:solidFill>
              </a:rPr>
              <a:t>AUTORI: Bing Liu (University of Illinois at Chicago)</a:t>
            </a:r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142850"/>
                </a:solidFill>
              </a:rPr>
              <a:t> KAPITUJT: 10 (</a:t>
            </a:r>
            <a:r>
              <a:rPr lang="en-US" sz="1500" dirty="0" err="1">
                <a:solidFill>
                  <a:srgbClr val="142850"/>
                </a:solidFill>
              </a:rPr>
              <a:t>Renditja</a:t>
            </a:r>
            <a:r>
              <a:rPr lang="en-US" sz="1500" dirty="0">
                <a:solidFill>
                  <a:srgbClr val="142850"/>
                </a:solidFill>
              </a:rPr>
              <a:t> </a:t>
            </a:r>
            <a:r>
              <a:rPr lang="en-US" sz="1500" dirty="0" err="1">
                <a:solidFill>
                  <a:srgbClr val="142850"/>
                </a:solidFill>
              </a:rPr>
              <a:t>bazuar</a:t>
            </a:r>
            <a:r>
              <a:rPr lang="en-US" sz="1500" dirty="0">
                <a:solidFill>
                  <a:srgbClr val="142850"/>
                </a:solidFill>
              </a:rPr>
              <a:t> </a:t>
            </a:r>
            <a:r>
              <a:rPr lang="en-US" sz="1500" dirty="0" err="1">
                <a:solidFill>
                  <a:srgbClr val="142850"/>
                </a:solidFill>
              </a:rPr>
              <a:t>në</a:t>
            </a:r>
            <a:r>
              <a:rPr lang="en-US" sz="1500" dirty="0">
                <a:solidFill>
                  <a:srgbClr val="142850"/>
                </a:solidFill>
              </a:rPr>
              <a:t> </a:t>
            </a:r>
            <a:r>
              <a:rPr lang="en-US" sz="1500" dirty="0" err="1">
                <a:solidFill>
                  <a:srgbClr val="142850"/>
                </a:solidFill>
              </a:rPr>
              <a:t>lidhje</a:t>
            </a:r>
            <a:r>
              <a:rPr lang="en-US" sz="1500" dirty="0">
                <a:solidFill>
                  <a:srgbClr val="142850"/>
                </a:solidFill>
              </a:rPr>
              <a:t>), 11 (</a:t>
            </a:r>
            <a:r>
              <a:rPr lang="en-US" sz="1500" dirty="0" err="1">
                <a:solidFill>
                  <a:srgbClr val="142850"/>
                </a:solidFill>
              </a:rPr>
              <a:t>Analiza</a:t>
            </a:r>
            <a:r>
              <a:rPr lang="en-US" sz="1500" dirty="0">
                <a:solidFill>
                  <a:srgbClr val="142850"/>
                </a:solidFill>
              </a:rPr>
              <a:t> e </a:t>
            </a:r>
            <a:r>
              <a:rPr lang="en-US" sz="1500" dirty="0" err="1">
                <a:solidFill>
                  <a:srgbClr val="142850"/>
                </a:solidFill>
              </a:rPr>
              <a:t>strukturës</a:t>
            </a:r>
            <a:r>
              <a:rPr lang="en-US" sz="1500" dirty="0">
                <a:solidFill>
                  <a:srgbClr val="142850"/>
                </a:solidFill>
              </a:rPr>
              <a:t> web)</a:t>
            </a:r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142850"/>
                </a:solidFill>
              </a:rPr>
              <a:t>CITUAR: </a:t>
            </a:r>
            <a:r>
              <a:rPr lang="en-US" sz="1500" dirty="0" err="1">
                <a:solidFill>
                  <a:srgbClr val="142850"/>
                </a:solidFill>
              </a:rPr>
              <a:t>Mbi</a:t>
            </a:r>
            <a:r>
              <a:rPr lang="en-US" sz="1500" dirty="0">
                <a:solidFill>
                  <a:srgbClr val="142850"/>
                </a:solidFill>
              </a:rPr>
              <a:t> 15,000 </a:t>
            </a:r>
            <a:r>
              <a:rPr lang="en-US" sz="1500" dirty="0" err="1">
                <a:solidFill>
                  <a:srgbClr val="142850"/>
                </a:solidFill>
              </a:rPr>
              <a:t>herë</a:t>
            </a:r>
            <a:r>
              <a:rPr lang="en-US" sz="1500" dirty="0">
                <a:solidFill>
                  <a:srgbClr val="142850"/>
                </a:solidFill>
              </a:rPr>
              <a:t> - </a:t>
            </a:r>
            <a:r>
              <a:rPr lang="en-US" sz="1500" dirty="0" err="1">
                <a:solidFill>
                  <a:srgbClr val="142850"/>
                </a:solidFill>
              </a:rPr>
              <a:t>Burim</a:t>
            </a:r>
            <a:r>
              <a:rPr lang="en-US" sz="1500" dirty="0">
                <a:solidFill>
                  <a:srgbClr val="142850"/>
                </a:solidFill>
              </a:rPr>
              <a:t> </a:t>
            </a:r>
            <a:r>
              <a:rPr lang="en-US" sz="1500" dirty="0" err="1">
                <a:solidFill>
                  <a:srgbClr val="142850"/>
                </a:solidFill>
              </a:rPr>
              <a:t>i</a:t>
            </a:r>
            <a:r>
              <a:rPr lang="en-US" sz="1500" dirty="0">
                <a:solidFill>
                  <a:srgbClr val="142850"/>
                </a:solidFill>
              </a:rPr>
              <a:t> </a:t>
            </a:r>
            <a:r>
              <a:rPr lang="en-US" sz="1500" dirty="0" err="1">
                <a:solidFill>
                  <a:srgbClr val="142850"/>
                </a:solidFill>
              </a:rPr>
              <a:t>autoritetshëm</a:t>
            </a:r>
            <a:r>
              <a:rPr lang="en-US" sz="1500" dirty="0">
                <a:solidFill>
                  <a:srgbClr val="142850"/>
                </a:solidFill>
              </a:rPr>
              <a:t> </a:t>
            </a:r>
            <a:r>
              <a:rPr lang="en-US" sz="1500" dirty="0" err="1">
                <a:solidFill>
                  <a:srgbClr val="142850"/>
                </a:solidFill>
              </a:rPr>
              <a:t>për</a:t>
            </a:r>
            <a:r>
              <a:rPr lang="en-US" sz="1500" dirty="0">
                <a:solidFill>
                  <a:srgbClr val="142850"/>
                </a:solidFill>
              </a:rPr>
              <a:t> Web Mining</a:t>
            </a:r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142850"/>
                </a:solidFill>
              </a:rPr>
              <a:t>VITI: </a:t>
            </a:r>
            <a:r>
              <a:rPr lang="en-US" sz="1500" dirty="0" err="1">
                <a:solidFill>
                  <a:srgbClr val="142850"/>
                </a:solidFill>
              </a:rPr>
              <a:t>Botimi</a:t>
            </a:r>
            <a:r>
              <a:rPr lang="en-US" sz="1500" dirty="0">
                <a:solidFill>
                  <a:srgbClr val="142850"/>
                </a:solidFill>
              </a:rPr>
              <a:t> </a:t>
            </a:r>
            <a:r>
              <a:rPr lang="en-US" sz="1500" dirty="0" err="1">
                <a:solidFill>
                  <a:srgbClr val="142850"/>
                </a:solidFill>
              </a:rPr>
              <a:t>i</a:t>
            </a:r>
            <a:r>
              <a:rPr lang="en-US" sz="1500" dirty="0">
                <a:solidFill>
                  <a:srgbClr val="142850"/>
                </a:solidFill>
              </a:rPr>
              <a:t> 2nd Edition (2011), ISBN: 978-3-642-19460-3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14BE3DB-4552-47F5-96C2-DA0E1430CB25}"/>
              </a:ext>
            </a:extLst>
          </p:cNvPr>
          <p:cNvSpPr/>
          <p:nvPr/>
        </p:nvSpPr>
        <p:spPr>
          <a:xfrm>
            <a:off x="508000" y="3175000"/>
            <a:ext cx="3937000" cy="279400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934EA9-4EA9-48DA-9055-873E1A229DDB}"/>
              </a:ext>
            </a:extLst>
          </p:cNvPr>
          <p:cNvSpPr txBox="1"/>
          <p:nvPr/>
        </p:nvSpPr>
        <p:spPr>
          <a:xfrm>
            <a:off x="698500" y="3394754"/>
            <a:ext cx="3556000" cy="235449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42850"/>
                </a:solidFill>
              </a:rPr>
              <a:t>TEMAT E MBULUARA:</a:t>
            </a:r>
          </a:p>
          <a:p>
            <a:pPr>
              <a:spcAft>
                <a:spcPts val="600"/>
              </a:spcAft>
            </a:pPr>
            <a:r>
              <a:rPr lang="en-US" sz="1400" dirty="0" err="1">
                <a:solidFill>
                  <a:srgbClr val="142850"/>
                </a:solidFill>
              </a:rPr>
              <a:t>Algoritmi</a:t>
            </a:r>
            <a:r>
              <a:rPr lang="en-US" sz="1400" dirty="0">
                <a:solidFill>
                  <a:srgbClr val="142850"/>
                </a:solidFill>
              </a:rPr>
              <a:t> PageRank (</a:t>
            </a:r>
            <a:r>
              <a:rPr lang="en-US" sz="1400" dirty="0" err="1">
                <a:solidFill>
                  <a:srgbClr val="142850"/>
                </a:solidFill>
              </a:rPr>
              <a:t>themel</a:t>
            </a: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i</a:t>
            </a:r>
            <a:r>
              <a:rPr lang="en-US" sz="1400" dirty="0">
                <a:solidFill>
                  <a:srgbClr val="142850"/>
                </a:solidFill>
              </a:rPr>
              <a:t> Google)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Algoritmi</a:t>
            </a:r>
            <a:r>
              <a:rPr lang="en-US" sz="1400" dirty="0">
                <a:solidFill>
                  <a:srgbClr val="142850"/>
                </a:solidFill>
              </a:rPr>
              <a:t> HITS (Hubs &amp; Authorities)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Analiza</a:t>
            </a:r>
            <a:r>
              <a:rPr lang="en-US" sz="1400" dirty="0">
                <a:solidFill>
                  <a:srgbClr val="142850"/>
                </a:solidFill>
              </a:rPr>
              <a:t> e </a:t>
            </a:r>
            <a:r>
              <a:rPr lang="en-US" sz="1400" dirty="0" err="1">
                <a:solidFill>
                  <a:srgbClr val="142850"/>
                </a:solidFill>
              </a:rPr>
              <a:t>strukturës</a:t>
            </a: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së</a:t>
            </a: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grafit</a:t>
            </a:r>
            <a:r>
              <a:rPr lang="en-US" sz="1400" dirty="0">
                <a:solidFill>
                  <a:srgbClr val="142850"/>
                </a:solidFill>
              </a:rPr>
              <a:t> web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Modeli</a:t>
            </a: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i</a:t>
            </a:r>
            <a:r>
              <a:rPr lang="en-US" sz="1400" dirty="0">
                <a:solidFill>
                  <a:srgbClr val="142850"/>
                </a:solidFill>
              </a:rPr>
              <a:t> Random Surfer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Zbulimi</a:t>
            </a: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i</a:t>
            </a:r>
            <a:r>
              <a:rPr lang="en-US" sz="1400" dirty="0">
                <a:solidFill>
                  <a:srgbClr val="142850"/>
                </a:solidFill>
              </a:rPr>
              <a:t> Link Spam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Metrikat</a:t>
            </a:r>
            <a:r>
              <a:rPr lang="en-US" sz="1400" dirty="0">
                <a:solidFill>
                  <a:srgbClr val="142850"/>
                </a:solidFill>
              </a:rPr>
              <a:t> e </a:t>
            </a:r>
            <a:r>
              <a:rPr lang="en-US" sz="1400" dirty="0" err="1">
                <a:solidFill>
                  <a:srgbClr val="142850"/>
                </a:solidFill>
              </a:rPr>
              <a:t>centralitetit</a:t>
            </a:r>
            <a:endParaRPr lang="en-US" sz="1400" dirty="0">
              <a:solidFill>
                <a:srgbClr val="14285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Struktura</a:t>
            </a:r>
            <a:r>
              <a:rPr lang="en-US" sz="1400" dirty="0">
                <a:solidFill>
                  <a:srgbClr val="142850"/>
                </a:solidFill>
              </a:rPr>
              <a:t> Bow-Tie e web-it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93B7207-62F2-4AA3-B1E3-F97176677446}"/>
              </a:ext>
            </a:extLst>
          </p:cNvPr>
          <p:cNvSpPr/>
          <p:nvPr/>
        </p:nvSpPr>
        <p:spPr>
          <a:xfrm>
            <a:off x="4699000" y="3175000"/>
            <a:ext cx="3937000" cy="2794000"/>
          </a:xfrm>
          <a:prstGeom prst="roundRect">
            <a:avLst/>
          </a:prstGeom>
          <a:solidFill>
            <a:srgbClr val="FFF5E6"/>
          </a:solidFill>
          <a:ln w="25400">
            <a:solidFill>
              <a:srgbClr val="FF8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5E1CCB-EC1A-47D1-9E47-F8CF4D7C91C8}"/>
              </a:ext>
            </a:extLst>
          </p:cNvPr>
          <p:cNvSpPr txBox="1"/>
          <p:nvPr/>
        </p:nvSpPr>
        <p:spPr>
          <a:xfrm>
            <a:off x="4889500" y="3429000"/>
            <a:ext cx="3556000" cy="235449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502800"/>
                </a:solidFill>
              </a:rPr>
              <a:t>OBJEKTIVAT E TË MËSUARIT:</a:t>
            </a:r>
          </a:p>
          <a:p>
            <a:pPr>
              <a:spcAft>
                <a:spcPts val="600"/>
              </a:spcAft>
            </a:pPr>
            <a:r>
              <a:rPr lang="en-US" sz="1400" dirty="0" err="1">
                <a:solidFill>
                  <a:srgbClr val="502800"/>
                </a:solidFill>
              </a:rPr>
              <a:t>Kuptimi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algoritmeve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të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renditjes</a:t>
            </a:r>
            <a:endParaRPr lang="en-US" sz="1400" dirty="0">
              <a:solidFill>
                <a:srgbClr val="50280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Implementimi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i</a:t>
            </a:r>
            <a:r>
              <a:rPr lang="en-US" sz="1400" dirty="0">
                <a:solidFill>
                  <a:srgbClr val="502800"/>
                </a:solidFill>
              </a:rPr>
              <a:t> PageRank </a:t>
            </a:r>
            <a:r>
              <a:rPr lang="en-US" sz="1400" dirty="0" err="1">
                <a:solidFill>
                  <a:srgbClr val="502800"/>
                </a:solidFill>
              </a:rPr>
              <a:t>nga</a:t>
            </a:r>
            <a:r>
              <a:rPr lang="en-US" sz="1400" dirty="0">
                <a:solidFill>
                  <a:srgbClr val="502800"/>
                </a:solidFill>
              </a:rPr>
              <a:t> zero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Analiza</a:t>
            </a:r>
            <a:r>
              <a:rPr lang="en-US" sz="1400" dirty="0">
                <a:solidFill>
                  <a:srgbClr val="502800"/>
                </a:solidFill>
              </a:rPr>
              <a:t> e </a:t>
            </a:r>
            <a:r>
              <a:rPr lang="en-US" sz="1400" dirty="0" err="1">
                <a:solidFill>
                  <a:srgbClr val="502800"/>
                </a:solidFill>
              </a:rPr>
              <a:t>strukturës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së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grafit</a:t>
            </a:r>
            <a:r>
              <a:rPr lang="en-US" sz="1400" dirty="0">
                <a:solidFill>
                  <a:srgbClr val="502800"/>
                </a:solidFill>
              </a:rPr>
              <a:t> web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Llogaritja</a:t>
            </a:r>
            <a:r>
              <a:rPr lang="en-US" sz="1400" dirty="0">
                <a:solidFill>
                  <a:srgbClr val="502800"/>
                </a:solidFill>
              </a:rPr>
              <a:t> e </a:t>
            </a:r>
            <a:r>
              <a:rPr lang="en-US" sz="1400" dirty="0" err="1">
                <a:solidFill>
                  <a:srgbClr val="502800"/>
                </a:solidFill>
              </a:rPr>
              <a:t>metrikave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të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grafit</a:t>
            </a:r>
            <a:endParaRPr lang="en-US" sz="1400" dirty="0">
              <a:solidFill>
                <a:srgbClr val="50280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Vizualizimi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rezultateve</a:t>
            </a:r>
            <a:endParaRPr lang="en-US" sz="1400" dirty="0">
              <a:solidFill>
                <a:srgbClr val="50280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Aplikimi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në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probleme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reale</a:t>
            </a:r>
            <a:endParaRPr lang="en-US" sz="1400" dirty="0">
              <a:solidFill>
                <a:srgbClr val="50280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Interpretimi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rezultateve</a:t>
            </a:r>
            <a:endParaRPr lang="en-US" sz="1400" dirty="0">
              <a:solidFill>
                <a:srgbClr val="5028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22366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30344C-4816-47F0-9B0F-8881F3811FC9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0064C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13F1B8-06B9-4666-8A42-259C4A596411}"/>
              </a:ext>
            </a:extLst>
          </p:cNvPr>
          <p:cNvSpPr txBox="1"/>
          <p:nvPr/>
        </p:nvSpPr>
        <p:spPr>
          <a:xfrm>
            <a:off x="254000" y="152400"/>
            <a:ext cx="863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sv-SE" sz="2800" b="1" dirty="0">
                <a:solidFill>
                  <a:srgbClr val="FFFFFF"/>
                </a:solidFill>
              </a:rPr>
              <a:t>TEORIA E PAGERANK (Bing Liu, Kapitulli 10.2)</a:t>
            </a:r>
            <a:endParaRPr lang="en-US" sz="2800" b="1" dirty="0">
              <a:solidFill>
                <a:srgbClr val="FFFFFF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B1346DA-2FAC-4C9A-B03E-840896ADD0BF}"/>
              </a:ext>
            </a:extLst>
          </p:cNvPr>
          <p:cNvSpPr/>
          <p:nvPr/>
        </p:nvSpPr>
        <p:spPr>
          <a:xfrm>
            <a:off x="508000" y="1015999"/>
            <a:ext cx="8128000" cy="1373495"/>
          </a:xfrm>
          <a:prstGeom prst="roundRect">
            <a:avLst/>
          </a:prstGeom>
          <a:solidFill>
            <a:srgbClr val="FFFACD"/>
          </a:solidFill>
          <a:ln w="38100">
            <a:solidFill>
              <a:srgbClr val="FF8C00"/>
            </a:solidFill>
          </a:ln>
          <a:effectLst>
            <a:prstShdw prst="shdw6" dist="107763" dir="2700000">
              <a:scrgbClr r="0" g="0" b="0">
                <a:alpha val="50000"/>
              </a:scrgbClr>
            </a:prst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1B8426-7867-44F0-B945-CE78FFB3CB10}"/>
              </a:ext>
            </a:extLst>
          </p:cNvPr>
          <p:cNvSpPr txBox="1"/>
          <p:nvPr/>
        </p:nvSpPr>
        <p:spPr>
          <a:xfrm>
            <a:off x="762000" y="1143000"/>
            <a:ext cx="7620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500" b="1" dirty="0">
                <a:solidFill>
                  <a:srgbClr val="503C00"/>
                </a:solidFill>
              </a:rPr>
              <a:t>- KONCEPTI KRYESOR:</a:t>
            </a:r>
          </a:p>
          <a:p>
            <a:r>
              <a:rPr lang="en-US" sz="1500" b="1" dirty="0">
                <a:solidFill>
                  <a:srgbClr val="503C00"/>
                </a:solidFill>
              </a:rPr>
              <a:t>PageRank mat </a:t>
            </a:r>
            <a:r>
              <a:rPr lang="en-US" sz="1500" b="1" dirty="0" err="1">
                <a:solidFill>
                  <a:srgbClr val="503C00"/>
                </a:solidFill>
              </a:rPr>
              <a:t>rëndësinë</a:t>
            </a:r>
            <a:r>
              <a:rPr lang="en-US" sz="1500" b="1" dirty="0">
                <a:solidFill>
                  <a:srgbClr val="503C00"/>
                </a:solidFill>
              </a:rPr>
              <a:t> e </a:t>
            </a:r>
            <a:r>
              <a:rPr lang="en-US" sz="1500" b="1" dirty="0" err="1">
                <a:solidFill>
                  <a:srgbClr val="503C00"/>
                </a:solidFill>
              </a:rPr>
              <a:t>faqeve</a:t>
            </a:r>
            <a:r>
              <a:rPr lang="en-US" sz="1500" b="1" dirty="0">
                <a:solidFill>
                  <a:srgbClr val="503C00"/>
                </a:solidFill>
              </a:rPr>
              <a:t> web </a:t>
            </a:r>
            <a:r>
              <a:rPr lang="en-US" sz="1500" b="1" dirty="0" err="1">
                <a:solidFill>
                  <a:srgbClr val="503C00"/>
                </a:solidFill>
              </a:rPr>
              <a:t>bazuar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në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strukturën</a:t>
            </a:r>
            <a:r>
              <a:rPr lang="en-US" sz="1500" b="1" dirty="0">
                <a:solidFill>
                  <a:srgbClr val="503C00"/>
                </a:solidFill>
              </a:rPr>
              <a:t> e </a:t>
            </a:r>
            <a:r>
              <a:rPr lang="en-US" sz="1500" b="1" dirty="0" err="1">
                <a:solidFill>
                  <a:srgbClr val="503C00"/>
                </a:solidFill>
              </a:rPr>
              <a:t>lidhjeve</a:t>
            </a:r>
            <a:r>
              <a:rPr lang="en-US" sz="1500" b="1" dirty="0">
                <a:solidFill>
                  <a:srgbClr val="503C00"/>
                </a:solidFill>
              </a:rPr>
              <a:t>.</a:t>
            </a:r>
          </a:p>
          <a:p>
            <a:r>
              <a:rPr lang="en-US" sz="1500" b="1" dirty="0" err="1">
                <a:solidFill>
                  <a:srgbClr val="503C00"/>
                </a:solidFill>
              </a:rPr>
              <a:t>Zhvilluar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nga</a:t>
            </a:r>
            <a:r>
              <a:rPr lang="en-US" sz="1500" b="1" dirty="0">
                <a:solidFill>
                  <a:srgbClr val="503C00"/>
                </a:solidFill>
              </a:rPr>
              <a:t> Larry Page </a:t>
            </a:r>
            <a:r>
              <a:rPr lang="en-US" sz="1500" b="1" dirty="0" err="1">
                <a:solidFill>
                  <a:srgbClr val="503C00"/>
                </a:solidFill>
              </a:rPr>
              <a:t>dhe</a:t>
            </a:r>
            <a:r>
              <a:rPr lang="en-US" sz="1500" b="1" dirty="0">
                <a:solidFill>
                  <a:srgbClr val="503C00"/>
                </a:solidFill>
              </a:rPr>
              <a:t> Sergey Brin (</a:t>
            </a:r>
            <a:r>
              <a:rPr lang="en-US" sz="1500" b="1" dirty="0" err="1">
                <a:solidFill>
                  <a:srgbClr val="503C00"/>
                </a:solidFill>
              </a:rPr>
              <a:t>themeluesit</a:t>
            </a:r>
            <a:r>
              <a:rPr lang="en-US" sz="1500" b="1" dirty="0">
                <a:solidFill>
                  <a:srgbClr val="503C00"/>
                </a:solidFill>
              </a:rPr>
              <a:t> e Google, 1998).</a:t>
            </a:r>
          </a:p>
          <a:p>
            <a:r>
              <a:rPr lang="en-US" sz="1500" b="1" dirty="0" err="1">
                <a:solidFill>
                  <a:srgbClr val="503C00"/>
                </a:solidFill>
              </a:rPr>
              <a:t>Ideja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themelore</a:t>
            </a:r>
            <a:r>
              <a:rPr lang="en-US" sz="1500" b="1" dirty="0">
                <a:solidFill>
                  <a:srgbClr val="503C00"/>
                </a:solidFill>
              </a:rPr>
              <a:t>: </a:t>
            </a:r>
            <a:r>
              <a:rPr lang="en-US" sz="1500" b="1" dirty="0" err="1">
                <a:solidFill>
                  <a:srgbClr val="503C00"/>
                </a:solidFill>
              </a:rPr>
              <a:t>Një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faqe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është</a:t>
            </a:r>
            <a:r>
              <a:rPr lang="en-US" sz="1500" b="1" dirty="0">
                <a:solidFill>
                  <a:srgbClr val="503C00"/>
                </a:solidFill>
              </a:rPr>
              <a:t> e </a:t>
            </a:r>
            <a:r>
              <a:rPr lang="en-US" sz="1500" b="1" dirty="0" err="1">
                <a:solidFill>
                  <a:srgbClr val="503C00"/>
                </a:solidFill>
              </a:rPr>
              <a:t>rëndësishme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nëse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faqe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të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rëndësishme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lidhen</a:t>
            </a:r>
            <a:r>
              <a:rPr lang="en-US" sz="1500" b="1" dirty="0">
                <a:solidFill>
                  <a:srgbClr val="503C00"/>
                </a:solidFill>
              </a:rPr>
              <a:t> me </a:t>
            </a:r>
            <a:r>
              <a:rPr lang="en-US" sz="1500" b="1" dirty="0" err="1">
                <a:solidFill>
                  <a:srgbClr val="503C00"/>
                </a:solidFill>
              </a:rPr>
              <a:t>të</a:t>
            </a:r>
            <a:r>
              <a:rPr lang="en-US" sz="1500" b="1" dirty="0">
                <a:solidFill>
                  <a:srgbClr val="503C00"/>
                </a:solidFill>
              </a:rPr>
              <a:t>!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FCCE9BB-0ACE-40C5-B852-37D111ADA32C}"/>
              </a:ext>
            </a:extLst>
          </p:cNvPr>
          <p:cNvSpPr/>
          <p:nvPr/>
        </p:nvSpPr>
        <p:spPr>
          <a:xfrm>
            <a:off x="508000" y="2540000"/>
            <a:ext cx="3937000" cy="228600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6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6E8C7F-F6EE-41D7-BA87-4C9AD6A703A3}"/>
              </a:ext>
            </a:extLst>
          </p:cNvPr>
          <p:cNvSpPr txBox="1"/>
          <p:nvPr/>
        </p:nvSpPr>
        <p:spPr>
          <a:xfrm>
            <a:off x="698500" y="2667000"/>
            <a:ext cx="3556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 dirty="0">
                <a:solidFill>
                  <a:srgbClr val="003C78"/>
                </a:solidFill>
              </a:rPr>
              <a:t>MODELI RANDOM SURFER: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A631574-BDA0-47E9-AEEF-776FC4160F4E}"/>
              </a:ext>
            </a:extLst>
          </p:cNvPr>
          <p:cNvSpPr/>
          <p:nvPr/>
        </p:nvSpPr>
        <p:spPr>
          <a:xfrm>
            <a:off x="2032000" y="3048000"/>
            <a:ext cx="635000" cy="635000"/>
          </a:xfrm>
          <a:prstGeom prst="ellipse">
            <a:avLst/>
          </a:prstGeom>
          <a:solidFill>
            <a:srgbClr val="0078D7"/>
          </a:solidFill>
          <a:ln w="25400">
            <a:solidFill>
              <a:srgbClr val="003C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B42C2C-6D6E-4AAE-8500-9FDD0266FA58}"/>
              </a:ext>
            </a:extLst>
          </p:cNvPr>
          <p:cNvSpPr txBox="1"/>
          <p:nvPr/>
        </p:nvSpPr>
        <p:spPr>
          <a:xfrm>
            <a:off x="2095500" y="3200400"/>
            <a:ext cx="508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U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F0C1E1-BE73-430A-869B-C7B61A691324}"/>
              </a:ext>
            </a:extLst>
          </p:cNvPr>
          <p:cNvCxnSpPr/>
          <p:nvPr/>
        </p:nvCxnSpPr>
        <p:spPr>
          <a:xfrm>
            <a:off x="2349500" y="3556000"/>
            <a:ext cx="825500" cy="38100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DC7073-43CF-47FA-B07A-9DAE9FA32BF6}"/>
              </a:ext>
            </a:extLst>
          </p:cNvPr>
          <p:cNvSpPr txBox="1"/>
          <p:nvPr/>
        </p:nvSpPr>
        <p:spPr>
          <a:xfrm>
            <a:off x="698500" y="3810000"/>
            <a:ext cx="3556000" cy="89255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dirty="0">
                <a:solidFill>
                  <a:srgbClr val="142850"/>
                </a:solidFill>
              </a:rPr>
              <a:t>Me </a:t>
            </a:r>
            <a:r>
              <a:rPr lang="en-US" sz="1300" dirty="0" err="1">
                <a:solidFill>
                  <a:srgbClr val="142850"/>
                </a:solidFill>
              </a:rPr>
              <a:t>probabilitet</a:t>
            </a:r>
            <a:r>
              <a:rPr lang="en-US" sz="1300" dirty="0">
                <a:solidFill>
                  <a:srgbClr val="142850"/>
                </a:solidFill>
              </a:rPr>
              <a:t> d = 0.85:</a:t>
            </a:r>
          </a:p>
          <a:p>
            <a:r>
              <a:rPr lang="en-US" sz="1300" dirty="0">
                <a:solidFill>
                  <a:srgbClr val="142850"/>
                </a:solidFill>
              </a:rPr>
              <a:t>   </a:t>
            </a:r>
            <a:r>
              <a:rPr lang="en-US" sz="1300" dirty="0" err="1">
                <a:solidFill>
                  <a:srgbClr val="142850"/>
                </a:solidFill>
              </a:rPr>
              <a:t>Klikon</a:t>
            </a:r>
            <a:r>
              <a:rPr lang="en-US" sz="1300" dirty="0">
                <a:solidFill>
                  <a:srgbClr val="142850"/>
                </a:solidFill>
              </a:rPr>
              <a:t> </a:t>
            </a:r>
            <a:r>
              <a:rPr lang="en-US" sz="1300" dirty="0" err="1">
                <a:solidFill>
                  <a:srgbClr val="142850"/>
                </a:solidFill>
              </a:rPr>
              <a:t>një</a:t>
            </a:r>
            <a:r>
              <a:rPr lang="en-US" sz="1300" dirty="0">
                <a:solidFill>
                  <a:srgbClr val="142850"/>
                </a:solidFill>
              </a:rPr>
              <a:t> </a:t>
            </a:r>
            <a:r>
              <a:rPr lang="en-US" sz="1300" dirty="0" err="1">
                <a:solidFill>
                  <a:srgbClr val="142850"/>
                </a:solidFill>
              </a:rPr>
              <a:t>lidhje</a:t>
            </a:r>
            <a:r>
              <a:rPr lang="en-US" sz="1300" dirty="0">
                <a:solidFill>
                  <a:srgbClr val="142850"/>
                </a:solidFill>
              </a:rPr>
              <a:t> </a:t>
            </a:r>
            <a:r>
              <a:rPr lang="en-US" sz="1300" dirty="0" err="1">
                <a:solidFill>
                  <a:srgbClr val="142850"/>
                </a:solidFill>
              </a:rPr>
              <a:t>të</a:t>
            </a:r>
            <a:r>
              <a:rPr lang="en-US" sz="1300" dirty="0">
                <a:solidFill>
                  <a:srgbClr val="142850"/>
                </a:solidFill>
              </a:rPr>
              <a:t> </a:t>
            </a:r>
            <a:r>
              <a:rPr lang="en-US" sz="1300" dirty="0" err="1">
                <a:solidFill>
                  <a:srgbClr val="142850"/>
                </a:solidFill>
              </a:rPr>
              <a:t>rastësishme</a:t>
            </a:r>
            <a:endParaRPr lang="en-US" sz="1300" dirty="0">
              <a:solidFill>
                <a:srgbClr val="142850"/>
              </a:solidFill>
            </a:endParaRPr>
          </a:p>
          <a:p>
            <a:r>
              <a:rPr lang="en-US" sz="1300" dirty="0">
                <a:solidFill>
                  <a:srgbClr val="142850"/>
                </a:solidFill>
              </a:rPr>
              <a:t>Me </a:t>
            </a:r>
            <a:r>
              <a:rPr lang="en-US" sz="1300" dirty="0" err="1">
                <a:solidFill>
                  <a:srgbClr val="142850"/>
                </a:solidFill>
              </a:rPr>
              <a:t>probabilitet</a:t>
            </a:r>
            <a:r>
              <a:rPr lang="en-US" sz="1300" dirty="0">
                <a:solidFill>
                  <a:srgbClr val="142850"/>
                </a:solidFill>
              </a:rPr>
              <a:t> 1-d = 0.15:</a:t>
            </a:r>
          </a:p>
          <a:p>
            <a:r>
              <a:rPr lang="en-US" sz="1300" dirty="0">
                <a:solidFill>
                  <a:srgbClr val="142850"/>
                </a:solidFill>
              </a:rPr>
              <a:t>   </a:t>
            </a:r>
            <a:r>
              <a:rPr lang="en-US" sz="1300" dirty="0" err="1">
                <a:solidFill>
                  <a:srgbClr val="142850"/>
                </a:solidFill>
              </a:rPr>
              <a:t>Kalon</a:t>
            </a:r>
            <a:r>
              <a:rPr lang="en-US" sz="1300" dirty="0">
                <a:solidFill>
                  <a:srgbClr val="142850"/>
                </a:solidFill>
              </a:rPr>
              <a:t> </a:t>
            </a:r>
            <a:r>
              <a:rPr lang="en-US" sz="1300" dirty="0" err="1">
                <a:solidFill>
                  <a:srgbClr val="142850"/>
                </a:solidFill>
              </a:rPr>
              <a:t>në</a:t>
            </a:r>
            <a:r>
              <a:rPr lang="en-US" sz="1300" dirty="0">
                <a:solidFill>
                  <a:srgbClr val="142850"/>
                </a:solidFill>
              </a:rPr>
              <a:t> </a:t>
            </a:r>
            <a:r>
              <a:rPr lang="en-US" sz="1300" dirty="0" err="1">
                <a:solidFill>
                  <a:srgbClr val="142850"/>
                </a:solidFill>
              </a:rPr>
              <a:t>faqe</a:t>
            </a:r>
            <a:r>
              <a:rPr lang="en-US" sz="1300" dirty="0">
                <a:solidFill>
                  <a:srgbClr val="142850"/>
                </a:solidFill>
              </a:rPr>
              <a:t> </a:t>
            </a:r>
            <a:r>
              <a:rPr lang="en-US" sz="1300" dirty="0" err="1">
                <a:solidFill>
                  <a:srgbClr val="142850"/>
                </a:solidFill>
              </a:rPr>
              <a:t>krejtësisht</a:t>
            </a:r>
            <a:r>
              <a:rPr lang="en-US" sz="1300" dirty="0">
                <a:solidFill>
                  <a:srgbClr val="142850"/>
                </a:solidFill>
              </a:rPr>
              <a:t> </a:t>
            </a:r>
            <a:r>
              <a:rPr lang="en-US" sz="1300" dirty="0" err="1">
                <a:solidFill>
                  <a:srgbClr val="142850"/>
                </a:solidFill>
              </a:rPr>
              <a:t>të</a:t>
            </a:r>
            <a:r>
              <a:rPr lang="en-US" sz="1300" dirty="0">
                <a:solidFill>
                  <a:srgbClr val="142850"/>
                </a:solidFill>
              </a:rPr>
              <a:t> </a:t>
            </a:r>
            <a:r>
              <a:rPr lang="en-US" sz="1300" dirty="0" err="1">
                <a:solidFill>
                  <a:srgbClr val="142850"/>
                </a:solidFill>
              </a:rPr>
              <a:t>rastësishme</a:t>
            </a:r>
            <a:endParaRPr lang="en-US" sz="1300" dirty="0">
              <a:solidFill>
                <a:srgbClr val="142850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4D04D74-A6EC-4A62-82A7-FCB40FFC8FF2}"/>
              </a:ext>
            </a:extLst>
          </p:cNvPr>
          <p:cNvSpPr/>
          <p:nvPr/>
        </p:nvSpPr>
        <p:spPr>
          <a:xfrm>
            <a:off x="4699000" y="2539999"/>
            <a:ext cx="3937000" cy="2719933"/>
          </a:xfrm>
          <a:prstGeom prst="roundRect">
            <a:avLst/>
          </a:prstGeom>
          <a:solidFill>
            <a:srgbClr val="F0FFF0"/>
          </a:solidFill>
          <a:ln w="254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25E910-704E-4E37-BF90-DD6FAAD543F1}"/>
              </a:ext>
            </a:extLst>
          </p:cNvPr>
          <p:cNvSpPr txBox="1"/>
          <p:nvPr/>
        </p:nvSpPr>
        <p:spPr>
          <a:xfrm>
            <a:off x="4889500" y="2667000"/>
            <a:ext cx="3556000" cy="249299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dirty="0">
                <a:solidFill>
                  <a:srgbClr val="005000"/>
                </a:solidFill>
              </a:rPr>
              <a:t>- NJOHURITË KRYESORE:</a:t>
            </a:r>
          </a:p>
          <a:p>
            <a:r>
              <a:rPr lang="en-US" sz="1300" dirty="0">
                <a:solidFill>
                  <a:srgbClr val="005000"/>
                </a:solidFill>
              </a:rPr>
              <a:t>1. </a:t>
            </a:r>
            <a:r>
              <a:rPr lang="en-US" sz="1300" dirty="0" err="1">
                <a:solidFill>
                  <a:srgbClr val="005000"/>
                </a:solidFill>
              </a:rPr>
              <a:t>Faqet</a:t>
            </a:r>
            <a:r>
              <a:rPr lang="en-US" sz="1300" dirty="0">
                <a:solidFill>
                  <a:srgbClr val="005000"/>
                </a:solidFill>
              </a:rPr>
              <a:t> e </a:t>
            </a:r>
            <a:r>
              <a:rPr lang="en-US" sz="1300" dirty="0" err="1">
                <a:solidFill>
                  <a:srgbClr val="005000"/>
                </a:solidFill>
              </a:rPr>
              <a:t>rëndësishme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kanë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shumë</a:t>
            </a:r>
            <a:endParaRPr lang="en-US" sz="1300" dirty="0">
              <a:solidFill>
                <a:srgbClr val="005000"/>
              </a:solidFill>
            </a:endParaRPr>
          </a:p>
          <a:p>
            <a:r>
              <a:rPr lang="en-US" sz="1300" dirty="0">
                <a:solidFill>
                  <a:srgbClr val="005000"/>
                </a:solidFill>
              </a:rPr>
              <a:t>   </a:t>
            </a:r>
            <a:r>
              <a:rPr lang="en-US" sz="1300" dirty="0" err="1">
                <a:solidFill>
                  <a:srgbClr val="005000"/>
                </a:solidFill>
              </a:rPr>
              <a:t>lidhje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hyrëse</a:t>
            </a:r>
            <a:r>
              <a:rPr lang="en-US" sz="1300" dirty="0">
                <a:solidFill>
                  <a:srgbClr val="005000"/>
                </a:solidFill>
              </a:rPr>
              <a:t> (incoming links)</a:t>
            </a:r>
          </a:p>
          <a:p>
            <a:endParaRPr lang="en-US" sz="1300" dirty="0">
              <a:solidFill>
                <a:srgbClr val="005000"/>
              </a:solidFill>
            </a:endParaRPr>
          </a:p>
          <a:p>
            <a:r>
              <a:rPr lang="en-US" sz="1300" dirty="0">
                <a:solidFill>
                  <a:srgbClr val="005000"/>
                </a:solidFill>
              </a:rPr>
              <a:t>2. </a:t>
            </a:r>
            <a:r>
              <a:rPr lang="en-US" sz="1300" dirty="0" err="1">
                <a:solidFill>
                  <a:srgbClr val="005000"/>
                </a:solidFill>
              </a:rPr>
              <a:t>Rëndësia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transferohet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përmes</a:t>
            </a:r>
            <a:endParaRPr lang="en-US" sz="1300" dirty="0">
              <a:solidFill>
                <a:srgbClr val="005000"/>
              </a:solidFill>
            </a:endParaRPr>
          </a:p>
          <a:p>
            <a:r>
              <a:rPr lang="en-US" sz="1300" dirty="0">
                <a:solidFill>
                  <a:srgbClr val="005000"/>
                </a:solidFill>
              </a:rPr>
              <a:t>   </a:t>
            </a:r>
            <a:r>
              <a:rPr lang="en-US" sz="1300" dirty="0" err="1">
                <a:solidFill>
                  <a:srgbClr val="005000"/>
                </a:solidFill>
              </a:rPr>
              <a:t>lidhjeve</a:t>
            </a:r>
            <a:endParaRPr lang="en-US" sz="1300" dirty="0">
              <a:solidFill>
                <a:srgbClr val="005000"/>
              </a:solidFill>
            </a:endParaRPr>
          </a:p>
          <a:p>
            <a:endParaRPr lang="en-US" sz="1300" dirty="0">
              <a:solidFill>
                <a:srgbClr val="005000"/>
              </a:solidFill>
            </a:endParaRPr>
          </a:p>
          <a:p>
            <a:r>
              <a:rPr lang="en-US" sz="1300" dirty="0">
                <a:solidFill>
                  <a:srgbClr val="005000"/>
                </a:solidFill>
              </a:rPr>
              <a:t>3. </a:t>
            </a:r>
            <a:r>
              <a:rPr lang="en-US" sz="1300" dirty="0" err="1">
                <a:solidFill>
                  <a:srgbClr val="005000"/>
                </a:solidFill>
              </a:rPr>
              <a:t>Lidhja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nga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faqe</a:t>
            </a:r>
            <a:r>
              <a:rPr lang="en-US" sz="1300" dirty="0">
                <a:solidFill>
                  <a:srgbClr val="005000"/>
                </a:solidFill>
              </a:rPr>
              <a:t> e </a:t>
            </a:r>
            <a:r>
              <a:rPr lang="en-US" sz="1300" dirty="0" err="1">
                <a:solidFill>
                  <a:srgbClr val="005000"/>
                </a:solidFill>
              </a:rPr>
              <a:t>rëndësishme</a:t>
            </a:r>
            <a:endParaRPr lang="en-US" sz="1300" dirty="0">
              <a:solidFill>
                <a:srgbClr val="005000"/>
              </a:solidFill>
            </a:endParaRPr>
          </a:p>
          <a:p>
            <a:r>
              <a:rPr lang="en-US" sz="1300" dirty="0">
                <a:solidFill>
                  <a:srgbClr val="005000"/>
                </a:solidFill>
              </a:rPr>
              <a:t>   ka </a:t>
            </a:r>
            <a:r>
              <a:rPr lang="en-US" sz="1300" dirty="0" err="1">
                <a:solidFill>
                  <a:srgbClr val="005000"/>
                </a:solidFill>
              </a:rPr>
              <a:t>më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shumë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vlerë</a:t>
            </a:r>
            <a:endParaRPr lang="en-US" sz="1300" dirty="0">
              <a:solidFill>
                <a:srgbClr val="005000"/>
              </a:solidFill>
            </a:endParaRPr>
          </a:p>
          <a:p>
            <a:endParaRPr lang="en-US" sz="1300" dirty="0">
              <a:solidFill>
                <a:srgbClr val="005000"/>
              </a:solidFill>
            </a:endParaRPr>
          </a:p>
          <a:p>
            <a:r>
              <a:rPr lang="en-US" sz="1300" dirty="0">
                <a:solidFill>
                  <a:srgbClr val="005000"/>
                </a:solidFill>
              </a:rPr>
              <a:t>4. </a:t>
            </a:r>
            <a:r>
              <a:rPr lang="en-US" sz="1300" dirty="0" err="1">
                <a:solidFill>
                  <a:srgbClr val="005000"/>
                </a:solidFill>
              </a:rPr>
              <a:t>Algoritmi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konvergon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në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renditje</a:t>
            </a:r>
            <a:endParaRPr lang="en-US" sz="1300" dirty="0">
              <a:solidFill>
                <a:srgbClr val="005000"/>
              </a:solidFill>
            </a:endParaRPr>
          </a:p>
          <a:p>
            <a:r>
              <a:rPr lang="en-US" sz="1300" dirty="0">
                <a:solidFill>
                  <a:srgbClr val="005000"/>
                </a:solidFill>
              </a:rPr>
              <a:t>   </a:t>
            </a:r>
            <a:r>
              <a:rPr lang="en-US" sz="1300" dirty="0" err="1">
                <a:solidFill>
                  <a:srgbClr val="005000"/>
                </a:solidFill>
              </a:rPr>
              <a:t>të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qëndrueshme</a:t>
            </a:r>
            <a:endParaRPr lang="en-US" sz="1300" dirty="0">
              <a:solidFill>
                <a:srgbClr val="005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A17E1A-F60B-4DA4-A680-D48BE82FEFEB}"/>
              </a:ext>
            </a:extLst>
          </p:cNvPr>
          <p:cNvSpPr/>
          <p:nvPr/>
        </p:nvSpPr>
        <p:spPr>
          <a:xfrm>
            <a:off x="508000" y="5456436"/>
            <a:ext cx="8128000" cy="1016000"/>
          </a:xfrm>
          <a:prstGeom prst="rect">
            <a:avLst/>
          </a:prstGeom>
          <a:solidFill>
            <a:srgbClr val="FFF0F5"/>
          </a:solidFill>
          <a:ln w="2540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6A2FD9-C9A2-4222-B0D5-9A50C40E2E6B}"/>
              </a:ext>
            </a:extLst>
          </p:cNvPr>
          <p:cNvSpPr txBox="1"/>
          <p:nvPr/>
        </p:nvSpPr>
        <p:spPr>
          <a:xfrm>
            <a:off x="762000" y="5583436"/>
            <a:ext cx="7620000" cy="6924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dirty="0">
                <a:solidFill>
                  <a:srgbClr val="501428"/>
                </a:solidFill>
              </a:rPr>
              <a:t> APLIKACIONET E PAGERANK:</a:t>
            </a:r>
          </a:p>
          <a:p>
            <a:r>
              <a:rPr lang="en-US" sz="1300" dirty="0">
                <a:solidFill>
                  <a:srgbClr val="501428"/>
                </a:solidFill>
              </a:rPr>
              <a:t> - Google Search - </a:t>
            </a:r>
            <a:r>
              <a:rPr lang="en-US" sz="1300" dirty="0" err="1">
                <a:solidFill>
                  <a:srgbClr val="501428"/>
                </a:solidFill>
              </a:rPr>
              <a:t>renditja</a:t>
            </a:r>
            <a:r>
              <a:rPr lang="en-US" sz="1300" dirty="0">
                <a:solidFill>
                  <a:srgbClr val="501428"/>
                </a:solidFill>
              </a:rPr>
              <a:t> e </a:t>
            </a:r>
            <a:r>
              <a:rPr lang="en-US" sz="1300" dirty="0" err="1">
                <a:solidFill>
                  <a:srgbClr val="501428"/>
                </a:solidFill>
              </a:rPr>
              <a:t>rezultateve</a:t>
            </a:r>
            <a:r>
              <a:rPr lang="en-US" sz="1300" dirty="0">
                <a:solidFill>
                  <a:srgbClr val="501428"/>
                </a:solidFill>
              </a:rPr>
              <a:t>    - </a:t>
            </a:r>
            <a:r>
              <a:rPr lang="en-US" sz="1300" dirty="0" err="1">
                <a:solidFill>
                  <a:srgbClr val="501428"/>
                </a:solidFill>
              </a:rPr>
              <a:t>Zbulimi</a:t>
            </a:r>
            <a:r>
              <a:rPr lang="en-US" sz="1300" dirty="0">
                <a:solidFill>
                  <a:srgbClr val="501428"/>
                </a:solidFill>
              </a:rPr>
              <a:t> </a:t>
            </a:r>
            <a:r>
              <a:rPr lang="en-US" sz="1300" dirty="0" err="1">
                <a:solidFill>
                  <a:srgbClr val="501428"/>
                </a:solidFill>
              </a:rPr>
              <a:t>i</a:t>
            </a:r>
            <a:r>
              <a:rPr lang="en-US" sz="1300" dirty="0">
                <a:solidFill>
                  <a:srgbClr val="501428"/>
                </a:solidFill>
              </a:rPr>
              <a:t> link spam    - </a:t>
            </a:r>
            <a:r>
              <a:rPr lang="en-US" sz="1300" dirty="0" err="1">
                <a:solidFill>
                  <a:srgbClr val="501428"/>
                </a:solidFill>
              </a:rPr>
              <a:t>Analiza</a:t>
            </a:r>
            <a:r>
              <a:rPr lang="en-US" sz="1300" dirty="0">
                <a:solidFill>
                  <a:srgbClr val="501428"/>
                </a:solidFill>
              </a:rPr>
              <a:t> e </a:t>
            </a:r>
            <a:r>
              <a:rPr lang="en-US" sz="1300" dirty="0" err="1">
                <a:solidFill>
                  <a:srgbClr val="501428"/>
                </a:solidFill>
              </a:rPr>
              <a:t>rrjeteve</a:t>
            </a:r>
            <a:r>
              <a:rPr lang="en-US" sz="1300" dirty="0">
                <a:solidFill>
                  <a:srgbClr val="501428"/>
                </a:solidFill>
              </a:rPr>
              <a:t> </a:t>
            </a:r>
            <a:r>
              <a:rPr lang="en-US" sz="1300" dirty="0" err="1">
                <a:solidFill>
                  <a:srgbClr val="501428"/>
                </a:solidFill>
              </a:rPr>
              <a:t>sociale</a:t>
            </a:r>
            <a:endParaRPr lang="en-US" sz="1300" dirty="0">
              <a:solidFill>
                <a:srgbClr val="501428"/>
              </a:solidFill>
            </a:endParaRPr>
          </a:p>
          <a:p>
            <a:r>
              <a:rPr lang="en-US" sz="1300" dirty="0">
                <a:solidFill>
                  <a:srgbClr val="501428"/>
                </a:solidFill>
              </a:rPr>
              <a:t> - </a:t>
            </a:r>
            <a:r>
              <a:rPr lang="en-US" sz="1300" dirty="0" err="1">
                <a:solidFill>
                  <a:srgbClr val="501428"/>
                </a:solidFill>
              </a:rPr>
              <a:t>Sistemet</a:t>
            </a:r>
            <a:r>
              <a:rPr lang="en-US" sz="1300" dirty="0">
                <a:solidFill>
                  <a:srgbClr val="501428"/>
                </a:solidFill>
              </a:rPr>
              <a:t> e </a:t>
            </a:r>
            <a:r>
              <a:rPr lang="en-US" sz="1300" dirty="0" err="1">
                <a:solidFill>
                  <a:srgbClr val="501428"/>
                </a:solidFill>
              </a:rPr>
              <a:t>rekomandimit</a:t>
            </a:r>
            <a:r>
              <a:rPr lang="en-US" sz="1300" dirty="0">
                <a:solidFill>
                  <a:srgbClr val="501428"/>
                </a:solidFill>
              </a:rPr>
              <a:t>    - </a:t>
            </a:r>
            <a:r>
              <a:rPr lang="en-US" sz="1300" dirty="0" err="1">
                <a:solidFill>
                  <a:srgbClr val="501428"/>
                </a:solidFill>
              </a:rPr>
              <a:t>Analiza</a:t>
            </a:r>
            <a:r>
              <a:rPr lang="en-US" sz="1300" dirty="0">
                <a:solidFill>
                  <a:srgbClr val="501428"/>
                </a:solidFill>
              </a:rPr>
              <a:t> e </a:t>
            </a:r>
            <a:r>
              <a:rPr lang="en-US" sz="1300" dirty="0" err="1">
                <a:solidFill>
                  <a:srgbClr val="501428"/>
                </a:solidFill>
              </a:rPr>
              <a:t>citimeve</a:t>
            </a:r>
            <a:r>
              <a:rPr lang="en-US" sz="1300" dirty="0">
                <a:solidFill>
                  <a:srgbClr val="501428"/>
                </a:solidFill>
              </a:rPr>
              <a:t> </a:t>
            </a:r>
            <a:r>
              <a:rPr lang="en-US" sz="1300" dirty="0" err="1">
                <a:solidFill>
                  <a:srgbClr val="501428"/>
                </a:solidFill>
              </a:rPr>
              <a:t>akademike</a:t>
            </a:r>
            <a:r>
              <a:rPr lang="en-US" sz="1300" dirty="0">
                <a:solidFill>
                  <a:srgbClr val="501428"/>
                </a:solidFill>
              </a:rPr>
              <a:t>    - </a:t>
            </a:r>
            <a:r>
              <a:rPr lang="en-US" sz="1300" dirty="0" err="1">
                <a:solidFill>
                  <a:srgbClr val="501428"/>
                </a:solidFill>
              </a:rPr>
              <a:t>Analiza</a:t>
            </a:r>
            <a:r>
              <a:rPr lang="en-US" sz="1300" dirty="0">
                <a:solidFill>
                  <a:srgbClr val="501428"/>
                </a:solidFill>
              </a:rPr>
              <a:t> e </a:t>
            </a:r>
            <a:r>
              <a:rPr lang="en-US" sz="1300" dirty="0" err="1">
                <a:solidFill>
                  <a:srgbClr val="501428"/>
                </a:solidFill>
              </a:rPr>
              <a:t>rrjeteve</a:t>
            </a:r>
            <a:r>
              <a:rPr lang="en-US" sz="1300" dirty="0">
                <a:solidFill>
                  <a:srgbClr val="501428"/>
                </a:solidFill>
              </a:rPr>
              <a:t> </a:t>
            </a:r>
            <a:r>
              <a:rPr lang="en-US" sz="1300" dirty="0" err="1">
                <a:solidFill>
                  <a:srgbClr val="501428"/>
                </a:solidFill>
              </a:rPr>
              <a:t>biologjike</a:t>
            </a:r>
            <a:endParaRPr lang="en-US" sz="1300" dirty="0">
              <a:solidFill>
                <a:srgbClr val="50142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726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F856B8-D200-41F6-AAC2-5B6EE1CD2B28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0CA6E-5440-4A64-9D83-51DE58C98D57}"/>
              </a:ext>
            </a:extLst>
          </p:cNvPr>
          <p:cNvSpPr txBox="1"/>
          <p:nvPr/>
        </p:nvSpPr>
        <p:spPr>
          <a:xfrm>
            <a:off x="254000" y="152400"/>
            <a:ext cx="863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FFFFFF"/>
                </a:solidFill>
              </a:rPr>
              <a:t>ðŸ“ FORMULA MATEMATIKE E PAGERANK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F133E0A-724E-483D-9C4B-80AFD56ED51D}"/>
              </a:ext>
            </a:extLst>
          </p:cNvPr>
          <p:cNvSpPr/>
          <p:nvPr/>
        </p:nvSpPr>
        <p:spPr>
          <a:xfrm>
            <a:off x="1016000" y="1142999"/>
            <a:ext cx="7232454" cy="1668165"/>
          </a:xfrm>
          <a:prstGeom prst="roundRect">
            <a:avLst/>
          </a:prstGeom>
          <a:solidFill>
            <a:srgbClr val="FFFAF0"/>
          </a:solidFill>
          <a:ln w="50800">
            <a:noFill/>
          </a:ln>
          <a:effectLst>
            <a:innerShdw blurRad="63500" dist="50800" dir="5400000">
              <a:prstClr val="black">
                <a:alpha val="50000"/>
              </a:prstClr>
            </a:inn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6F5650-2DE6-4C90-B816-999689F551C9}"/>
              </a:ext>
            </a:extLst>
          </p:cNvPr>
          <p:cNvSpPr txBox="1"/>
          <p:nvPr/>
        </p:nvSpPr>
        <p:spPr>
          <a:xfrm>
            <a:off x="1111250" y="1246535"/>
            <a:ext cx="7175500" cy="138499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BR" sz="2800" b="1" dirty="0">
                <a:solidFill>
                  <a:srgbClr val="500050"/>
                </a:solidFill>
                <a:latin typeface="Cambria Math" panose="02040503050406030204" pitchFamily="18" charset="0"/>
              </a:rPr>
              <a:t>PR(A) = (1 - d) + d Ã— Î£ [PR(Ti) / C(Ti)]</a:t>
            </a:r>
          </a:p>
          <a:p>
            <a:pPr algn="ctr"/>
            <a:endParaRPr lang="pt-BR" sz="2800" b="1" dirty="0">
              <a:solidFill>
                <a:srgbClr val="500050"/>
              </a:solidFill>
              <a:latin typeface="Cambria Math" panose="02040503050406030204" pitchFamily="18" charset="0"/>
            </a:endParaRPr>
          </a:p>
          <a:p>
            <a:pPr algn="ctr"/>
            <a:r>
              <a:rPr lang="pt-BR" sz="2800" b="1" dirty="0">
                <a:solidFill>
                  <a:srgbClr val="500050"/>
                </a:solidFill>
                <a:latin typeface="Cambria Math" panose="02040503050406030204" pitchFamily="18" charset="0"/>
              </a:rPr>
              <a:t>ku   i = 1...n   (të gjitha faqet që lidhen me A)</a:t>
            </a:r>
            <a:endParaRPr lang="en-US" sz="2800" b="1" dirty="0">
              <a:solidFill>
                <a:srgbClr val="500050"/>
              </a:solidFill>
              <a:latin typeface="Cambria Math" panose="02040503050406030204" pitchFamily="18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A88982E-69BF-4FB6-A977-3FA212DE57C8}"/>
              </a:ext>
            </a:extLst>
          </p:cNvPr>
          <p:cNvSpPr/>
          <p:nvPr/>
        </p:nvSpPr>
        <p:spPr>
          <a:xfrm>
            <a:off x="670677" y="3069616"/>
            <a:ext cx="3810000" cy="444500"/>
          </a:xfrm>
          <a:prstGeom prst="roundRect">
            <a:avLst/>
          </a:prstGeom>
          <a:solidFill>
            <a:srgbClr val="DCF0FF"/>
          </a:solidFill>
          <a:ln w="25400">
            <a:solidFill>
              <a:srgbClr val="006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68EEE5-4D4C-4F84-B9E4-5F7C0F778CB8}"/>
              </a:ext>
            </a:extLst>
          </p:cNvPr>
          <p:cNvSpPr txBox="1"/>
          <p:nvPr/>
        </p:nvSpPr>
        <p:spPr>
          <a:xfrm>
            <a:off x="797677" y="3133116"/>
            <a:ext cx="3556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BR" sz="1400" b="1">
                <a:solidFill>
                  <a:srgbClr val="003C78"/>
                </a:solidFill>
              </a:rPr>
              <a:t>PR(A) = PageRank i faqes A</a:t>
            </a:r>
            <a:endParaRPr lang="en-US" sz="1400" b="1">
              <a:solidFill>
                <a:srgbClr val="003C78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AF87BBA-97AB-45C7-907E-142C0F3D2784}"/>
              </a:ext>
            </a:extLst>
          </p:cNvPr>
          <p:cNvSpPr/>
          <p:nvPr/>
        </p:nvSpPr>
        <p:spPr>
          <a:xfrm>
            <a:off x="670677" y="3641116"/>
            <a:ext cx="3810000" cy="444500"/>
          </a:xfrm>
          <a:prstGeom prst="roundRect">
            <a:avLst/>
          </a:prstGeom>
          <a:solidFill>
            <a:srgbClr val="FFF0DC"/>
          </a:solidFill>
          <a:ln w="25400">
            <a:solidFill>
              <a:srgbClr val="FF8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318259-0CD1-4244-B88C-3B9FFCB97C92}"/>
              </a:ext>
            </a:extLst>
          </p:cNvPr>
          <p:cNvSpPr txBox="1"/>
          <p:nvPr/>
        </p:nvSpPr>
        <p:spPr>
          <a:xfrm>
            <a:off x="797677" y="3704616"/>
            <a:ext cx="3556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b="1" dirty="0">
                <a:solidFill>
                  <a:srgbClr val="783C00"/>
                </a:solidFill>
              </a:rPr>
              <a:t>d = </a:t>
            </a:r>
            <a:r>
              <a:rPr lang="en-US" sz="1400" b="1" dirty="0" err="1">
                <a:solidFill>
                  <a:srgbClr val="783C00"/>
                </a:solidFill>
              </a:rPr>
              <a:t>faktori</a:t>
            </a:r>
            <a:r>
              <a:rPr lang="en-US" sz="1400" b="1" dirty="0">
                <a:solidFill>
                  <a:srgbClr val="783C00"/>
                </a:solidFill>
              </a:rPr>
              <a:t> damping (</a:t>
            </a:r>
            <a:r>
              <a:rPr lang="en-US" sz="1400" b="1" dirty="0" err="1">
                <a:solidFill>
                  <a:srgbClr val="783C00"/>
                </a:solidFill>
              </a:rPr>
              <a:t>zakonisht</a:t>
            </a:r>
            <a:r>
              <a:rPr lang="en-US" sz="1400" b="1" dirty="0">
                <a:solidFill>
                  <a:srgbClr val="783C00"/>
                </a:solidFill>
              </a:rPr>
              <a:t> 0.85)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CF6AD70-70C9-4752-BA80-83DA574A7432}"/>
              </a:ext>
            </a:extLst>
          </p:cNvPr>
          <p:cNvSpPr/>
          <p:nvPr/>
        </p:nvSpPr>
        <p:spPr>
          <a:xfrm>
            <a:off x="670677" y="4212616"/>
            <a:ext cx="3810000" cy="444500"/>
          </a:xfrm>
          <a:prstGeom prst="roundRect">
            <a:avLst/>
          </a:prstGeom>
          <a:solidFill>
            <a:srgbClr val="F0FFF0"/>
          </a:solidFill>
          <a:ln w="254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96F834-6423-4DCA-B8C6-0486C0E592D4}"/>
              </a:ext>
            </a:extLst>
          </p:cNvPr>
          <p:cNvSpPr txBox="1"/>
          <p:nvPr/>
        </p:nvSpPr>
        <p:spPr>
          <a:xfrm>
            <a:off x="797677" y="4276116"/>
            <a:ext cx="3556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b="1" dirty="0" err="1">
                <a:solidFill>
                  <a:srgbClr val="005028"/>
                </a:solidFill>
              </a:rPr>
              <a:t>Ti</a:t>
            </a:r>
            <a:r>
              <a:rPr lang="en-US" sz="1400" b="1" dirty="0">
                <a:solidFill>
                  <a:srgbClr val="005028"/>
                </a:solidFill>
              </a:rPr>
              <a:t> = </a:t>
            </a:r>
            <a:r>
              <a:rPr lang="en-US" sz="1400" b="1" dirty="0" err="1">
                <a:solidFill>
                  <a:srgbClr val="005028"/>
                </a:solidFill>
              </a:rPr>
              <a:t>faqet</a:t>
            </a:r>
            <a:r>
              <a:rPr lang="en-US" sz="1400" b="1" dirty="0">
                <a:solidFill>
                  <a:srgbClr val="005028"/>
                </a:solidFill>
              </a:rPr>
              <a:t> </a:t>
            </a:r>
            <a:r>
              <a:rPr lang="en-US" sz="1400" b="1" dirty="0" err="1">
                <a:solidFill>
                  <a:srgbClr val="005028"/>
                </a:solidFill>
              </a:rPr>
              <a:t>që</a:t>
            </a:r>
            <a:r>
              <a:rPr lang="en-US" sz="1400" b="1" dirty="0">
                <a:solidFill>
                  <a:srgbClr val="005028"/>
                </a:solidFill>
              </a:rPr>
              <a:t> </a:t>
            </a:r>
            <a:r>
              <a:rPr lang="en-US" sz="1400" b="1" dirty="0" err="1">
                <a:solidFill>
                  <a:srgbClr val="005028"/>
                </a:solidFill>
              </a:rPr>
              <a:t>lidhen</a:t>
            </a:r>
            <a:r>
              <a:rPr lang="en-US" sz="1400" b="1" dirty="0">
                <a:solidFill>
                  <a:srgbClr val="005028"/>
                </a:solidFill>
              </a:rPr>
              <a:t> me </a:t>
            </a:r>
            <a:r>
              <a:rPr lang="en-US" sz="1400" b="1" dirty="0" err="1">
                <a:solidFill>
                  <a:srgbClr val="005028"/>
                </a:solidFill>
              </a:rPr>
              <a:t>faqen</a:t>
            </a:r>
            <a:r>
              <a:rPr lang="en-US" sz="1400" b="1" dirty="0">
                <a:solidFill>
                  <a:srgbClr val="005028"/>
                </a:solidFill>
              </a:rPr>
              <a:t> A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5FDDDD8-48A2-4B0A-B7EE-461C383349FF}"/>
              </a:ext>
            </a:extLst>
          </p:cNvPr>
          <p:cNvSpPr/>
          <p:nvPr/>
        </p:nvSpPr>
        <p:spPr>
          <a:xfrm>
            <a:off x="670677" y="4784116"/>
            <a:ext cx="3810000" cy="444500"/>
          </a:xfrm>
          <a:prstGeom prst="roundRect">
            <a:avLst/>
          </a:prstGeom>
          <a:solidFill>
            <a:srgbClr val="FFF0FF"/>
          </a:solidFill>
          <a:ln w="25400">
            <a:solidFill>
              <a:srgbClr val="C7158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052A63-9127-470F-9294-B6307E0CD055}"/>
              </a:ext>
            </a:extLst>
          </p:cNvPr>
          <p:cNvSpPr txBox="1"/>
          <p:nvPr/>
        </p:nvSpPr>
        <p:spPr>
          <a:xfrm>
            <a:off x="797677" y="4847616"/>
            <a:ext cx="3556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it-IT" sz="1400" b="1">
                <a:solidFill>
                  <a:srgbClr val="64003C"/>
                </a:solidFill>
              </a:rPr>
              <a:t>C(Ti) = numri i lidhjeve dalÃ«se nga Ti</a:t>
            </a:r>
            <a:endParaRPr lang="en-US" sz="1400" b="1">
              <a:solidFill>
                <a:srgbClr val="64003C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506DE5-4CAC-40EB-95CD-09F121886AB8}"/>
              </a:ext>
            </a:extLst>
          </p:cNvPr>
          <p:cNvSpPr/>
          <p:nvPr/>
        </p:nvSpPr>
        <p:spPr>
          <a:xfrm>
            <a:off x="4699000" y="2921000"/>
            <a:ext cx="3937000" cy="2349500"/>
          </a:xfrm>
          <a:prstGeom prst="roundRect">
            <a:avLst/>
          </a:prstGeom>
          <a:solidFill>
            <a:srgbClr val="FAFAFF"/>
          </a:solidFill>
          <a:ln w="25400">
            <a:solidFill>
              <a:srgbClr val="4B008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00F22C-3A32-4482-B3CA-9FECC85F2FBF}"/>
              </a:ext>
            </a:extLst>
          </p:cNvPr>
          <p:cNvSpPr txBox="1"/>
          <p:nvPr/>
        </p:nvSpPr>
        <p:spPr>
          <a:xfrm>
            <a:off x="5728486" y="3037473"/>
            <a:ext cx="3556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 dirty="0">
                <a:solidFill>
                  <a:srgbClr val="4B0082"/>
                </a:solidFill>
              </a:rPr>
              <a:t>INTERPRETIMI: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7B316C0-DBCC-4319-8176-FA09AF14714E}"/>
              </a:ext>
            </a:extLst>
          </p:cNvPr>
          <p:cNvSpPr/>
          <p:nvPr/>
        </p:nvSpPr>
        <p:spPr>
          <a:xfrm>
            <a:off x="7158217" y="3573164"/>
            <a:ext cx="508000" cy="508000"/>
          </a:xfrm>
          <a:prstGeom prst="ellipse">
            <a:avLst/>
          </a:prstGeom>
          <a:solidFill>
            <a:srgbClr val="FFD700"/>
          </a:solidFill>
          <a:ln w="25400">
            <a:solidFill>
              <a:srgbClr val="C896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CE92DC-A64E-4F23-9B31-70EDA15E4EE6}"/>
              </a:ext>
            </a:extLst>
          </p:cNvPr>
          <p:cNvSpPr txBox="1"/>
          <p:nvPr/>
        </p:nvSpPr>
        <p:spPr>
          <a:xfrm>
            <a:off x="7285217" y="3700164"/>
            <a:ext cx="25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/>
              <a:t>A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2C9672B-342D-4857-AC13-A5BAD9EC9A66}"/>
              </a:ext>
            </a:extLst>
          </p:cNvPr>
          <p:cNvSpPr/>
          <p:nvPr/>
        </p:nvSpPr>
        <p:spPr>
          <a:xfrm>
            <a:off x="5824717" y="3382664"/>
            <a:ext cx="381000" cy="381000"/>
          </a:xfrm>
          <a:prstGeom prst="ellipse">
            <a:avLst/>
          </a:prstGeom>
          <a:solidFill>
            <a:srgbClr val="6496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2E8D592-E06A-4481-BBE3-5DEE39FECB1C}"/>
              </a:ext>
            </a:extLst>
          </p:cNvPr>
          <p:cNvSpPr/>
          <p:nvPr/>
        </p:nvSpPr>
        <p:spPr>
          <a:xfrm>
            <a:off x="5824717" y="3827164"/>
            <a:ext cx="381000" cy="381000"/>
          </a:xfrm>
          <a:prstGeom prst="ellipse">
            <a:avLst/>
          </a:prstGeom>
          <a:solidFill>
            <a:srgbClr val="6496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35C8E51-8E08-47E5-99AA-11B9E3CF704D}"/>
              </a:ext>
            </a:extLst>
          </p:cNvPr>
          <p:cNvSpPr/>
          <p:nvPr/>
        </p:nvSpPr>
        <p:spPr>
          <a:xfrm>
            <a:off x="5824717" y="4271664"/>
            <a:ext cx="381000" cy="381000"/>
          </a:xfrm>
          <a:prstGeom prst="ellipse">
            <a:avLst/>
          </a:prstGeom>
          <a:solidFill>
            <a:srgbClr val="6496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15B260A-5D1B-41F8-A56C-195C401CED39}"/>
              </a:ext>
            </a:extLst>
          </p:cNvPr>
          <p:cNvCxnSpPr/>
          <p:nvPr/>
        </p:nvCxnSpPr>
        <p:spPr>
          <a:xfrm>
            <a:off x="6205717" y="3573164"/>
            <a:ext cx="952500" cy="127000"/>
          </a:xfrm>
          <a:prstGeom prst="straightConnector1">
            <a:avLst/>
          </a:prstGeom>
          <a:ln w="31750">
            <a:solidFill>
              <a:srgbClr val="0078D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535FE90-4573-4D9B-8C60-75129322D1ED}"/>
              </a:ext>
            </a:extLst>
          </p:cNvPr>
          <p:cNvCxnSpPr/>
          <p:nvPr/>
        </p:nvCxnSpPr>
        <p:spPr>
          <a:xfrm flipV="1">
            <a:off x="6205717" y="3890664"/>
            <a:ext cx="952500" cy="127000"/>
          </a:xfrm>
          <a:prstGeom prst="straightConnector1">
            <a:avLst/>
          </a:prstGeom>
          <a:ln w="31750">
            <a:solidFill>
              <a:srgbClr val="0078D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267FC93-5C1C-4F6F-9D83-F4FE48171022}"/>
              </a:ext>
            </a:extLst>
          </p:cNvPr>
          <p:cNvCxnSpPr/>
          <p:nvPr/>
        </p:nvCxnSpPr>
        <p:spPr>
          <a:xfrm flipV="1">
            <a:off x="6205717" y="4081164"/>
            <a:ext cx="1079500" cy="381000"/>
          </a:xfrm>
          <a:prstGeom prst="straightConnector1">
            <a:avLst/>
          </a:prstGeom>
          <a:ln w="31750">
            <a:solidFill>
              <a:srgbClr val="0078D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95AEF1A-B2CB-4873-A15E-8AC3F2883C00}"/>
              </a:ext>
            </a:extLst>
          </p:cNvPr>
          <p:cNvSpPr txBox="1"/>
          <p:nvPr/>
        </p:nvSpPr>
        <p:spPr>
          <a:xfrm>
            <a:off x="5305523" y="4658667"/>
            <a:ext cx="3231954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i="1" dirty="0" err="1">
                <a:solidFill>
                  <a:srgbClr val="3C0050"/>
                </a:solidFill>
              </a:rPr>
              <a:t>Ã‡do</a:t>
            </a:r>
            <a:r>
              <a:rPr lang="en-US" sz="1200" i="1" dirty="0">
                <a:solidFill>
                  <a:srgbClr val="3C0050"/>
                </a:solidFill>
              </a:rPr>
              <a:t> </a:t>
            </a:r>
            <a:r>
              <a:rPr lang="en-US" sz="1200" i="1" dirty="0" err="1">
                <a:solidFill>
                  <a:srgbClr val="3C0050"/>
                </a:solidFill>
              </a:rPr>
              <a:t>lidhje</a:t>
            </a:r>
            <a:r>
              <a:rPr lang="en-US" sz="1200" i="1" dirty="0">
                <a:solidFill>
                  <a:srgbClr val="3C0050"/>
                </a:solidFill>
              </a:rPr>
              <a:t> </a:t>
            </a:r>
            <a:r>
              <a:rPr lang="en-US" sz="1200" i="1" dirty="0" err="1">
                <a:solidFill>
                  <a:srgbClr val="3C0050"/>
                </a:solidFill>
              </a:rPr>
              <a:t>transferon</a:t>
            </a:r>
            <a:r>
              <a:rPr lang="en-US" sz="1200" i="1" dirty="0">
                <a:solidFill>
                  <a:srgbClr val="3C0050"/>
                </a:solidFill>
              </a:rPr>
              <a:t> </a:t>
            </a:r>
            <a:r>
              <a:rPr lang="en-US" sz="1200" i="1" dirty="0" err="1">
                <a:solidFill>
                  <a:srgbClr val="3C0050"/>
                </a:solidFill>
              </a:rPr>
              <a:t>një</a:t>
            </a:r>
            <a:r>
              <a:rPr lang="en-US" sz="1200" i="1" dirty="0">
                <a:solidFill>
                  <a:srgbClr val="3C0050"/>
                </a:solidFill>
              </a:rPr>
              <a:t> </a:t>
            </a:r>
            <a:r>
              <a:rPr lang="en-US" sz="1200" i="1" dirty="0" err="1">
                <a:solidFill>
                  <a:srgbClr val="3C0050"/>
                </a:solidFill>
              </a:rPr>
              <a:t>pjesë</a:t>
            </a:r>
            <a:r>
              <a:rPr lang="en-US" sz="1200" i="1" dirty="0">
                <a:solidFill>
                  <a:srgbClr val="3C0050"/>
                </a:solidFill>
              </a:rPr>
              <a:t> </a:t>
            </a:r>
            <a:r>
              <a:rPr lang="en-US" sz="1200" i="1" dirty="0" err="1">
                <a:solidFill>
                  <a:srgbClr val="3C0050"/>
                </a:solidFill>
              </a:rPr>
              <a:t>të</a:t>
            </a:r>
            <a:endParaRPr lang="en-US" sz="1200" i="1" dirty="0">
              <a:solidFill>
                <a:srgbClr val="3C0050"/>
              </a:solidFill>
            </a:endParaRPr>
          </a:p>
          <a:p>
            <a:r>
              <a:rPr lang="en-US" sz="1200" i="1" dirty="0">
                <a:solidFill>
                  <a:srgbClr val="3C0050"/>
                </a:solidFill>
              </a:rPr>
              <a:t>PageRank-</a:t>
            </a:r>
            <a:r>
              <a:rPr lang="en-US" sz="1200" i="1" dirty="0" err="1">
                <a:solidFill>
                  <a:srgbClr val="3C0050"/>
                </a:solidFill>
              </a:rPr>
              <a:t>ut</a:t>
            </a:r>
            <a:r>
              <a:rPr lang="en-US" sz="1200" i="1" dirty="0">
                <a:solidFill>
                  <a:srgbClr val="3C0050"/>
                </a:solidFill>
              </a:rPr>
              <a:t> </a:t>
            </a:r>
            <a:r>
              <a:rPr lang="en-US" sz="1200" i="1" dirty="0" err="1">
                <a:solidFill>
                  <a:srgbClr val="3C0050"/>
                </a:solidFill>
              </a:rPr>
              <a:t>të</a:t>
            </a:r>
            <a:r>
              <a:rPr lang="en-US" sz="1200" i="1" dirty="0">
                <a:solidFill>
                  <a:srgbClr val="3C0050"/>
                </a:solidFill>
              </a:rPr>
              <a:t> </a:t>
            </a:r>
            <a:r>
              <a:rPr lang="en-US" sz="1200" i="1" dirty="0" err="1">
                <a:solidFill>
                  <a:srgbClr val="3C0050"/>
                </a:solidFill>
              </a:rPr>
              <a:t>faqes</a:t>
            </a:r>
            <a:r>
              <a:rPr lang="en-US" sz="1200" i="1" dirty="0">
                <a:solidFill>
                  <a:srgbClr val="3C0050"/>
                </a:solidFill>
              </a:rPr>
              <a:t> </a:t>
            </a:r>
            <a:r>
              <a:rPr lang="en-US" sz="1200" i="1" dirty="0" err="1">
                <a:solidFill>
                  <a:srgbClr val="3C0050"/>
                </a:solidFill>
              </a:rPr>
              <a:t>burimore</a:t>
            </a:r>
            <a:r>
              <a:rPr lang="en-US" sz="1200" i="1" dirty="0">
                <a:solidFill>
                  <a:srgbClr val="3C0050"/>
                </a:solidFill>
              </a:rPr>
              <a:t>!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DAF1D20-62AE-487D-A896-CC85F2975CD7}"/>
              </a:ext>
            </a:extLst>
          </p:cNvPr>
          <p:cNvSpPr/>
          <p:nvPr/>
        </p:nvSpPr>
        <p:spPr>
          <a:xfrm>
            <a:off x="635000" y="5509692"/>
            <a:ext cx="8001000" cy="825500"/>
          </a:xfrm>
          <a:prstGeom prst="roundRect">
            <a:avLst/>
          </a:prstGeom>
          <a:solidFill>
            <a:srgbClr val="FFFFE0"/>
          </a:solidFill>
          <a:ln w="38100">
            <a:solidFill>
              <a:srgbClr val="B88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B405F1-8EA3-42BE-990E-32402F2AC883}"/>
              </a:ext>
            </a:extLst>
          </p:cNvPr>
          <p:cNvSpPr txBox="1"/>
          <p:nvPr/>
        </p:nvSpPr>
        <p:spPr>
          <a:xfrm>
            <a:off x="889000" y="5665598"/>
            <a:ext cx="7493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 dirty="0">
                <a:solidFill>
                  <a:srgbClr val="644600"/>
                </a:solidFill>
              </a:rPr>
              <a:t>KONVERGJENCA: </a:t>
            </a:r>
            <a:r>
              <a:rPr lang="en-US" sz="1300" b="1" dirty="0" err="1">
                <a:solidFill>
                  <a:srgbClr val="644600"/>
                </a:solidFill>
              </a:rPr>
              <a:t>Algoritmi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përsëritet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derisa</a:t>
            </a:r>
            <a:r>
              <a:rPr lang="en-US" sz="1300" b="1" dirty="0">
                <a:solidFill>
                  <a:srgbClr val="644600"/>
                </a:solidFill>
              </a:rPr>
              <a:t> ||PR(t+1) - PR(t)|| &lt; Îµ</a:t>
            </a:r>
          </a:p>
          <a:p>
            <a:r>
              <a:rPr lang="en-US" sz="1300" b="1" dirty="0">
                <a:solidFill>
                  <a:srgbClr val="644600"/>
                </a:solidFill>
              </a:rPr>
              <a:t>   </a:t>
            </a:r>
            <a:r>
              <a:rPr lang="en-US" sz="1300" b="1" dirty="0" err="1">
                <a:solidFill>
                  <a:srgbClr val="644600"/>
                </a:solidFill>
              </a:rPr>
              <a:t>Zakonisht</a:t>
            </a:r>
            <a:r>
              <a:rPr lang="en-US" sz="1300" b="1" dirty="0">
                <a:solidFill>
                  <a:srgbClr val="644600"/>
                </a:solidFill>
              </a:rPr>
              <a:t> Îµ = 0.000001 (</a:t>
            </a:r>
            <a:r>
              <a:rPr lang="en-US" sz="1300" b="1" dirty="0" err="1">
                <a:solidFill>
                  <a:srgbClr val="644600"/>
                </a:solidFill>
              </a:rPr>
              <a:t>toleranca</a:t>
            </a:r>
            <a:r>
              <a:rPr lang="en-US" sz="1300" b="1" dirty="0">
                <a:solidFill>
                  <a:srgbClr val="644600"/>
                </a:solidFill>
              </a:rPr>
              <a:t>), </a:t>
            </a:r>
            <a:r>
              <a:rPr lang="en-US" sz="1300" b="1" dirty="0" err="1">
                <a:solidFill>
                  <a:srgbClr val="644600"/>
                </a:solidFill>
              </a:rPr>
              <a:t>konvergon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në</a:t>
            </a:r>
            <a:r>
              <a:rPr lang="en-US" sz="1300" b="1" dirty="0">
                <a:solidFill>
                  <a:srgbClr val="644600"/>
                </a:solidFill>
              </a:rPr>
              <a:t> ~20-50 </a:t>
            </a:r>
            <a:r>
              <a:rPr lang="en-US" sz="1300" b="1" dirty="0" err="1">
                <a:solidFill>
                  <a:srgbClr val="644600"/>
                </a:solidFill>
              </a:rPr>
              <a:t>iteracione</a:t>
            </a:r>
            <a:endParaRPr lang="en-US" sz="1300" b="1" dirty="0">
              <a:solidFill>
                <a:srgbClr val="644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0418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F6B70E2-77F0-49DC-9827-7301CC51B479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8B451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4DCC9B-1283-483D-BAA1-111C1DA5237B}"/>
              </a:ext>
            </a:extLst>
          </p:cNvPr>
          <p:cNvSpPr txBox="1"/>
          <p:nvPr/>
        </p:nvSpPr>
        <p:spPr>
          <a:xfrm>
            <a:off x="254000" y="152400"/>
            <a:ext cx="863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FFFFFF"/>
                </a:solidFill>
              </a:rPr>
              <a:t>ðŸ•¸ï¸ STRUKTURA E GRAFIT WEB (Bing Liu, Kap. 11)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7C2A65-521D-47F3-B121-A0CDE3757D6E}"/>
              </a:ext>
            </a:extLst>
          </p:cNvPr>
          <p:cNvSpPr/>
          <p:nvPr/>
        </p:nvSpPr>
        <p:spPr>
          <a:xfrm>
            <a:off x="508000" y="1016000"/>
            <a:ext cx="3937000" cy="2286000"/>
          </a:xfrm>
          <a:prstGeom prst="roundRect">
            <a:avLst/>
          </a:prstGeom>
          <a:solidFill>
            <a:srgbClr val="FFF8F0"/>
          </a:solidFill>
          <a:ln w="25400">
            <a:solidFill>
              <a:srgbClr val="8B451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B73F49-F724-4679-BE98-A539E77FA079}"/>
              </a:ext>
            </a:extLst>
          </p:cNvPr>
          <p:cNvSpPr txBox="1"/>
          <p:nvPr/>
        </p:nvSpPr>
        <p:spPr>
          <a:xfrm>
            <a:off x="698500" y="1143000"/>
            <a:ext cx="3556000" cy="224676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dirty="0">
                <a:solidFill>
                  <a:srgbClr val="502800"/>
                </a:solidFill>
              </a:rPr>
              <a:t>WEB SI GRAF I DREJTUAR:</a:t>
            </a:r>
          </a:p>
          <a:p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Nyjat</a:t>
            </a:r>
            <a:r>
              <a:rPr lang="en-US" sz="1400" dirty="0">
                <a:solidFill>
                  <a:srgbClr val="502800"/>
                </a:solidFill>
              </a:rPr>
              <a:t> (Vertices) = </a:t>
            </a:r>
            <a:r>
              <a:rPr lang="en-US" sz="1400" dirty="0" err="1">
                <a:solidFill>
                  <a:srgbClr val="502800"/>
                </a:solidFill>
              </a:rPr>
              <a:t>Faqet</a:t>
            </a:r>
            <a:r>
              <a:rPr lang="en-US" sz="1400" dirty="0">
                <a:solidFill>
                  <a:srgbClr val="502800"/>
                </a:solidFill>
              </a:rPr>
              <a:t> web</a:t>
            </a:r>
          </a:p>
          <a:p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Skajet</a:t>
            </a:r>
            <a:r>
              <a:rPr lang="en-US" sz="1400" dirty="0">
                <a:solidFill>
                  <a:srgbClr val="502800"/>
                </a:solidFill>
              </a:rPr>
              <a:t> (Edges) = </a:t>
            </a:r>
            <a:r>
              <a:rPr lang="en-US" sz="1400" dirty="0" err="1">
                <a:solidFill>
                  <a:srgbClr val="502800"/>
                </a:solidFill>
              </a:rPr>
              <a:t>Hiperlidhjet</a:t>
            </a:r>
            <a:endParaRPr lang="en-US" sz="1400" dirty="0">
              <a:solidFill>
                <a:srgbClr val="502800"/>
              </a:solidFill>
            </a:endParaRPr>
          </a:p>
          <a:p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Skaj</a:t>
            </a:r>
            <a:r>
              <a:rPr lang="en-US" sz="1400" dirty="0">
                <a:solidFill>
                  <a:srgbClr val="502800"/>
                </a:solidFill>
              </a:rPr>
              <a:t> A â†’ B: </a:t>
            </a:r>
            <a:r>
              <a:rPr lang="en-US" sz="1400" dirty="0" err="1">
                <a:solidFill>
                  <a:srgbClr val="502800"/>
                </a:solidFill>
              </a:rPr>
              <a:t>Faqja</a:t>
            </a:r>
            <a:r>
              <a:rPr lang="en-US" sz="1400" dirty="0">
                <a:solidFill>
                  <a:srgbClr val="502800"/>
                </a:solidFill>
              </a:rPr>
              <a:t> A </a:t>
            </a:r>
            <a:r>
              <a:rPr lang="en-US" sz="1400" dirty="0" err="1">
                <a:solidFill>
                  <a:srgbClr val="502800"/>
                </a:solidFill>
              </a:rPr>
              <a:t>lidhet</a:t>
            </a:r>
            <a:r>
              <a:rPr lang="en-US" sz="1400" dirty="0">
                <a:solidFill>
                  <a:srgbClr val="502800"/>
                </a:solidFill>
              </a:rPr>
              <a:t> me B</a:t>
            </a:r>
          </a:p>
          <a:p>
            <a:endParaRPr lang="en-US" sz="1400" dirty="0">
              <a:solidFill>
                <a:srgbClr val="502800"/>
              </a:solidFill>
            </a:endParaRPr>
          </a:p>
          <a:p>
            <a:r>
              <a:rPr lang="en-US" sz="1400" dirty="0">
                <a:solidFill>
                  <a:srgbClr val="502800"/>
                </a:solidFill>
              </a:rPr>
              <a:t>GRAFI YNË TESTUES:</a:t>
            </a:r>
          </a:p>
          <a:p>
            <a:r>
              <a:rPr lang="en-US" sz="1400" dirty="0">
                <a:solidFill>
                  <a:srgbClr val="502800"/>
                </a:solidFill>
              </a:rPr>
              <a:t> 12 </a:t>
            </a:r>
            <a:r>
              <a:rPr lang="en-US" sz="1400" dirty="0" err="1">
                <a:solidFill>
                  <a:srgbClr val="502800"/>
                </a:solidFill>
              </a:rPr>
              <a:t>faqe</a:t>
            </a:r>
            <a:r>
              <a:rPr lang="en-US" sz="1400" dirty="0">
                <a:solidFill>
                  <a:srgbClr val="502800"/>
                </a:solidFill>
              </a:rPr>
              <a:t> web (</a:t>
            </a:r>
            <a:r>
              <a:rPr lang="en-US" sz="1400" dirty="0" err="1">
                <a:solidFill>
                  <a:srgbClr val="502800"/>
                </a:solidFill>
              </a:rPr>
              <a:t>nyja</a:t>
            </a:r>
            <a:r>
              <a:rPr lang="en-US" sz="1400" dirty="0">
                <a:solidFill>
                  <a:srgbClr val="502800"/>
                </a:solidFill>
              </a:rPr>
              <a:t>)</a:t>
            </a:r>
          </a:p>
          <a:p>
            <a:r>
              <a:rPr lang="en-US" sz="1400" dirty="0">
                <a:solidFill>
                  <a:srgbClr val="502800"/>
                </a:solidFill>
              </a:rPr>
              <a:t> 36 </a:t>
            </a:r>
            <a:r>
              <a:rPr lang="en-US" sz="1400" dirty="0" err="1">
                <a:solidFill>
                  <a:srgbClr val="502800"/>
                </a:solidFill>
              </a:rPr>
              <a:t>hiperlidhje</a:t>
            </a:r>
            <a:r>
              <a:rPr lang="en-US" sz="1400" dirty="0">
                <a:solidFill>
                  <a:srgbClr val="502800"/>
                </a:solidFill>
              </a:rPr>
              <a:t> (</a:t>
            </a:r>
            <a:r>
              <a:rPr lang="en-US" sz="1400" dirty="0" err="1">
                <a:solidFill>
                  <a:srgbClr val="502800"/>
                </a:solidFill>
              </a:rPr>
              <a:t>skaje</a:t>
            </a:r>
            <a:r>
              <a:rPr lang="en-US" sz="1400" dirty="0">
                <a:solidFill>
                  <a:srgbClr val="502800"/>
                </a:solidFill>
              </a:rPr>
              <a:t>)</a:t>
            </a:r>
          </a:p>
          <a:p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Mesatarja</a:t>
            </a:r>
            <a:r>
              <a:rPr lang="en-US" sz="1400" dirty="0">
                <a:solidFill>
                  <a:srgbClr val="502800"/>
                </a:solidFill>
              </a:rPr>
              <a:t>: 3.0 </a:t>
            </a:r>
            <a:r>
              <a:rPr lang="en-US" sz="1400" dirty="0" err="1">
                <a:solidFill>
                  <a:srgbClr val="502800"/>
                </a:solidFill>
              </a:rPr>
              <a:t>lidhje</a:t>
            </a:r>
            <a:r>
              <a:rPr lang="en-US" sz="1400" dirty="0">
                <a:solidFill>
                  <a:srgbClr val="502800"/>
                </a:solidFill>
              </a:rPr>
              <a:t>/</a:t>
            </a:r>
            <a:r>
              <a:rPr lang="en-US" sz="1400" dirty="0" err="1">
                <a:solidFill>
                  <a:srgbClr val="502800"/>
                </a:solidFill>
              </a:rPr>
              <a:t>faqe</a:t>
            </a:r>
            <a:endParaRPr lang="en-US" sz="1400" dirty="0">
              <a:solidFill>
                <a:srgbClr val="502800"/>
              </a:solidFill>
            </a:endParaRPr>
          </a:p>
          <a:p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Densiteti</a:t>
            </a:r>
            <a:r>
              <a:rPr lang="en-US" sz="1400" dirty="0">
                <a:solidFill>
                  <a:srgbClr val="502800"/>
                </a:solidFill>
              </a:rPr>
              <a:t>: 0.273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74B0DAF-DE45-4544-B441-13E9F21AA80E}"/>
              </a:ext>
            </a:extLst>
          </p:cNvPr>
          <p:cNvSpPr/>
          <p:nvPr/>
        </p:nvSpPr>
        <p:spPr>
          <a:xfrm>
            <a:off x="4699000" y="1016000"/>
            <a:ext cx="4191000" cy="2286000"/>
          </a:xfrm>
          <a:prstGeom prst="roundRect">
            <a:avLst/>
          </a:prstGeom>
          <a:solidFill>
            <a:srgbClr val="F5FFFA"/>
          </a:solidFill>
          <a:ln w="25400">
            <a:solidFill>
              <a:srgbClr val="006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27B488-7CC0-4E4F-A4CA-779099FA12F3}"/>
              </a:ext>
            </a:extLst>
          </p:cNvPr>
          <p:cNvSpPr txBox="1"/>
          <p:nvPr/>
        </p:nvSpPr>
        <p:spPr>
          <a:xfrm>
            <a:off x="4889500" y="1143000"/>
            <a:ext cx="3810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b="1" dirty="0">
                <a:solidFill>
                  <a:srgbClr val="005000"/>
                </a:solidFill>
              </a:rPr>
              <a:t>DIAGRAMË E GRAFIT: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A0DADD5-0C78-4051-B4ED-07A5021FBAFE}"/>
              </a:ext>
            </a:extLst>
          </p:cNvPr>
          <p:cNvCxnSpPr/>
          <p:nvPr/>
        </p:nvCxnSpPr>
        <p:spPr>
          <a:xfrm flipV="1">
            <a:off x="6223000" y="1778000"/>
            <a:ext cx="762000" cy="127000"/>
          </a:xfrm>
          <a:prstGeom prst="straightConnector1">
            <a:avLst/>
          </a:prstGeom>
          <a:ln w="25400">
            <a:solidFill>
              <a:srgbClr val="0078D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197A2FB-3A46-450C-9E38-C744A4EBD435}"/>
              </a:ext>
            </a:extLst>
          </p:cNvPr>
          <p:cNvCxnSpPr/>
          <p:nvPr/>
        </p:nvCxnSpPr>
        <p:spPr>
          <a:xfrm>
            <a:off x="7239000" y="1778000"/>
            <a:ext cx="762000" cy="127000"/>
          </a:xfrm>
          <a:prstGeom prst="straightConnector1">
            <a:avLst/>
          </a:prstGeom>
          <a:ln w="25400">
            <a:solidFill>
              <a:srgbClr val="0078D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A217646-A321-4116-AC2B-3015C88C344B}"/>
              </a:ext>
            </a:extLst>
          </p:cNvPr>
          <p:cNvCxnSpPr/>
          <p:nvPr/>
        </p:nvCxnSpPr>
        <p:spPr>
          <a:xfrm>
            <a:off x="6223000" y="2159000"/>
            <a:ext cx="0" cy="381000"/>
          </a:xfrm>
          <a:prstGeom prst="straightConnector1">
            <a:avLst/>
          </a:prstGeom>
          <a:ln w="25400">
            <a:solidFill>
              <a:srgbClr val="FF8C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B2A1B1-99A5-4737-8967-0A751A2CCFFC}"/>
              </a:ext>
            </a:extLst>
          </p:cNvPr>
          <p:cNvCxnSpPr/>
          <p:nvPr/>
        </p:nvCxnSpPr>
        <p:spPr>
          <a:xfrm flipV="1">
            <a:off x="7239000" y="2032000"/>
            <a:ext cx="0" cy="63500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2B2C7F06-9049-4584-A4C0-DEF5C11C3891}"/>
              </a:ext>
            </a:extLst>
          </p:cNvPr>
          <p:cNvSpPr/>
          <p:nvPr/>
        </p:nvSpPr>
        <p:spPr>
          <a:xfrm>
            <a:off x="5969000" y="1651000"/>
            <a:ext cx="508000" cy="508000"/>
          </a:xfrm>
          <a:prstGeom prst="ellipse">
            <a:avLst/>
          </a:prstGeom>
          <a:solidFill>
            <a:srgbClr val="FF6347"/>
          </a:solidFill>
          <a:ln w="254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25E841-F891-4FE3-A9B3-54061B21E4CB}"/>
              </a:ext>
            </a:extLst>
          </p:cNvPr>
          <p:cNvSpPr txBox="1"/>
          <p:nvPr/>
        </p:nvSpPr>
        <p:spPr>
          <a:xfrm>
            <a:off x="6096000" y="1778000"/>
            <a:ext cx="25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P1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17FD881-ACDE-4107-8857-E2FC1FE67EC0}"/>
              </a:ext>
            </a:extLst>
          </p:cNvPr>
          <p:cNvSpPr/>
          <p:nvPr/>
        </p:nvSpPr>
        <p:spPr>
          <a:xfrm>
            <a:off x="6985000" y="1524000"/>
            <a:ext cx="508000" cy="508000"/>
          </a:xfrm>
          <a:prstGeom prst="ellipse">
            <a:avLst/>
          </a:prstGeom>
          <a:solidFill>
            <a:srgbClr val="FF6347"/>
          </a:solidFill>
          <a:ln w="254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82E6C5-5C24-4E8B-96A7-CDE6785CE8DA}"/>
              </a:ext>
            </a:extLst>
          </p:cNvPr>
          <p:cNvSpPr txBox="1"/>
          <p:nvPr/>
        </p:nvSpPr>
        <p:spPr>
          <a:xfrm>
            <a:off x="7112000" y="1651000"/>
            <a:ext cx="25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67830E4-6B59-45AD-B51D-CF1B940FA700}"/>
              </a:ext>
            </a:extLst>
          </p:cNvPr>
          <p:cNvSpPr/>
          <p:nvPr/>
        </p:nvSpPr>
        <p:spPr>
          <a:xfrm>
            <a:off x="8001000" y="1651000"/>
            <a:ext cx="508000" cy="508000"/>
          </a:xfrm>
          <a:prstGeom prst="ellipse">
            <a:avLst/>
          </a:prstGeom>
          <a:solidFill>
            <a:srgbClr val="FF6347"/>
          </a:solidFill>
          <a:ln w="254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A0392E-7503-4B2B-B9F6-AD96536D00A3}"/>
              </a:ext>
            </a:extLst>
          </p:cNvPr>
          <p:cNvSpPr txBox="1"/>
          <p:nvPr/>
        </p:nvSpPr>
        <p:spPr>
          <a:xfrm>
            <a:off x="8128000" y="1778000"/>
            <a:ext cx="25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DA77E42-87B9-4D19-BFFF-91B159CEB821}"/>
              </a:ext>
            </a:extLst>
          </p:cNvPr>
          <p:cNvSpPr/>
          <p:nvPr/>
        </p:nvSpPr>
        <p:spPr>
          <a:xfrm>
            <a:off x="5969000" y="2540000"/>
            <a:ext cx="508000" cy="508000"/>
          </a:xfrm>
          <a:prstGeom prst="ellipse">
            <a:avLst/>
          </a:prstGeom>
          <a:solidFill>
            <a:srgbClr val="6495ED"/>
          </a:solidFill>
          <a:ln w="254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75E885-CDC5-41AB-B78A-91FC5B91B231}"/>
              </a:ext>
            </a:extLst>
          </p:cNvPr>
          <p:cNvSpPr txBox="1"/>
          <p:nvPr/>
        </p:nvSpPr>
        <p:spPr>
          <a:xfrm>
            <a:off x="6096000" y="2667000"/>
            <a:ext cx="25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9A612E0-66B5-4785-A71D-0484FAB8FC83}"/>
              </a:ext>
            </a:extLst>
          </p:cNvPr>
          <p:cNvSpPr/>
          <p:nvPr/>
        </p:nvSpPr>
        <p:spPr>
          <a:xfrm>
            <a:off x="6985000" y="2667000"/>
            <a:ext cx="508000" cy="508000"/>
          </a:xfrm>
          <a:prstGeom prst="ellipse">
            <a:avLst/>
          </a:prstGeom>
          <a:solidFill>
            <a:srgbClr val="6495ED"/>
          </a:solidFill>
          <a:ln w="254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F6C81B-079F-440F-AF02-4C186CFBEBC6}"/>
              </a:ext>
            </a:extLst>
          </p:cNvPr>
          <p:cNvSpPr txBox="1"/>
          <p:nvPr/>
        </p:nvSpPr>
        <p:spPr>
          <a:xfrm>
            <a:off x="7112000" y="2794000"/>
            <a:ext cx="25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6A8E7EB-3890-4209-87C6-2CF60FBE295E}"/>
              </a:ext>
            </a:extLst>
          </p:cNvPr>
          <p:cNvSpPr/>
          <p:nvPr/>
        </p:nvSpPr>
        <p:spPr>
          <a:xfrm>
            <a:off x="8001000" y="2540000"/>
            <a:ext cx="508000" cy="508000"/>
          </a:xfrm>
          <a:prstGeom prst="ellipse">
            <a:avLst/>
          </a:prstGeom>
          <a:solidFill>
            <a:srgbClr val="6495ED"/>
          </a:solidFill>
          <a:ln w="254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4AA86B-3567-4080-9E87-C013A25B92C7}"/>
              </a:ext>
            </a:extLst>
          </p:cNvPr>
          <p:cNvSpPr txBox="1"/>
          <p:nvPr/>
        </p:nvSpPr>
        <p:spPr>
          <a:xfrm>
            <a:off x="8128000" y="2667000"/>
            <a:ext cx="25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EE99F93-8A6D-4234-88AF-DB4032EEBA88}"/>
              </a:ext>
            </a:extLst>
          </p:cNvPr>
          <p:cNvSpPr/>
          <p:nvPr/>
        </p:nvSpPr>
        <p:spPr>
          <a:xfrm>
            <a:off x="508000" y="3556000"/>
            <a:ext cx="8382000" cy="2540000"/>
          </a:xfrm>
          <a:prstGeom prst="roundRect">
            <a:avLst/>
          </a:prstGeom>
          <a:solidFill>
            <a:srgbClr val="F0F8FF"/>
          </a:solidFill>
          <a:ln w="38100">
            <a:solidFill>
              <a:srgbClr val="4682B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265E1B-B8E1-4B54-BAB7-552D8B2647CA}"/>
              </a:ext>
            </a:extLst>
          </p:cNvPr>
          <p:cNvSpPr txBox="1"/>
          <p:nvPr/>
        </p:nvSpPr>
        <p:spPr>
          <a:xfrm>
            <a:off x="698500" y="3683000"/>
            <a:ext cx="8001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 dirty="0">
                <a:solidFill>
                  <a:srgbClr val="003C78"/>
                </a:solidFill>
              </a:rPr>
              <a:t>STRUKTURA BOW-TIE E WEB-IT (Bing Liu, f. 458):</a:t>
            </a:r>
          </a:p>
        </p:txBody>
      </p:sp>
      <p:sp>
        <p:nvSpPr>
          <p:cNvPr id="26" name="Flowchart: Alternate Process 25">
            <a:extLst>
              <a:ext uri="{FF2B5EF4-FFF2-40B4-BE49-F238E27FC236}">
                <a16:creationId xmlns:a16="http://schemas.microsoft.com/office/drawing/2014/main" id="{4B3DF670-A3F5-443F-8C7D-F3B3B2B82366}"/>
              </a:ext>
            </a:extLst>
          </p:cNvPr>
          <p:cNvSpPr/>
          <p:nvPr/>
        </p:nvSpPr>
        <p:spPr>
          <a:xfrm>
            <a:off x="889000" y="4064000"/>
            <a:ext cx="1270000" cy="762000"/>
          </a:xfrm>
          <a:prstGeom prst="flowChartAlternateProcess">
            <a:avLst/>
          </a:prstGeom>
          <a:solidFill>
            <a:srgbClr val="98FB98"/>
          </a:solidFill>
          <a:ln w="25400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3E384D-9E8E-462C-8AA8-A40E9D0BACF7}"/>
              </a:ext>
            </a:extLst>
          </p:cNvPr>
          <p:cNvSpPr txBox="1"/>
          <p:nvPr/>
        </p:nvSpPr>
        <p:spPr>
          <a:xfrm>
            <a:off x="1016000" y="4191000"/>
            <a:ext cx="101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200" b="1" dirty="0"/>
              <a:t>IN</a:t>
            </a:r>
          </a:p>
          <a:p>
            <a:pPr algn="ctr"/>
            <a:r>
              <a:rPr lang="en-US" sz="1200" b="1" dirty="0" err="1"/>
              <a:t>Faqe</a:t>
            </a:r>
            <a:r>
              <a:rPr lang="en-US" sz="1200" b="1" dirty="0"/>
              <a:t> </a:t>
            </a:r>
            <a:r>
              <a:rPr lang="en-US" sz="1200" b="1" dirty="0" err="1"/>
              <a:t>hyrëse</a:t>
            </a:r>
            <a:endParaRPr lang="en-US" sz="1200" b="1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7446CD6-07C1-4F77-A289-A3BDA626A75E}"/>
              </a:ext>
            </a:extLst>
          </p:cNvPr>
          <p:cNvSpPr/>
          <p:nvPr/>
        </p:nvSpPr>
        <p:spPr>
          <a:xfrm>
            <a:off x="2921000" y="3937000"/>
            <a:ext cx="1016000" cy="1016000"/>
          </a:xfrm>
          <a:prstGeom prst="ellipse">
            <a:avLst/>
          </a:prstGeom>
          <a:solidFill>
            <a:srgbClr val="FFD700"/>
          </a:solidFill>
          <a:ln w="38100">
            <a:solidFill>
              <a:srgbClr val="B88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9E9925-0785-41C2-8EFA-109197068B13}"/>
              </a:ext>
            </a:extLst>
          </p:cNvPr>
          <p:cNvSpPr txBox="1"/>
          <p:nvPr/>
        </p:nvSpPr>
        <p:spPr>
          <a:xfrm>
            <a:off x="3048000" y="4254500"/>
            <a:ext cx="762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200" b="1" dirty="0"/>
              <a:t>SCC</a:t>
            </a:r>
          </a:p>
          <a:p>
            <a:pPr algn="ctr"/>
            <a:r>
              <a:rPr lang="en-US" sz="1200" b="1" dirty="0" err="1"/>
              <a:t>Bërthama</a:t>
            </a:r>
            <a:endParaRPr lang="en-US" sz="1200" b="1" dirty="0"/>
          </a:p>
        </p:txBody>
      </p:sp>
      <p:sp>
        <p:nvSpPr>
          <p:cNvPr id="30" name="Flowchart: Alternate Process 29">
            <a:extLst>
              <a:ext uri="{FF2B5EF4-FFF2-40B4-BE49-F238E27FC236}">
                <a16:creationId xmlns:a16="http://schemas.microsoft.com/office/drawing/2014/main" id="{8563C301-E31B-457E-BD3D-4E6FB3A17FEE}"/>
              </a:ext>
            </a:extLst>
          </p:cNvPr>
          <p:cNvSpPr/>
          <p:nvPr/>
        </p:nvSpPr>
        <p:spPr>
          <a:xfrm>
            <a:off x="4699000" y="4064000"/>
            <a:ext cx="1270000" cy="762000"/>
          </a:xfrm>
          <a:prstGeom prst="flowChartAlternateProcess">
            <a:avLst/>
          </a:prstGeom>
          <a:solidFill>
            <a:srgbClr val="FFB6C1"/>
          </a:solidFill>
          <a:ln w="2540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EF1E67-EE2D-475A-9D14-D476B99CE44B}"/>
              </a:ext>
            </a:extLst>
          </p:cNvPr>
          <p:cNvSpPr txBox="1"/>
          <p:nvPr/>
        </p:nvSpPr>
        <p:spPr>
          <a:xfrm>
            <a:off x="4826000" y="4191000"/>
            <a:ext cx="101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200" b="1" dirty="0"/>
              <a:t>OUT</a:t>
            </a:r>
          </a:p>
          <a:p>
            <a:pPr algn="ctr"/>
            <a:r>
              <a:rPr lang="en-US" sz="1200" b="1" dirty="0" err="1"/>
              <a:t>Faqe</a:t>
            </a:r>
            <a:r>
              <a:rPr lang="en-US" sz="1200" b="1" dirty="0"/>
              <a:t> </a:t>
            </a:r>
            <a:r>
              <a:rPr lang="en-US" sz="1200" b="1" dirty="0" err="1"/>
              <a:t>dalëse</a:t>
            </a:r>
            <a:endParaRPr lang="en-US" sz="1200" b="1" dirty="0"/>
          </a:p>
        </p:txBody>
      </p:sp>
      <p:sp>
        <p:nvSpPr>
          <p:cNvPr id="32" name="Flowchart: Process 31">
            <a:extLst>
              <a:ext uri="{FF2B5EF4-FFF2-40B4-BE49-F238E27FC236}">
                <a16:creationId xmlns:a16="http://schemas.microsoft.com/office/drawing/2014/main" id="{094A70F4-131F-4C87-BE41-577AC460668A}"/>
              </a:ext>
            </a:extLst>
          </p:cNvPr>
          <p:cNvSpPr/>
          <p:nvPr/>
        </p:nvSpPr>
        <p:spPr>
          <a:xfrm>
            <a:off x="6731000" y="4191000"/>
            <a:ext cx="1016000" cy="508000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rgbClr val="9400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4466CA-9980-427B-8924-7733FAAD80EF}"/>
              </a:ext>
            </a:extLst>
          </p:cNvPr>
          <p:cNvSpPr txBox="1"/>
          <p:nvPr/>
        </p:nvSpPr>
        <p:spPr>
          <a:xfrm>
            <a:off x="6858000" y="4292600"/>
            <a:ext cx="76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000" b="1"/>
              <a:t>Tendrils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EEA7A81-137A-4DD8-8815-BC78FEC96CFD}"/>
              </a:ext>
            </a:extLst>
          </p:cNvPr>
          <p:cNvCxnSpPr/>
          <p:nvPr/>
        </p:nvCxnSpPr>
        <p:spPr>
          <a:xfrm>
            <a:off x="2159000" y="4445000"/>
            <a:ext cx="762000" cy="0"/>
          </a:xfrm>
          <a:prstGeom prst="straightConnector1">
            <a:avLst/>
          </a:prstGeom>
          <a:ln w="3175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2827B9C-661A-4FDC-B275-D44C4DB13919}"/>
              </a:ext>
            </a:extLst>
          </p:cNvPr>
          <p:cNvCxnSpPr/>
          <p:nvPr/>
        </p:nvCxnSpPr>
        <p:spPr>
          <a:xfrm>
            <a:off x="3937000" y="4445000"/>
            <a:ext cx="762000" cy="0"/>
          </a:xfrm>
          <a:prstGeom prst="straightConnector1">
            <a:avLst/>
          </a:prstGeom>
          <a:ln w="3175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53600AE-AA7A-46A2-A67A-CC80DB181959}"/>
              </a:ext>
            </a:extLst>
          </p:cNvPr>
          <p:cNvSpPr txBox="1"/>
          <p:nvPr/>
        </p:nvSpPr>
        <p:spPr>
          <a:xfrm>
            <a:off x="698500" y="5080000"/>
            <a:ext cx="8001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dirty="0">
                <a:solidFill>
                  <a:srgbClr val="002850"/>
                </a:solidFill>
              </a:rPr>
              <a:t>1. IN: </a:t>
            </a:r>
            <a:r>
              <a:rPr lang="en-US" sz="1200" dirty="0" err="1">
                <a:solidFill>
                  <a:srgbClr val="002850"/>
                </a:solidFill>
              </a:rPr>
              <a:t>Faqe</a:t>
            </a:r>
            <a:r>
              <a:rPr lang="en-US" sz="1200" dirty="0">
                <a:solidFill>
                  <a:srgbClr val="002850"/>
                </a:solidFill>
              </a:rPr>
              <a:t> </a:t>
            </a:r>
            <a:r>
              <a:rPr lang="en-US" sz="1200" dirty="0" err="1">
                <a:solidFill>
                  <a:srgbClr val="002850"/>
                </a:solidFill>
              </a:rPr>
              <a:t>që</a:t>
            </a:r>
            <a:r>
              <a:rPr lang="en-US" sz="1200" dirty="0">
                <a:solidFill>
                  <a:srgbClr val="002850"/>
                </a:solidFill>
              </a:rPr>
              <a:t> </a:t>
            </a:r>
            <a:r>
              <a:rPr lang="en-US" sz="1200" dirty="0" err="1">
                <a:solidFill>
                  <a:srgbClr val="002850"/>
                </a:solidFill>
              </a:rPr>
              <a:t>lidhen</a:t>
            </a:r>
            <a:r>
              <a:rPr lang="en-US" sz="1200" dirty="0">
                <a:solidFill>
                  <a:srgbClr val="002850"/>
                </a:solidFill>
              </a:rPr>
              <a:t> me SCC | 2. SCC: </a:t>
            </a:r>
            <a:r>
              <a:rPr lang="en-US" sz="1200" dirty="0" err="1">
                <a:solidFill>
                  <a:srgbClr val="002850"/>
                </a:solidFill>
              </a:rPr>
              <a:t>Komponenti</a:t>
            </a:r>
            <a:r>
              <a:rPr lang="en-US" sz="1200" dirty="0">
                <a:solidFill>
                  <a:srgbClr val="002850"/>
                </a:solidFill>
              </a:rPr>
              <a:t> </a:t>
            </a:r>
            <a:r>
              <a:rPr lang="en-US" sz="1200" dirty="0" err="1">
                <a:solidFill>
                  <a:srgbClr val="002850"/>
                </a:solidFill>
              </a:rPr>
              <a:t>fortësisht</a:t>
            </a:r>
            <a:r>
              <a:rPr lang="en-US" sz="1200" dirty="0">
                <a:solidFill>
                  <a:srgbClr val="002850"/>
                </a:solidFill>
              </a:rPr>
              <a:t> </a:t>
            </a:r>
            <a:r>
              <a:rPr lang="en-US" sz="1200" dirty="0" err="1">
                <a:solidFill>
                  <a:srgbClr val="002850"/>
                </a:solidFill>
              </a:rPr>
              <a:t>i</a:t>
            </a:r>
            <a:r>
              <a:rPr lang="en-US" sz="1200" dirty="0">
                <a:solidFill>
                  <a:srgbClr val="002850"/>
                </a:solidFill>
              </a:rPr>
              <a:t> </a:t>
            </a:r>
            <a:r>
              <a:rPr lang="en-US" sz="1200" dirty="0" err="1">
                <a:solidFill>
                  <a:srgbClr val="002850"/>
                </a:solidFill>
              </a:rPr>
              <a:t>lidhur</a:t>
            </a:r>
            <a:r>
              <a:rPr lang="en-US" sz="1200" dirty="0">
                <a:solidFill>
                  <a:srgbClr val="002850"/>
                </a:solidFill>
              </a:rPr>
              <a:t> (core) |</a:t>
            </a:r>
          </a:p>
          <a:p>
            <a:r>
              <a:rPr lang="en-US" sz="1200" dirty="0">
                <a:solidFill>
                  <a:srgbClr val="002850"/>
                </a:solidFill>
              </a:rPr>
              <a:t>3. OUT: </a:t>
            </a:r>
            <a:r>
              <a:rPr lang="en-US" sz="1200" dirty="0" err="1">
                <a:solidFill>
                  <a:srgbClr val="002850"/>
                </a:solidFill>
              </a:rPr>
              <a:t>Faqe</a:t>
            </a:r>
            <a:r>
              <a:rPr lang="en-US" sz="1200" dirty="0">
                <a:solidFill>
                  <a:srgbClr val="002850"/>
                </a:solidFill>
              </a:rPr>
              <a:t> </a:t>
            </a:r>
            <a:r>
              <a:rPr lang="en-US" sz="1200" dirty="0" err="1">
                <a:solidFill>
                  <a:srgbClr val="002850"/>
                </a:solidFill>
              </a:rPr>
              <a:t>të</a:t>
            </a:r>
            <a:r>
              <a:rPr lang="en-US" sz="1200" dirty="0">
                <a:solidFill>
                  <a:srgbClr val="002850"/>
                </a:solidFill>
              </a:rPr>
              <a:t> </a:t>
            </a:r>
            <a:r>
              <a:rPr lang="en-US" sz="1200" dirty="0" err="1">
                <a:solidFill>
                  <a:srgbClr val="002850"/>
                </a:solidFill>
              </a:rPr>
              <a:t>lidhura</a:t>
            </a:r>
            <a:r>
              <a:rPr lang="en-US" sz="1200" dirty="0">
                <a:solidFill>
                  <a:srgbClr val="002850"/>
                </a:solidFill>
              </a:rPr>
              <a:t> </a:t>
            </a:r>
            <a:r>
              <a:rPr lang="en-US" sz="1200" dirty="0" err="1">
                <a:solidFill>
                  <a:srgbClr val="002850"/>
                </a:solidFill>
              </a:rPr>
              <a:t>nga</a:t>
            </a:r>
            <a:r>
              <a:rPr lang="en-US" sz="1200" dirty="0">
                <a:solidFill>
                  <a:srgbClr val="002850"/>
                </a:solidFill>
              </a:rPr>
              <a:t> SCC | 4. Tendrils: </a:t>
            </a:r>
            <a:r>
              <a:rPr lang="en-US" sz="1200" dirty="0" err="1">
                <a:solidFill>
                  <a:srgbClr val="002850"/>
                </a:solidFill>
              </a:rPr>
              <a:t>Faqe</a:t>
            </a:r>
            <a:r>
              <a:rPr lang="en-US" sz="1200" dirty="0">
                <a:solidFill>
                  <a:srgbClr val="002850"/>
                </a:solidFill>
              </a:rPr>
              <a:t> </a:t>
            </a:r>
            <a:r>
              <a:rPr lang="en-US" sz="1200" dirty="0" err="1">
                <a:solidFill>
                  <a:srgbClr val="002850"/>
                </a:solidFill>
              </a:rPr>
              <a:t>periferike</a:t>
            </a:r>
            <a:r>
              <a:rPr lang="en-US" sz="1200" dirty="0">
                <a:solidFill>
                  <a:srgbClr val="002850"/>
                </a:solidFill>
              </a:rPr>
              <a:t> |</a:t>
            </a:r>
          </a:p>
          <a:p>
            <a:r>
              <a:rPr lang="en-US" sz="1200" dirty="0">
                <a:solidFill>
                  <a:srgbClr val="002850"/>
                </a:solidFill>
              </a:rPr>
              <a:t>5. Disconnected: </a:t>
            </a:r>
            <a:r>
              <a:rPr lang="en-US" sz="1200" dirty="0" err="1">
                <a:solidFill>
                  <a:srgbClr val="002850"/>
                </a:solidFill>
              </a:rPr>
              <a:t>Komponente</a:t>
            </a:r>
            <a:r>
              <a:rPr lang="en-US" sz="1200" dirty="0">
                <a:solidFill>
                  <a:srgbClr val="002850"/>
                </a:solidFill>
              </a:rPr>
              <a:t> </a:t>
            </a:r>
            <a:r>
              <a:rPr lang="en-US" sz="1200" dirty="0" err="1">
                <a:solidFill>
                  <a:srgbClr val="002850"/>
                </a:solidFill>
              </a:rPr>
              <a:t>të</a:t>
            </a:r>
            <a:r>
              <a:rPr lang="en-US" sz="1200" dirty="0">
                <a:solidFill>
                  <a:srgbClr val="002850"/>
                </a:solidFill>
              </a:rPr>
              <a:t> </a:t>
            </a:r>
            <a:r>
              <a:rPr lang="en-US" sz="1200" dirty="0" err="1">
                <a:solidFill>
                  <a:srgbClr val="002850"/>
                </a:solidFill>
              </a:rPr>
              <a:t>izoluara</a:t>
            </a:r>
            <a:r>
              <a:rPr lang="en-US" sz="1200" dirty="0">
                <a:solidFill>
                  <a:srgbClr val="002850"/>
                </a:solidFill>
              </a:rPr>
              <a:t> (jo </a:t>
            </a:r>
            <a:r>
              <a:rPr lang="en-US" sz="1200" dirty="0" err="1">
                <a:solidFill>
                  <a:srgbClr val="002850"/>
                </a:solidFill>
              </a:rPr>
              <a:t>të</a:t>
            </a:r>
            <a:r>
              <a:rPr lang="en-US" sz="1200" dirty="0">
                <a:solidFill>
                  <a:srgbClr val="002850"/>
                </a:solidFill>
              </a:rPr>
              <a:t> </a:t>
            </a:r>
            <a:r>
              <a:rPr lang="en-US" sz="1200" dirty="0" err="1">
                <a:solidFill>
                  <a:srgbClr val="002850"/>
                </a:solidFill>
              </a:rPr>
              <a:t>treguara</a:t>
            </a:r>
            <a:r>
              <a:rPr lang="en-US" sz="1200" dirty="0">
                <a:solidFill>
                  <a:srgbClr val="00285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898245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95328D6-CE40-4173-B4CF-EEC56B5DDF5E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FF45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9566D0-099C-426D-9241-1BA4E76EDCDC}"/>
              </a:ext>
            </a:extLst>
          </p:cNvPr>
          <p:cNvSpPr txBox="1"/>
          <p:nvPr/>
        </p:nvSpPr>
        <p:spPr>
          <a:xfrm>
            <a:off x="254000" y="152400"/>
            <a:ext cx="863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IMPLEMENTIMI I ALGORITMIT</a:t>
            </a: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380CDA95-DD4F-4F10-AE93-2DB464D5E44F}"/>
              </a:ext>
            </a:extLst>
          </p:cNvPr>
          <p:cNvSpPr/>
          <p:nvPr/>
        </p:nvSpPr>
        <p:spPr>
          <a:xfrm>
            <a:off x="2286000" y="1143000"/>
            <a:ext cx="4572000" cy="762000"/>
          </a:xfrm>
          <a:prstGeom prst="flowChartProcess">
            <a:avLst/>
          </a:prstGeom>
          <a:solidFill>
            <a:srgbClr val="90EE90"/>
          </a:solidFill>
          <a:ln w="31750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6E5B43-5D48-4802-BB63-F2F7336DFDE6}"/>
              </a:ext>
            </a:extLst>
          </p:cNvPr>
          <p:cNvSpPr txBox="1"/>
          <p:nvPr/>
        </p:nvSpPr>
        <p:spPr>
          <a:xfrm>
            <a:off x="2540000" y="1244600"/>
            <a:ext cx="4064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BR" sz="1400" b="1" dirty="0"/>
              <a:t>HAPI 1: INICIALIZIMI</a:t>
            </a:r>
          </a:p>
          <a:p>
            <a:pPr algn="ctr"/>
            <a:r>
              <a:rPr lang="pt-BR" sz="1400" b="1" dirty="0"/>
              <a:t>PR(p) = 1/N për të gjitha faqet p (N = 12)</a:t>
            </a:r>
            <a:endParaRPr lang="en-US" sz="1400" b="1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76685F0-14A2-483C-85D1-D612314D1BC1}"/>
              </a:ext>
            </a:extLst>
          </p:cNvPr>
          <p:cNvCxnSpPr/>
          <p:nvPr/>
        </p:nvCxnSpPr>
        <p:spPr>
          <a:xfrm>
            <a:off x="4572000" y="1905000"/>
            <a:ext cx="0" cy="254000"/>
          </a:xfrm>
          <a:prstGeom prst="straightConnector1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AA1301A2-811B-45A2-A3A1-05B6F4ABD05D}"/>
              </a:ext>
            </a:extLst>
          </p:cNvPr>
          <p:cNvSpPr/>
          <p:nvPr/>
        </p:nvSpPr>
        <p:spPr>
          <a:xfrm>
            <a:off x="2286000" y="2286000"/>
            <a:ext cx="4572000" cy="1016000"/>
          </a:xfrm>
          <a:prstGeom prst="flowChartProcess">
            <a:avLst/>
          </a:prstGeom>
          <a:solidFill>
            <a:srgbClr val="FFDAB9"/>
          </a:solidFill>
          <a:ln w="31750">
            <a:solidFill>
              <a:srgbClr val="FF8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4FDF01-3CBF-4329-AF5A-48468F6E0063}"/>
              </a:ext>
            </a:extLst>
          </p:cNvPr>
          <p:cNvSpPr txBox="1"/>
          <p:nvPr/>
        </p:nvSpPr>
        <p:spPr>
          <a:xfrm>
            <a:off x="2540000" y="2413000"/>
            <a:ext cx="4064000" cy="6924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BR" sz="1300" b="1" dirty="0"/>
              <a:t>HAPI 2: ITERACIONI</a:t>
            </a:r>
          </a:p>
          <a:p>
            <a:pPr algn="ctr"/>
            <a:r>
              <a:rPr lang="pt-BR" sz="1300" b="1" dirty="0"/>
              <a:t>Për çdo faqe p:</a:t>
            </a:r>
          </a:p>
          <a:p>
            <a:pPr algn="ctr"/>
            <a:r>
              <a:rPr lang="pt-BR" sz="1300" b="1" dirty="0"/>
              <a:t>PR_new(p) = (1-d)/N + d Ã— Î£[PR(q)/C(q)]</a:t>
            </a:r>
            <a:endParaRPr lang="en-US" sz="1300" b="1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9094993-3B81-4173-B02D-A034EA91D244}"/>
              </a:ext>
            </a:extLst>
          </p:cNvPr>
          <p:cNvCxnSpPr/>
          <p:nvPr/>
        </p:nvCxnSpPr>
        <p:spPr>
          <a:xfrm>
            <a:off x="4572000" y="3302000"/>
            <a:ext cx="0" cy="254000"/>
          </a:xfrm>
          <a:prstGeom prst="straightConnector1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lowchart: Decision 9">
            <a:extLst>
              <a:ext uri="{FF2B5EF4-FFF2-40B4-BE49-F238E27FC236}">
                <a16:creationId xmlns:a16="http://schemas.microsoft.com/office/drawing/2014/main" id="{72625DC4-CBE8-42D6-A83F-5A7F94C2C5D1}"/>
              </a:ext>
            </a:extLst>
          </p:cNvPr>
          <p:cNvSpPr/>
          <p:nvPr/>
        </p:nvSpPr>
        <p:spPr>
          <a:xfrm>
            <a:off x="2794000" y="3683000"/>
            <a:ext cx="3556000" cy="889000"/>
          </a:xfrm>
          <a:prstGeom prst="flowChartDecision">
            <a:avLst/>
          </a:prstGeom>
          <a:solidFill>
            <a:srgbClr val="FFB6C1"/>
          </a:solidFill>
          <a:ln w="317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81BEF0-36B3-4D3D-A077-817F3431F51A}"/>
              </a:ext>
            </a:extLst>
          </p:cNvPr>
          <p:cNvSpPr txBox="1"/>
          <p:nvPr/>
        </p:nvSpPr>
        <p:spPr>
          <a:xfrm>
            <a:off x="3048000" y="3873500"/>
            <a:ext cx="3048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/>
              <a:t>Î” &lt; Îµ ?</a:t>
            </a:r>
          </a:p>
          <a:p>
            <a:pPr algn="ctr"/>
            <a:r>
              <a:rPr lang="en-US" sz="1400" b="1"/>
              <a:t>(Konvergjuar?)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29E369C-FA2A-49D3-B4E8-77022F973B21}"/>
              </a:ext>
            </a:extLst>
          </p:cNvPr>
          <p:cNvCxnSpPr/>
          <p:nvPr/>
        </p:nvCxnSpPr>
        <p:spPr>
          <a:xfrm flipH="1">
            <a:off x="1905000" y="4127500"/>
            <a:ext cx="889000" cy="0"/>
          </a:xfrm>
          <a:prstGeom prst="bentConnector3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A8E0C6-2C40-4B51-BB76-8FE3FAD9AAA3}"/>
              </a:ext>
            </a:extLst>
          </p:cNvPr>
          <p:cNvCxnSpPr/>
          <p:nvPr/>
        </p:nvCxnSpPr>
        <p:spPr>
          <a:xfrm flipV="1">
            <a:off x="1905000" y="2921000"/>
            <a:ext cx="0" cy="12065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8E8BCEA-CF4B-47D4-8435-067FB1897580}"/>
              </a:ext>
            </a:extLst>
          </p:cNvPr>
          <p:cNvSpPr txBox="1"/>
          <p:nvPr/>
        </p:nvSpPr>
        <p:spPr>
          <a:xfrm>
            <a:off x="1270000" y="3810000"/>
            <a:ext cx="50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0000"/>
                </a:solidFill>
              </a:rPr>
              <a:t>JO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E2AF65-C320-4E09-BD70-90852687FAA5}"/>
              </a:ext>
            </a:extLst>
          </p:cNvPr>
          <p:cNvCxnSpPr/>
          <p:nvPr/>
        </p:nvCxnSpPr>
        <p:spPr>
          <a:xfrm>
            <a:off x="4572000" y="4572000"/>
            <a:ext cx="0" cy="254000"/>
          </a:xfrm>
          <a:prstGeom prst="straightConnector1">
            <a:avLst/>
          </a:prstGeom>
          <a:ln w="317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1590B86-A837-4566-BE20-AF1DB33152A7}"/>
              </a:ext>
            </a:extLst>
          </p:cNvPr>
          <p:cNvSpPr txBox="1"/>
          <p:nvPr/>
        </p:nvSpPr>
        <p:spPr>
          <a:xfrm>
            <a:off x="4699000" y="4572000"/>
            <a:ext cx="50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00B050"/>
                </a:solidFill>
              </a:rPr>
              <a:t>PO</a:t>
            </a:r>
          </a:p>
        </p:txBody>
      </p:sp>
      <p:sp>
        <p:nvSpPr>
          <p:cNvPr id="17" name="Flowchart: Terminator 16">
            <a:extLst>
              <a:ext uri="{FF2B5EF4-FFF2-40B4-BE49-F238E27FC236}">
                <a16:creationId xmlns:a16="http://schemas.microsoft.com/office/drawing/2014/main" id="{5ED16587-AD05-49DE-A3F6-14A0DC912389}"/>
              </a:ext>
            </a:extLst>
          </p:cNvPr>
          <p:cNvSpPr/>
          <p:nvPr/>
        </p:nvSpPr>
        <p:spPr>
          <a:xfrm>
            <a:off x="2921000" y="4953000"/>
            <a:ext cx="3302000" cy="635000"/>
          </a:xfrm>
          <a:prstGeom prst="flowChartTerminator">
            <a:avLst/>
          </a:prstGeom>
          <a:solidFill>
            <a:srgbClr val="6495ED"/>
          </a:solidFill>
          <a:ln w="31750">
            <a:solidFill>
              <a:srgbClr val="00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7A8D01-736E-4279-856E-11A0D3F2F81E}"/>
              </a:ext>
            </a:extLst>
          </p:cNvPr>
          <p:cNvSpPr txBox="1"/>
          <p:nvPr/>
        </p:nvSpPr>
        <p:spPr>
          <a:xfrm>
            <a:off x="3175000" y="5080000"/>
            <a:ext cx="2794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 PËRFUNDIM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22D8AAA-E8EA-4E28-9BD4-7CDB78767077}"/>
              </a:ext>
            </a:extLst>
          </p:cNvPr>
          <p:cNvSpPr/>
          <p:nvPr/>
        </p:nvSpPr>
        <p:spPr>
          <a:xfrm>
            <a:off x="508000" y="6096000"/>
            <a:ext cx="8128000" cy="635000"/>
          </a:xfrm>
          <a:prstGeom prst="roundRect">
            <a:avLst/>
          </a:prstGeom>
          <a:solidFill>
            <a:srgbClr val="F0FFF0"/>
          </a:solidFill>
          <a:ln w="25400">
            <a:solidFill>
              <a:srgbClr val="228B2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38CB6D-15EC-4C3E-AD5C-03B03E2730EE}"/>
              </a:ext>
            </a:extLst>
          </p:cNvPr>
          <p:cNvSpPr txBox="1"/>
          <p:nvPr/>
        </p:nvSpPr>
        <p:spPr>
          <a:xfrm>
            <a:off x="762000" y="6197600"/>
            <a:ext cx="7620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300" b="1" dirty="0" err="1">
                <a:solidFill>
                  <a:srgbClr val="005000"/>
                </a:solidFill>
              </a:rPr>
              <a:t>Konvergjuar</a:t>
            </a:r>
            <a:r>
              <a:rPr lang="en-US" sz="1300" b="1" dirty="0">
                <a:solidFill>
                  <a:srgbClr val="005000"/>
                </a:solidFill>
              </a:rPr>
              <a:t> </a:t>
            </a:r>
            <a:r>
              <a:rPr lang="en-US" sz="1300" b="1" dirty="0" err="1">
                <a:solidFill>
                  <a:srgbClr val="005000"/>
                </a:solidFill>
              </a:rPr>
              <a:t>në</a:t>
            </a:r>
            <a:r>
              <a:rPr lang="en-US" sz="1300" b="1" dirty="0">
                <a:solidFill>
                  <a:srgbClr val="005000"/>
                </a:solidFill>
              </a:rPr>
              <a:t> 19 </a:t>
            </a:r>
            <a:r>
              <a:rPr lang="en-US" sz="1300" b="1" dirty="0" err="1">
                <a:solidFill>
                  <a:srgbClr val="005000"/>
                </a:solidFill>
              </a:rPr>
              <a:t>iteracione</a:t>
            </a:r>
            <a:r>
              <a:rPr lang="en-US" sz="1300" b="1" dirty="0">
                <a:solidFill>
                  <a:srgbClr val="005000"/>
                </a:solidFill>
              </a:rPr>
              <a:t> | d = 0.85 | Îµ = 0.000001 | 12 </a:t>
            </a:r>
            <a:r>
              <a:rPr lang="en-US" sz="1300" b="1" dirty="0" err="1">
                <a:solidFill>
                  <a:srgbClr val="005000"/>
                </a:solidFill>
              </a:rPr>
              <a:t>faqe</a:t>
            </a:r>
            <a:r>
              <a:rPr lang="en-US" sz="1300" b="1" dirty="0">
                <a:solidFill>
                  <a:srgbClr val="005000"/>
                </a:solidFill>
              </a:rPr>
              <a:t> | 36 </a:t>
            </a:r>
            <a:r>
              <a:rPr lang="en-US" sz="1300" b="1" dirty="0" err="1">
                <a:solidFill>
                  <a:srgbClr val="005000"/>
                </a:solidFill>
              </a:rPr>
              <a:t>lidhje</a:t>
            </a:r>
            <a:endParaRPr lang="en-US" sz="1300" b="1" dirty="0">
              <a:solidFill>
                <a:srgbClr val="005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1837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7657BB-43A4-4CE4-9DA4-8B0182319BAF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008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5F609A-9D68-4359-BB00-020C050A165C}"/>
              </a:ext>
            </a:extLst>
          </p:cNvPr>
          <p:cNvSpPr txBox="1"/>
          <p:nvPr/>
        </p:nvSpPr>
        <p:spPr>
          <a:xfrm>
            <a:off x="254000" y="152400"/>
            <a:ext cx="863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REZULTATET E PAGERANK - TË DHËNA REALE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F0A8941-ABF3-4816-8C7E-CFB7D56D0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57600"/>
              </p:ext>
            </p:extLst>
          </p:nvPr>
        </p:nvGraphicFramePr>
        <p:xfrm>
          <a:off x="508000" y="1016000"/>
          <a:ext cx="5080000" cy="48260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66059571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43591544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370687888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3109435097"/>
                    </a:ext>
                  </a:extLst>
                </a:gridCol>
              </a:tblGrid>
              <a:tr h="371231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RANGU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FAQJA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PAGERANK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VIZUALE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4137518"/>
                  </a:ext>
                </a:extLst>
              </a:tr>
              <a:tr h="371231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HomePage</a:t>
                      </a:r>
                    </a:p>
                  </a:txBody>
                  <a:tcPr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>
                          <a:latin typeface="Consolas" panose="020B0609020204030204" pitchFamily="49" charset="0"/>
                        </a:rPr>
                        <a:t>0,2227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rgbClr val="00B050"/>
                          </a:solidFill>
                        </a:rPr>
                        <a:t>âââââââââââ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5272304"/>
                  </a:ext>
                </a:extLst>
              </a:tr>
              <a:tr h="371231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AboutUs</a:t>
                      </a:r>
                    </a:p>
                  </a:txBody>
                  <a:tcPr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>
                          <a:latin typeface="Consolas" panose="020B0609020204030204" pitchFamily="49" charset="0"/>
                        </a:rPr>
                        <a:t>0,1527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rgbClr val="00B050"/>
                          </a:solidFill>
                        </a:rPr>
                        <a:t>âââââââ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169981"/>
                  </a:ext>
                </a:extLst>
              </a:tr>
              <a:tr h="371231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3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Products</a:t>
                      </a:r>
                    </a:p>
                  </a:txBody>
                  <a:tcPr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>
                          <a:latin typeface="Consolas" panose="020B0609020204030204" pitchFamily="49" charset="0"/>
                        </a:rPr>
                        <a:t>0,1353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rgbClr val="00B050"/>
                          </a:solidFill>
                        </a:rPr>
                        <a:t>ââââââ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0406326"/>
                  </a:ext>
                </a:extLst>
              </a:tr>
              <a:tr h="371231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4</a:t>
                      </a:r>
                    </a:p>
                  </a:txBody>
                  <a:tcP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Services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>
                          <a:latin typeface="Consolas" panose="020B0609020204030204" pitchFamily="49" charset="0"/>
                        </a:rPr>
                        <a:t>0,1268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rgbClr val="00B050"/>
                          </a:solidFill>
                        </a:rPr>
                        <a:t>ââââââ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2285"/>
                  </a:ext>
                </a:extLst>
              </a:tr>
              <a:tr h="371231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5</a:t>
                      </a:r>
                    </a:p>
                  </a:txBody>
                  <a:tcP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Contact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>
                          <a:latin typeface="Consolas" panose="020B0609020204030204" pitchFamily="49" charset="0"/>
                        </a:rPr>
                        <a:t>0,0833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rgbClr val="00B050"/>
                          </a:solidFill>
                        </a:rPr>
                        <a:t>ââââ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255260"/>
                  </a:ext>
                </a:extLst>
              </a:tr>
              <a:tr h="371231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6</a:t>
                      </a:r>
                    </a:p>
                  </a:txBody>
                  <a:tcP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Team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>
                          <a:latin typeface="Consolas" panose="020B0609020204030204" pitchFamily="49" charset="0"/>
                        </a:rPr>
                        <a:t>0,0795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rgbClr val="00B050"/>
                          </a:solidFill>
                        </a:rPr>
                        <a:t>âââ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643941"/>
                  </a:ext>
                </a:extLst>
              </a:tr>
              <a:tr h="371231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7</a:t>
                      </a:r>
                    </a:p>
                  </a:txBody>
                  <a:tcPr>
                    <a:solidFill>
                      <a:srgbClr val="CD7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History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>
                          <a:latin typeface="Consolas" panose="020B0609020204030204" pitchFamily="49" charset="0"/>
                        </a:rPr>
                        <a:t>0,0558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rgbClr val="00B050"/>
                          </a:solidFill>
                        </a:rPr>
                        <a:t>ââ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2104682"/>
                  </a:ext>
                </a:extLst>
              </a:tr>
              <a:tr h="371231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8</a:t>
                      </a:r>
                    </a:p>
                  </a:txBody>
                  <a:tcPr>
                    <a:solidFill>
                      <a:srgbClr val="CD7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Reviews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>
                          <a:latin typeface="Consolas" panose="020B0609020204030204" pitchFamily="49" charset="0"/>
                        </a:rPr>
                        <a:t>0,0544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rgbClr val="00B050"/>
                          </a:solidFill>
                        </a:rPr>
                        <a:t>ââ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253502"/>
                  </a:ext>
                </a:extLst>
              </a:tr>
              <a:tr h="371231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9</a:t>
                      </a:r>
                    </a:p>
                  </a:txBody>
                  <a:tcPr>
                    <a:solidFill>
                      <a:srgbClr val="CD7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Pricing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>
                          <a:latin typeface="Consolas" panose="020B0609020204030204" pitchFamily="49" charset="0"/>
                        </a:rPr>
                        <a:t>0,0484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rgbClr val="00B050"/>
                          </a:solidFill>
                        </a:rPr>
                        <a:t>ââ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8108074"/>
                  </a:ext>
                </a:extLst>
              </a:tr>
              <a:tr h="371231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10</a:t>
                      </a:r>
                    </a:p>
                  </a:txBody>
                  <a:tcPr>
                    <a:solidFill>
                      <a:srgbClr val="CD7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FAQ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>
                          <a:latin typeface="Consolas" panose="020B0609020204030204" pitchFamily="49" charset="0"/>
                        </a:rPr>
                        <a:t>0,0160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856462"/>
                  </a:ext>
                </a:extLst>
              </a:tr>
              <a:tr h="371231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11</a:t>
                      </a:r>
                    </a:p>
                  </a:txBody>
                  <a:tcPr>
                    <a:solidFill>
                      <a:srgbClr val="CD7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Support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>
                          <a:latin typeface="Consolas" panose="020B0609020204030204" pitchFamily="49" charset="0"/>
                        </a:rPr>
                        <a:t>0,0125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7475078"/>
                  </a:ext>
                </a:extLst>
              </a:tr>
              <a:tr h="371231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12</a:t>
                      </a:r>
                    </a:p>
                  </a:txBody>
                  <a:tcPr>
                    <a:solidFill>
                      <a:srgbClr val="CD7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Blog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>
                          <a:latin typeface="Consolas" panose="020B0609020204030204" pitchFamily="49" charset="0"/>
                        </a:rPr>
                        <a:t>0,0125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3678030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78ED671-316F-47D0-891E-E9EB2C63C7AD}"/>
              </a:ext>
            </a:extLst>
          </p:cNvPr>
          <p:cNvSpPr/>
          <p:nvPr/>
        </p:nvSpPr>
        <p:spPr>
          <a:xfrm>
            <a:off x="5842000" y="1016000"/>
            <a:ext cx="3048000" cy="482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0BC0C-172A-4BF5-A86E-9C69AC044A76}"/>
              </a:ext>
            </a:extLst>
          </p:cNvPr>
          <p:cNvSpPr txBox="1"/>
          <p:nvPr/>
        </p:nvSpPr>
        <p:spPr>
          <a:xfrm>
            <a:off x="5969000" y="11430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3C78"/>
                </a:solidFill>
              </a:rPr>
              <a:t>GRAFIKU I SHPËRNDARJES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5B78F4-60A3-4064-9635-A57A7294FD6D}"/>
              </a:ext>
            </a:extLst>
          </p:cNvPr>
          <p:cNvSpPr/>
          <p:nvPr/>
        </p:nvSpPr>
        <p:spPr>
          <a:xfrm>
            <a:off x="5969000" y="1587500"/>
            <a:ext cx="2794000" cy="355600"/>
          </a:xfrm>
          <a:prstGeom prst="rect">
            <a:avLst/>
          </a:prstGeom>
          <a:solidFill>
            <a:srgbClr val="E6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7E9589-082F-474C-BB24-477A669139D4}"/>
              </a:ext>
            </a:extLst>
          </p:cNvPr>
          <p:cNvSpPr/>
          <p:nvPr/>
        </p:nvSpPr>
        <p:spPr>
          <a:xfrm>
            <a:off x="5969000" y="1587500"/>
            <a:ext cx="2262632" cy="355600"/>
          </a:xfrm>
          <a:prstGeom prst="rect">
            <a:avLst/>
          </a:prstGeom>
          <a:solidFill>
            <a:srgbClr val="FF63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66E451-39C7-4CE3-8400-728BFB69C06F}"/>
              </a:ext>
            </a:extLst>
          </p:cNvPr>
          <p:cNvSpPr txBox="1"/>
          <p:nvPr/>
        </p:nvSpPr>
        <p:spPr>
          <a:xfrm>
            <a:off x="6032500" y="1651000"/>
            <a:ext cx="127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HomePage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1B14D0-5421-4AAA-80C8-2DE1AF3E1982}"/>
              </a:ext>
            </a:extLst>
          </p:cNvPr>
          <p:cNvSpPr/>
          <p:nvPr/>
        </p:nvSpPr>
        <p:spPr>
          <a:xfrm>
            <a:off x="5969000" y="1993900"/>
            <a:ext cx="2794000" cy="355600"/>
          </a:xfrm>
          <a:prstGeom prst="rect">
            <a:avLst/>
          </a:prstGeom>
          <a:solidFill>
            <a:srgbClr val="E6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F9FD6C-F72F-4D21-B842-2785B4A429B8}"/>
              </a:ext>
            </a:extLst>
          </p:cNvPr>
          <p:cNvSpPr/>
          <p:nvPr/>
        </p:nvSpPr>
        <p:spPr>
          <a:xfrm>
            <a:off x="5969000" y="1993900"/>
            <a:ext cx="1551432" cy="355600"/>
          </a:xfrm>
          <a:prstGeom prst="rect">
            <a:avLst/>
          </a:prstGeom>
          <a:solidFill>
            <a:srgbClr val="FF63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D0655F-AD6A-4EEB-9C06-E25BE51D5083}"/>
              </a:ext>
            </a:extLst>
          </p:cNvPr>
          <p:cNvSpPr txBox="1"/>
          <p:nvPr/>
        </p:nvSpPr>
        <p:spPr>
          <a:xfrm>
            <a:off x="6032500" y="2057400"/>
            <a:ext cx="127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AboutUs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B65341C-BDDF-402E-B350-F7E37C5ECADD}"/>
              </a:ext>
            </a:extLst>
          </p:cNvPr>
          <p:cNvSpPr/>
          <p:nvPr/>
        </p:nvSpPr>
        <p:spPr>
          <a:xfrm>
            <a:off x="5969000" y="2400300"/>
            <a:ext cx="2794000" cy="355600"/>
          </a:xfrm>
          <a:prstGeom prst="rect">
            <a:avLst/>
          </a:prstGeom>
          <a:solidFill>
            <a:srgbClr val="E6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DD8A38-5006-4626-A697-3B24F3D9562D}"/>
              </a:ext>
            </a:extLst>
          </p:cNvPr>
          <p:cNvSpPr/>
          <p:nvPr/>
        </p:nvSpPr>
        <p:spPr>
          <a:xfrm>
            <a:off x="5969000" y="2400300"/>
            <a:ext cx="1374648" cy="355600"/>
          </a:xfrm>
          <a:prstGeom prst="rect">
            <a:avLst/>
          </a:prstGeom>
          <a:solidFill>
            <a:srgbClr val="FF63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D4D2B1-170B-4B6D-81CE-C7C853DFDA91}"/>
              </a:ext>
            </a:extLst>
          </p:cNvPr>
          <p:cNvSpPr txBox="1"/>
          <p:nvPr/>
        </p:nvSpPr>
        <p:spPr>
          <a:xfrm>
            <a:off x="6032500" y="2463800"/>
            <a:ext cx="127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Products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CBCFCBA-CADD-47C3-900F-819D4942A302}"/>
              </a:ext>
            </a:extLst>
          </p:cNvPr>
          <p:cNvSpPr/>
          <p:nvPr/>
        </p:nvSpPr>
        <p:spPr>
          <a:xfrm>
            <a:off x="5969000" y="2806700"/>
            <a:ext cx="2794000" cy="355600"/>
          </a:xfrm>
          <a:prstGeom prst="rect">
            <a:avLst/>
          </a:prstGeom>
          <a:solidFill>
            <a:srgbClr val="E6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368730-91A9-482D-95B2-C5BDD5D49B17}"/>
              </a:ext>
            </a:extLst>
          </p:cNvPr>
          <p:cNvSpPr/>
          <p:nvPr/>
        </p:nvSpPr>
        <p:spPr>
          <a:xfrm>
            <a:off x="5969000" y="2806700"/>
            <a:ext cx="1288288" cy="355600"/>
          </a:xfrm>
          <a:prstGeom prst="rect">
            <a:avLst/>
          </a:prstGeom>
          <a:solidFill>
            <a:srgbClr val="FFA5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8E1BEE-D6F4-42BC-B2AA-9AC8D888A77B}"/>
              </a:ext>
            </a:extLst>
          </p:cNvPr>
          <p:cNvSpPr txBox="1"/>
          <p:nvPr/>
        </p:nvSpPr>
        <p:spPr>
          <a:xfrm>
            <a:off x="6032500" y="2870200"/>
            <a:ext cx="127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Services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205EF8-F8F5-4E03-A02B-10039E7F89A0}"/>
              </a:ext>
            </a:extLst>
          </p:cNvPr>
          <p:cNvSpPr/>
          <p:nvPr/>
        </p:nvSpPr>
        <p:spPr>
          <a:xfrm>
            <a:off x="5969000" y="3213100"/>
            <a:ext cx="2794000" cy="355600"/>
          </a:xfrm>
          <a:prstGeom prst="rect">
            <a:avLst/>
          </a:prstGeom>
          <a:solidFill>
            <a:srgbClr val="E6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0DC3C8-797E-4C96-A293-DF925129A85D}"/>
              </a:ext>
            </a:extLst>
          </p:cNvPr>
          <p:cNvSpPr/>
          <p:nvPr/>
        </p:nvSpPr>
        <p:spPr>
          <a:xfrm>
            <a:off x="5969000" y="3213100"/>
            <a:ext cx="846328" cy="355600"/>
          </a:xfrm>
          <a:prstGeom prst="rect">
            <a:avLst/>
          </a:prstGeom>
          <a:solidFill>
            <a:srgbClr val="FFA5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D18FD3-1433-49A2-B866-D5617266CDEA}"/>
              </a:ext>
            </a:extLst>
          </p:cNvPr>
          <p:cNvSpPr txBox="1"/>
          <p:nvPr/>
        </p:nvSpPr>
        <p:spPr>
          <a:xfrm>
            <a:off x="6032500" y="3276600"/>
            <a:ext cx="127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Contact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CE857A-DAF9-43A4-846F-5EAFD373C92B}"/>
              </a:ext>
            </a:extLst>
          </p:cNvPr>
          <p:cNvSpPr/>
          <p:nvPr/>
        </p:nvSpPr>
        <p:spPr>
          <a:xfrm>
            <a:off x="5969000" y="3619500"/>
            <a:ext cx="2794000" cy="355600"/>
          </a:xfrm>
          <a:prstGeom prst="rect">
            <a:avLst/>
          </a:prstGeom>
          <a:solidFill>
            <a:srgbClr val="E6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03E5437-D7D9-4798-B67B-1C883F67E019}"/>
              </a:ext>
            </a:extLst>
          </p:cNvPr>
          <p:cNvSpPr/>
          <p:nvPr/>
        </p:nvSpPr>
        <p:spPr>
          <a:xfrm>
            <a:off x="5969000" y="3619500"/>
            <a:ext cx="807720" cy="355600"/>
          </a:xfrm>
          <a:prstGeom prst="rect">
            <a:avLst/>
          </a:prstGeom>
          <a:solidFill>
            <a:srgbClr val="FFA5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D1D3D5D-EEC8-497B-8546-D0B2DF8ACB5C}"/>
              </a:ext>
            </a:extLst>
          </p:cNvPr>
          <p:cNvSpPr txBox="1"/>
          <p:nvPr/>
        </p:nvSpPr>
        <p:spPr>
          <a:xfrm>
            <a:off x="6032500" y="3683000"/>
            <a:ext cx="127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Team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65F197F-B9C3-4D03-A690-FD727600A04B}"/>
              </a:ext>
            </a:extLst>
          </p:cNvPr>
          <p:cNvSpPr/>
          <p:nvPr/>
        </p:nvSpPr>
        <p:spPr>
          <a:xfrm>
            <a:off x="5969000" y="4025900"/>
            <a:ext cx="2794000" cy="355600"/>
          </a:xfrm>
          <a:prstGeom prst="rect">
            <a:avLst/>
          </a:prstGeom>
          <a:solidFill>
            <a:srgbClr val="E6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54B2751-4DD5-49B3-B491-87D26B43A01A}"/>
              </a:ext>
            </a:extLst>
          </p:cNvPr>
          <p:cNvSpPr/>
          <p:nvPr/>
        </p:nvSpPr>
        <p:spPr>
          <a:xfrm>
            <a:off x="5969000" y="4025900"/>
            <a:ext cx="566928" cy="355600"/>
          </a:xfrm>
          <a:prstGeom prst="rect">
            <a:avLst/>
          </a:prstGeom>
          <a:solidFill>
            <a:srgbClr val="3CB37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3C295D-3A83-491D-8DA2-6DFEAAF6A5D1}"/>
              </a:ext>
            </a:extLst>
          </p:cNvPr>
          <p:cNvSpPr txBox="1"/>
          <p:nvPr/>
        </p:nvSpPr>
        <p:spPr>
          <a:xfrm>
            <a:off x="6032500" y="4089400"/>
            <a:ext cx="127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History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70BC43-7068-4601-9F59-9D32D5E0BE1B}"/>
              </a:ext>
            </a:extLst>
          </p:cNvPr>
          <p:cNvSpPr/>
          <p:nvPr/>
        </p:nvSpPr>
        <p:spPr>
          <a:xfrm>
            <a:off x="5969000" y="4432300"/>
            <a:ext cx="2794000" cy="355600"/>
          </a:xfrm>
          <a:prstGeom prst="rect">
            <a:avLst/>
          </a:prstGeom>
          <a:solidFill>
            <a:srgbClr val="E6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62DFC6-8323-47A3-A0AD-1777173E377B}"/>
              </a:ext>
            </a:extLst>
          </p:cNvPr>
          <p:cNvSpPr/>
          <p:nvPr/>
        </p:nvSpPr>
        <p:spPr>
          <a:xfrm>
            <a:off x="5969000" y="4432300"/>
            <a:ext cx="552704" cy="355600"/>
          </a:xfrm>
          <a:prstGeom prst="rect">
            <a:avLst/>
          </a:prstGeom>
          <a:solidFill>
            <a:srgbClr val="3CB37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EB83E90-1090-4B06-8A96-45AE3C56AA6C}"/>
              </a:ext>
            </a:extLst>
          </p:cNvPr>
          <p:cNvSpPr txBox="1"/>
          <p:nvPr/>
        </p:nvSpPr>
        <p:spPr>
          <a:xfrm>
            <a:off x="6032500" y="4495800"/>
            <a:ext cx="127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Reviews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1E53445-00A7-48F2-B413-0B2A5156945E}"/>
              </a:ext>
            </a:extLst>
          </p:cNvPr>
          <p:cNvSpPr/>
          <p:nvPr/>
        </p:nvSpPr>
        <p:spPr>
          <a:xfrm>
            <a:off x="5969000" y="4838700"/>
            <a:ext cx="2794000" cy="355600"/>
          </a:xfrm>
          <a:prstGeom prst="rect">
            <a:avLst/>
          </a:prstGeom>
          <a:solidFill>
            <a:srgbClr val="E6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CA144A5-98E1-4954-951F-9B64D50E81DE}"/>
              </a:ext>
            </a:extLst>
          </p:cNvPr>
          <p:cNvSpPr/>
          <p:nvPr/>
        </p:nvSpPr>
        <p:spPr>
          <a:xfrm>
            <a:off x="5969000" y="4838700"/>
            <a:ext cx="491744" cy="355600"/>
          </a:xfrm>
          <a:prstGeom prst="rect">
            <a:avLst/>
          </a:prstGeom>
          <a:solidFill>
            <a:srgbClr val="3CB37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1EDC4EE-3D3E-4D71-8456-6DF176DE7284}"/>
              </a:ext>
            </a:extLst>
          </p:cNvPr>
          <p:cNvSpPr txBox="1"/>
          <p:nvPr/>
        </p:nvSpPr>
        <p:spPr>
          <a:xfrm>
            <a:off x="6032500" y="4902200"/>
            <a:ext cx="127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Pricing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96AD5AF-969F-4427-A6E6-3DCC51057500}"/>
              </a:ext>
            </a:extLst>
          </p:cNvPr>
          <p:cNvSpPr/>
          <p:nvPr/>
        </p:nvSpPr>
        <p:spPr>
          <a:xfrm>
            <a:off x="5969000" y="5245100"/>
            <a:ext cx="2794000" cy="355600"/>
          </a:xfrm>
          <a:prstGeom prst="rect">
            <a:avLst/>
          </a:prstGeom>
          <a:solidFill>
            <a:srgbClr val="E6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B34DFA-8707-4531-9E7D-64E17F5E8632}"/>
              </a:ext>
            </a:extLst>
          </p:cNvPr>
          <p:cNvSpPr/>
          <p:nvPr/>
        </p:nvSpPr>
        <p:spPr>
          <a:xfrm>
            <a:off x="5969000" y="5245100"/>
            <a:ext cx="162560" cy="355600"/>
          </a:xfrm>
          <a:prstGeom prst="rect">
            <a:avLst/>
          </a:prstGeom>
          <a:solidFill>
            <a:srgbClr val="3CB37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72F474-E36D-470D-A337-B3FB90EF10B4}"/>
              </a:ext>
            </a:extLst>
          </p:cNvPr>
          <p:cNvSpPr txBox="1"/>
          <p:nvPr/>
        </p:nvSpPr>
        <p:spPr>
          <a:xfrm>
            <a:off x="6032500" y="5308600"/>
            <a:ext cx="127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FAQ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1AB6BD1-6685-41F5-AD58-541C1D1C057A}"/>
              </a:ext>
            </a:extLst>
          </p:cNvPr>
          <p:cNvSpPr/>
          <p:nvPr/>
        </p:nvSpPr>
        <p:spPr>
          <a:xfrm>
            <a:off x="508000" y="5969000"/>
            <a:ext cx="8382000" cy="635000"/>
          </a:xfrm>
          <a:prstGeom prst="roundRect">
            <a:avLst/>
          </a:prstGeom>
          <a:solidFill>
            <a:srgbClr val="FFFFE0"/>
          </a:solidFill>
          <a:ln w="25400">
            <a:solidFill>
              <a:srgbClr val="DAA5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341CBF-A8FF-4336-A52C-5353D0019485}"/>
              </a:ext>
            </a:extLst>
          </p:cNvPr>
          <p:cNvSpPr txBox="1"/>
          <p:nvPr/>
        </p:nvSpPr>
        <p:spPr>
          <a:xfrm>
            <a:off x="698500" y="6070600"/>
            <a:ext cx="8001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dirty="0">
                <a:solidFill>
                  <a:srgbClr val="644600"/>
                </a:solidFill>
              </a:rPr>
              <a:t>VËZHGIME: </a:t>
            </a:r>
            <a:r>
              <a:rPr lang="en-US" sz="1100" dirty="0" err="1">
                <a:solidFill>
                  <a:srgbClr val="644600"/>
                </a:solidFill>
              </a:rPr>
              <a:t>HomePage</a:t>
            </a:r>
            <a:r>
              <a:rPr lang="en-US" sz="1100" dirty="0">
                <a:solidFill>
                  <a:srgbClr val="644600"/>
                </a:solidFill>
              </a:rPr>
              <a:t> ka PageRank </a:t>
            </a:r>
            <a:r>
              <a:rPr lang="en-US" sz="1100" dirty="0" err="1">
                <a:solidFill>
                  <a:srgbClr val="644600"/>
                </a:solidFill>
              </a:rPr>
              <a:t>më</a:t>
            </a:r>
            <a:r>
              <a:rPr lang="en-US" sz="1100" dirty="0">
                <a:solidFill>
                  <a:srgbClr val="644600"/>
                </a:solidFill>
              </a:rPr>
              <a:t> </a:t>
            </a:r>
            <a:r>
              <a:rPr lang="en-US" sz="1100" dirty="0" err="1">
                <a:solidFill>
                  <a:srgbClr val="644600"/>
                </a:solidFill>
              </a:rPr>
              <a:t>të</a:t>
            </a:r>
            <a:r>
              <a:rPr lang="en-US" sz="1100" dirty="0">
                <a:solidFill>
                  <a:srgbClr val="644600"/>
                </a:solidFill>
              </a:rPr>
              <a:t> </a:t>
            </a:r>
            <a:r>
              <a:rPr lang="en-US" sz="1100" dirty="0" err="1">
                <a:solidFill>
                  <a:srgbClr val="644600"/>
                </a:solidFill>
              </a:rPr>
              <a:t>lartë</a:t>
            </a:r>
            <a:r>
              <a:rPr lang="en-US" sz="1100" dirty="0">
                <a:solidFill>
                  <a:srgbClr val="644600"/>
                </a:solidFill>
              </a:rPr>
              <a:t> (</a:t>
            </a:r>
            <a:r>
              <a:rPr lang="en-US" sz="1100" dirty="0" err="1">
                <a:solidFill>
                  <a:srgbClr val="644600"/>
                </a:solidFill>
              </a:rPr>
              <a:t>qendër</a:t>
            </a:r>
            <a:r>
              <a:rPr lang="en-US" sz="1100" dirty="0">
                <a:solidFill>
                  <a:srgbClr val="644600"/>
                </a:solidFill>
              </a:rPr>
              <a:t> </a:t>
            </a:r>
            <a:r>
              <a:rPr lang="en-US" sz="1100" dirty="0" err="1">
                <a:solidFill>
                  <a:srgbClr val="644600"/>
                </a:solidFill>
              </a:rPr>
              <a:t>kryesore</a:t>
            </a:r>
            <a:r>
              <a:rPr lang="en-US" sz="1100" dirty="0">
                <a:solidFill>
                  <a:srgbClr val="644600"/>
                </a:solidFill>
              </a:rPr>
              <a:t>) | </a:t>
            </a:r>
            <a:r>
              <a:rPr lang="en-US" sz="1100" dirty="0" err="1">
                <a:solidFill>
                  <a:srgbClr val="644600"/>
                </a:solidFill>
              </a:rPr>
              <a:t>Shpërndarja</a:t>
            </a:r>
            <a:r>
              <a:rPr lang="en-US" sz="1100" dirty="0">
                <a:solidFill>
                  <a:srgbClr val="644600"/>
                </a:solidFill>
              </a:rPr>
              <a:t> </a:t>
            </a:r>
            <a:r>
              <a:rPr lang="en-US" sz="1100" dirty="0" err="1">
                <a:solidFill>
                  <a:srgbClr val="644600"/>
                </a:solidFill>
              </a:rPr>
              <a:t>ndjek</a:t>
            </a:r>
            <a:r>
              <a:rPr lang="en-US" sz="1100" dirty="0">
                <a:solidFill>
                  <a:srgbClr val="644600"/>
                </a:solidFill>
              </a:rPr>
              <a:t> </a:t>
            </a:r>
            <a:r>
              <a:rPr lang="en-US" sz="1100" dirty="0" err="1">
                <a:solidFill>
                  <a:srgbClr val="644600"/>
                </a:solidFill>
              </a:rPr>
              <a:t>ligjin</a:t>
            </a:r>
            <a:r>
              <a:rPr lang="en-US" sz="1100" dirty="0">
                <a:solidFill>
                  <a:srgbClr val="644600"/>
                </a:solidFill>
              </a:rPr>
              <a:t> Power-Law | </a:t>
            </a:r>
            <a:r>
              <a:rPr lang="en-US" sz="1100" dirty="0" err="1">
                <a:solidFill>
                  <a:srgbClr val="644600"/>
                </a:solidFill>
              </a:rPr>
              <a:t>Konvergjuar</a:t>
            </a:r>
            <a:r>
              <a:rPr lang="en-US" sz="1100" dirty="0">
                <a:solidFill>
                  <a:srgbClr val="644600"/>
                </a:solidFill>
              </a:rPr>
              <a:t> pas 25 </a:t>
            </a:r>
            <a:r>
              <a:rPr lang="en-US" sz="1100" dirty="0" err="1">
                <a:solidFill>
                  <a:srgbClr val="644600"/>
                </a:solidFill>
              </a:rPr>
              <a:t>iteracioneve</a:t>
            </a:r>
            <a:endParaRPr lang="en-US" sz="1100" dirty="0">
              <a:solidFill>
                <a:srgbClr val="644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39267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F4E66-082F-4394-9C2D-5FDEBB404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20029"/>
            <a:ext cx="7886700" cy="1325563"/>
          </a:xfrm>
        </p:spPr>
        <p:txBody>
          <a:bodyPr/>
          <a:lstStyle/>
          <a:p>
            <a:r>
              <a:rPr lang="en-US" dirty="0"/>
              <a:t>HITS ALGORITHM (Bing Liu, Chapter 10.4)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E8C04F-7664-4C92-BF91-AE83201B5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3809" y="930734"/>
            <a:ext cx="78867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200" dirty="0"/>
              <a:t>HYPERLINK-INDUCED TOPIC SEARCH (HITS):</a:t>
            </a:r>
          </a:p>
          <a:p>
            <a:r>
              <a:rPr lang="en-US" sz="1200" dirty="0"/>
              <a:t>TWO TYPES OF IMPORTANT PAGES:</a:t>
            </a:r>
          </a:p>
          <a:p>
            <a:r>
              <a:rPr lang="en-US" sz="1200" dirty="0"/>
              <a:t>1. AUTHORITIES: Pages with high-quality content</a:t>
            </a:r>
          </a:p>
          <a:p>
            <a:r>
              <a:rPr lang="en-US" sz="1200" dirty="0"/>
              <a:t>    Many incoming links from good hubs</a:t>
            </a:r>
          </a:p>
          <a:p>
            <a:r>
              <a:rPr lang="en-US" sz="1200" dirty="0"/>
              <a:t>    Example: Official product pages, research papers</a:t>
            </a:r>
          </a:p>
          <a:p>
            <a:endParaRPr lang="en-US" sz="1200" dirty="0"/>
          </a:p>
          <a:p>
            <a:r>
              <a:rPr lang="en-US" sz="1200" dirty="0"/>
              <a:t>2. HUBS: Pages that link to many authorities</a:t>
            </a:r>
          </a:p>
          <a:p>
            <a:r>
              <a:rPr lang="en-US" sz="1200" dirty="0"/>
              <a:t>    Many outgoing links to good authorities</a:t>
            </a:r>
          </a:p>
          <a:p>
            <a:r>
              <a:rPr lang="en-US" sz="1200" dirty="0"/>
              <a:t>    Example: Directory pages, resource lists</a:t>
            </a:r>
          </a:p>
          <a:p>
            <a:endParaRPr lang="en-US" sz="1200" dirty="0"/>
          </a:p>
          <a:p>
            <a:r>
              <a:rPr lang="en-US" sz="1200" dirty="0"/>
              <a:t>ITERATIVE FORMULAS:</a:t>
            </a:r>
          </a:p>
          <a:p>
            <a:r>
              <a:rPr lang="en-US" sz="1200" dirty="0"/>
              <a:t>  Auth(p) = Î£ Hub(q)   [for all q linking to p]</a:t>
            </a:r>
          </a:p>
          <a:p>
            <a:r>
              <a:rPr lang="en-US" sz="1200" dirty="0"/>
              <a:t>  Hub(p) = Î£ Auth(q)   [for all q that p links to]</a:t>
            </a:r>
          </a:p>
          <a:p>
            <a:endParaRPr lang="en-US" sz="1200" dirty="0"/>
          </a:p>
          <a:p>
            <a:r>
              <a:rPr lang="en-US" sz="1200" dirty="0"/>
              <a:t>OUR RESULTS:</a:t>
            </a:r>
          </a:p>
          <a:p>
            <a:r>
              <a:rPr lang="en-US" sz="1200" dirty="0"/>
              <a:t>Top Authorities: Products, Services, Reviews</a:t>
            </a:r>
          </a:p>
          <a:p>
            <a:r>
              <a:rPr lang="en-US" sz="1200" dirty="0"/>
              <a:t>Top Hubs: </a:t>
            </a:r>
            <a:r>
              <a:rPr lang="en-US" sz="1200" dirty="0" err="1"/>
              <a:t>HomePage</a:t>
            </a:r>
            <a:r>
              <a:rPr lang="en-US" sz="1200" dirty="0"/>
              <a:t>, Blog, FAQ</a:t>
            </a:r>
          </a:p>
          <a:p>
            <a:endParaRPr lang="en-US" sz="1200" dirty="0"/>
          </a:p>
          <a:p>
            <a:r>
              <a:rPr lang="en-US" sz="1200" dirty="0"/>
              <a:t>DIFFERENCE vs PageRank:</a:t>
            </a:r>
          </a:p>
          <a:p>
            <a:r>
              <a:rPr lang="en-US" sz="1200" dirty="0"/>
              <a:t> HITS: Query-dependent, finds hubs &amp; authorities</a:t>
            </a:r>
          </a:p>
          <a:p>
            <a:r>
              <a:rPr lang="en-US" sz="1200" dirty="0"/>
              <a:t> PageRank: Query-independent, global importance</a:t>
            </a:r>
          </a:p>
        </p:txBody>
      </p:sp>
    </p:spTree>
    <p:extLst>
      <p:ext uri="{BB962C8B-B14F-4D97-AF65-F5344CB8AC3E}">
        <p14:creationId xmlns:p14="http://schemas.microsoft.com/office/powerpoint/2010/main" val="28559307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31A52-9DC7-4E46-A81F-2615FFF97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255"/>
            <a:ext cx="7886700" cy="1325563"/>
          </a:xfrm>
        </p:spPr>
        <p:txBody>
          <a:bodyPr/>
          <a:lstStyle/>
          <a:p>
            <a:r>
              <a:rPr lang="en-US" dirty="0"/>
              <a:t>GRAPH ANALYSIS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666CE0-6174-440C-81A8-82465F7E8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681036"/>
            <a:ext cx="78867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/>
              <a:t>CENTRALITY MEASURES:</a:t>
            </a:r>
          </a:p>
          <a:p>
            <a:r>
              <a:rPr lang="en-US" sz="1200" dirty="0"/>
              <a:t>1. DEGREE CENTRALITY</a:t>
            </a:r>
          </a:p>
          <a:p>
            <a:r>
              <a:rPr lang="en-US" sz="1200" dirty="0"/>
              <a:t>    In-Degree: Number of incoming links</a:t>
            </a:r>
          </a:p>
          <a:p>
            <a:r>
              <a:rPr lang="en-US" sz="1200" dirty="0"/>
              <a:t>    Out-Degree: Number of outgoing links</a:t>
            </a:r>
          </a:p>
          <a:p>
            <a:r>
              <a:rPr lang="en-US" sz="1200" dirty="0"/>
              <a:t>    High in-degree = Popular/Authority page</a:t>
            </a:r>
          </a:p>
          <a:p>
            <a:endParaRPr lang="en-US" sz="1200" dirty="0"/>
          </a:p>
          <a:p>
            <a:r>
              <a:rPr lang="en-US" sz="1200" dirty="0"/>
              <a:t>2. BETWEENNESS CENTRALITY</a:t>
            </a:r>
          </a:p>
          <a:p>
            <a:r>
              <a:rPr lang="en-US" sz="1200" dirty="0"/>
              <a:t>    Measures how often page appears on paths between others</a:t>
            </a:r>
          </a:p>
          <a:p>
            <a:r>
              <a:rPr lang="en-US" sz="1200" dirty="0"/>
              <a:t>    High betweenness = Bridge/Connector page</a:t>
            </a:r>
          </a:p>
          <a:p>
            <a:endParaRPr lang="en-US" sz="1200" dirty="0"/>
          </a:p>
          <a:p>
            <a:r>
              <a:rPr lang="en-US" sz="1200" dirty="0"/>
              <a:t>3. CLUSTERING COEFFICIENT</a:t>
            </a:r>
          </a:p>
          <a:p>
            <a:r>
              <a:rPr lang="en-US" sz="1200" dirty="0"/>
              <a:t>    Measures degree of clustering in graph</a:t>
            </a:r>
          </a:p>
          <a:p>
            <a:r>
              <a:rPr lang="en-US" sz="1200" dirty="0"/>
              <a:t>    High clustering = Tightly connected community</a:t>
            </a:r>
          </a:p>
          <a:p>
            <a:endParaRPr lang="en-US" sz="1200" dirty="0"/>
          </a:p>
          <a:p>
            <a:r>
              <a:rPr lang="en-US" sz="1200" dirty="0"/>
              <a:t>4. PAGERANK</a:t>
            </a:r>
          </a:p>
          <a:p>
            <a:r>
              <a:rPr lang="en-US" sz="1200" dirty="0"/>
              <a:t>    Global importance based on link structure</a:t>
            </a:r>
          </a:p>
          <a:p>
            <a:r>
              <a:rPr lang="en-US" sz="1200" dirty="0"/>
              <a:t>    Accounts for both quantity and quality of links</a:t>
            </a:r>
          </a:p>
          <a:p>
            <a:endParaRPr lang="en-US" sz="1200" dirty="0"/>
          </a:p>
          <a:p>
            <a:r>
              <a:rPr lang="en-US" sz="1200" dirty="0"/>
              <a:t>POWER-LAW DISTRIBUTION (Bing Liu, p. 461):</a:t>
            </a:r>
          </a:p>
          <a:p>
            <a:r>
              <a:rPr lang="en-US" sz="1200" dirty="0"/>
              <a:t> Few pages have very high scores</a:t>
            </a:r>
          </a:p>
          <a:p>
            <a:r>
              <a:rPr lang="en-US" sz="1200" dirty="0"/>
              <a:t> Most pages have low scores</a:t>
            </a:r>
          </a:p>
          <a:p>
            <a:r>
              <a:rPr lang="en-US" sz="1200" dirty="0"/>
              <a:t> Follows P(k) âˆ k^(-Î³) where Î³ â‰ˆ 2-3</a:t>
            </a:r>
          </a:p>
        </p:txBody>
      </p:sp>
    </p:spTree>
    <p:extLst>
      <p:ext uri="{BB962C8B-B14F-4D97-AF65-F5344CB8AC3E}">
        <p14:creationId xmlns:p14="http://schemas.microsoft.com/office/powerpoint/2010/main" val="1281527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C4856-BB2D-4FFB-9076-601A3D30D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1325563"/>
          </a:xfrm>
        </p:spPr>
        <p:txBody>
          <a:bodyPr/>
          <a:lstStyle/>
          <a:p>
            <a:r>
              <a:rPr lang="en-US" dirty="0"/>
              <a:t>REAL-WORLD APPLICATIONS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0F0AC4-4FCF-4685-9D1A-DCAD8BD77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253331"/>
            <a:ext cx="7886700" cy="4351338"/>
          </a:xfrm>
        </p:spPr>
        <p:txBody>
          <a:bodyPr>
            <a:noAutofit/>
          </a:bodyPr>
          <a:lstStyle/>
          <a:p>
            <a:r>
              <a:rPr lang="en-US" sz="1200" dirty="0"/>
              <a:t>SEARCH ENGINES:</a:t>
            </a:r>
          </a:p>
          <a:p>
            <a:r>
              <a:rPr lang="en-US" sz="1200" dirty="0"/>
              <a:t>Google Search: PageRank as primary ranking factor</a:t>
            </a:r>
          </a:p>
          <a:p>
            <a:r>
              <a:rPr lang="en-US" sz="1200" dirty="0"/>
              <a:t>Bing: Modified PageRank algorithms</a:t>
            </a:r>
          </a:p>
          <a:p>
            <a:r>
              <a:rPr lang="en-US" sz="1200" dirty="0"/>
              <a:t>Query-independent global importance scores</a:t>
            </a:r>
          </a:p>
          <a:p>
            <a:endParaRPr lang="en-US" sz="1200" dirty="0"/>
          </a:p>
          <a:p>
            <a:r>
              <a:rPr lang="en-US" sz="1200" dirty="0"/>
              <a:t>SOCIAL NETWORKS:</a:t>
            </a:r>
          </a:p>
          <a:p>
            <a:r>
              <a:rPr lang="en-US" sz="1200" dirty="0"/>
              <a:t>Twitter: Identify influential users</a:t>
            </a:r>
          </a:p>
          <a:p>
            <a:r>
              <a:rPr lang="en-US" sz="1200" dirty="0"/>
              <a:t>Facebook: News feed ranking</a:t>
            </a:r>
          </a:p>
          <a:p>
            <a:r>
              <a:rPr lang="en-US" sz="1200" dirty="0"/>
              <a:t>LinkedIn: Profile visibility and recommendations</a:t>
            </a:r>
          </a:p>
          <a:p>
            <a:endParaRPr lang="en-US" sz="1200" dirty="0"/>
          </a:p>
          <a:p>
            <a:r>
              <a:rPr lang="en-US" sz="1200" dirty="0"/>
              <a:t>LINK SPAM DETECTION:</a:t>
            </a:r>
          </a:p>
          <a:p>
            <a:r>
              <a:rPr lang="en-US" sz="1200" dirty="0" err="1"/>
              <a:t>TrustRank</a:t>
            </a:r>
            <a:r>
              <a:rPr lang="en-US" sz="1200" dirty="0"/>
              <a:t> algorithm (Bing Liu, p. 441)</a:t>
            </a:r>
          </a:p>
          <a:p>
            <a:r>
              <a:rPr lang="en-US" sz="1200" dirty="0"/>
              <a:t>Detect link farms and manipulation</a:t>
            </a:r>
          </a:p>
          <a:p>
            <a:r>
              <a:rPr lang="en-US" sz="1200" dirty="0"/>
              <a:t>Combat search engine spam</a:t>
            </a:r>
          </a:p>
          <a:p>
            <a:endParaRPr lang="en-US" sz="1200" dirty="0"/>
          </a:p>
          <a:p>
            <a:r>
              <a:rPr lang="en-US" sz="1200" dirty="0"/>
              <a:t>OTHER APPLICATIONS:</a:t>
            </a:r>
          </a:p>
          <a:p>
            <a:r>
              <a:rPr lang="en-US" sz="1200" dirty="0"/>
              <a:t>Recommendation Systems: Item importance</a:t>
            </a:r>
          </a:p>
          <a:p>
            <a:r>
              <a:rPr lang="en-US" sz="1200" dirty="0"/>
              <a:t>Citation Analysis: Research paper impact</a:t>
            </a:r>
          </a:p>
          <a:p>
            <a:r>
              <a:rPr lang="en-US" sz="1200" dirty="0"/>
              <a:t>Protein Networks: Identify key proteins</a:t>
            </a:r>
          </a:p>
          <a:p>
            <a:r>
              <a:rPr lang="en-US" sz="1200" dirty="0"/>
              <a:t>Transportation: Traffic flow optimization</a:t>
            </a:r>
          </a:p>
        </p:txBody>
      </p:sp>
    </p:spTree>
    <p:extLst>
      <p:ext uri="{BB962C8B-B14F-4D97-AF65-F5344CB8AC3E}">
        <p14:creationId xmlns:p14="http://schemas.microsoft.com/office/powerpoint/2010/main" val="2157813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4B987-5185-476E-9B56-75987CDE2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22249"/>
            <a:ext cx="7886700" cy="1325563"/>
          </a:xfrm>
        </p:spPr>
        <p:txBody>
          <a:bodyPr/>
          <a:lstStyle/>
          <a:p>
            <a:r>
              <a:rPr lang="en-US" dirty="0"/>
              <a:t>PYTHON IMPLEMENTATION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944B1A-089C-4B34-AEA8-2689AD2D9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6A8C9F-0B05-4697-A4C6-4A0F4788AB82}"/>
              </a:ext>
            </a:extLst>
          </p:cNvPr>
          <p:cNvSpPr/>
          <p:nvPr/>
        </p:nvSpPr>
        <p:spPr>
          <a:xfrm>
            <a:off x="508000" y="1270000"/>
            <a:ext cx="8240074" cy="5080000"/>
          </a:xfrm>
          <a:prstGeom prst="rect">
            <a:avLst/>
          </a:prstGeom>
          <a:solidFill>
            <a:srgbClr val="1E1E1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0B73DF-A705-41A5-AB26-0134F832E95E}"/>
              </a:ext>
            </a:extLst>
          </p:cNvPr>
          <p:cNvSpPr txBox="1"/>
          <p:nvPr/>
        </p:nvSpPr>
        <p:spPr>
          <a:xfrm>
            <a:off x="635000" y="1397000"/>
            <a:ext cx="8890000" cy="432426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# PageRank Implementation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def calculate_pagerank(graph, d=0.85, max_iter=100):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N = len(graph)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pagerank = {page: 1/N for page in graph}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for iteration in range(max_iter):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new_pr = {}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for page in graph: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    # Teleportation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    rank = (1 - d) / N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    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    # Link contributions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    for inbound in inbound_links[page]: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        out_count = len(graph[inbound])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        rank += d * pagerank[inbound] / out_count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    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    new_pr[page] = rank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# Check convergence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if converged(pagerank, new_pr):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    break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    pagerank = new_pr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1100">
                <a:solidFill>
                  <a:srgbClr val="DCDCDC"/>
                </a:solidFill>
                <a:latin typeface="Consolas" panose="020B0609020204030204" pitchFamily="49" charset="0"/>
              </a:rPr>
              <a:t>    return pagerank</a:t>
            </a:r>
          </a:p>
        </p:txBody>
      </p:sp>
    </p:spTree>
    <p:extLst>
      <p:ext uri="{BB962C8B-B14F-4D97-AF65-F5344CB8AC3E}">
        <p14:creationId xmlns:p14="http://schemas.microsoft.com/office/powerpoint/2010/main" val="859660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848C8-998C-44FB-831F-39FA716EE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57736"/>
            <a:ext cx="7886700" cy="1325563"/>
          </a:xfrm>
        </p:spPr>
        <p:txBody>
          <a:bodyPr/>
          <a:lstStyle/>
          <a:p>
            <a:r>
              <a:rPr lang="en-US" dirty="0"/>
              <a:t>CONCLUSIONS &amp; 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BAE373-D528-4FA3-8C55-1052265E0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26005"/>
            <a:ext cx="7886700" cy="4351338"/>
          </a:xfrm>
        </p:spPr>
        <p:txBody>
          <a:bodyPr>
            <a:noAutofit/>
          </a:bodyPr>
          <a:lstStyle/>
          <a:p>
            <a:r>
              <a:rPr lang="en-US" sz="1200" dirty="0"/>
              <a:t>KEY CONCEPTS MASTERED:</a:t>
            </a:r>
          </a:p>
          <a:p>
            <a:r>
              <a:rPr lang="en-US" sz="1200" dirty="0"/>
              <a:t> PageRank algorithm theory and implementation</a:t>
            </a:r>
          </a:p>
          <a:p>
            <a:r>
              <a:rPr lang="en-US" sz="1200" dirty="0"/>
              <a:t> HITS algorithm (Hubs and Authorities)</a:t>
            </a:r>
          </a:p>
          <a:p>
            <a:r>
              <a:rPr lang="en-US" sz="1200" dirty="0"/>
              <a:t> Web graph structure and analysis</a:t>
            </a:r>
          </a:p>
          <a:p>
            <a:r>
              <a:rPr lang="en-US" sz="1200" dirty="0"/>
              <a:t> Random surfer model and damping factor</a:t>
            </a:r>
          </a:p>
          <a:p>
            <a:r>
              <a:rPr lang="en-US" sz="1200" dirty="0"/>
              <a:t> Power iteration method for convergence</a:t>
            </a:r>
          </a:p>
          <a:p>
            <a:endParaRPr lang="en-US" sz="1200" dirty="0"/>
          </a:p>
          <a:p>
            <a:r>
              <a:rPr lang="en-US" sz="1200" dirty="0"/>
              <a:t>PRACTICAL SKILLS:</a:t>
            </a:r>
          </a:p>
          <a:p>
            <a:r>
              <a:rPr lang="en-US" sz="1200" dirty="0"/>
              <a:t>Implemented PageRank from scratch in Python</a:t>
            </a:r>
          </a:p>
          <a:p>
            <a:r>
              <a:rPr lang="en-US" sz="1200" dirty="0"/>
              <a:t>Analyzed web graph with </a:t>
            </a:r>
            <a:r>
              <a:rPr lang="en-US" sz="1200" dirty="0" err="1"/>
              <a:t>NetworkX</a:t>
            </a:r>
            <a:endParaRPr lang="en-US" sz="1200" dirty="0"/>
          </a:p>
          <a:p>
            <a:r>
              <a:rPr lang="en-US" sz="1200" dirty="0"/>
              <a:t>Calculated multiple centrality measures</a:t>
            </a:r>
          </a:p>
          <a:p>
            <a:r>
              <a:rPr lang="en-US" sz="1200" dirty="0"/>
              <a:t>Generated comprehensive CSV reports</a:t>
            </a:r>
          </a:p>
          <a:p>
            <a:endParaRPr lang="en-US" sz="1200" dirty="0"/>
          </a:p>
          <a:p>
            <a:r>
              <a:rPr lang="en-US" sz="1200" dirty="0"/>
              <a:t>REFERENCES:</a:t>
            </a:r>
          </a:p>
          <a:p>
            <a:r>
              <a:rPr lang="en-US" sz="1200" dirty="0"/>
              <a:t>Bing Liu - 'Web Data Mining' (Chapters 10-11)</a:t>
            </a:r>
          </a:p>
          <a:p>
            <a:r>
              <a:rPr lang="en-US" sz="1200" dirty="0"/>
              <a:t>— Original PageRank Paper: Page &amp; Brin (1998)</a:t>
            </a:r>
          </a:p>
          <a:p>
            <a:r>
              <a:rPr lang="en-US" sz="1200" dirty="0"/>
              <a:t>¬ </a:t>
            </a:r>
            <a:r>
              <a:rPr lang="en-US" sz="1200" dirty="0" err="1"/>
              <a:t>NetworkX</a:t>
            </a:r>
            <a:r>
              <a:rPr lang="en-US" sz="1200" dirty="0"/>
              <a:t> Documentation</a:t>
            </a:r>
          </a:p>
          <a:p>
            <a:endParaRPr lang="en-US" sz="1200" dirty="0"/>
          </a:p>
          <a:p>
            <a:r>
              <a:rPr lang="en-US" sz="1200" dirty="0"/>
              <a:t>FILES GENERATED: 5 CSV files with detailed results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07016B-845F-4341-B48F-7B41288C495F}"/>
              </a:ext>
            </a:extLst>
          </p:cNvPr>
          <p:cNvSpPr/>
          <p:nvPr/>
        </p:nvSpPr>
        <p:spPr>
          <a:xfrm>
            <a:off x="4466473" y="4361468"/>
            <a:ext cx="3810000" cy="762000"/>
          </a:xfrm>
          <a:prstGeom prst="rect">
            <a:avLst/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THANK YOU!</a:t>
            </a:r>
          </a:p>
          <a:p>
            <a:pPr algn="ctr"/>
            <a:r>
              <a:rPr lang="en-US" sz="2200" b="1" dirty="0">
                <a:solidFill>
                  <a:srgbClr val="FFFFFF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5206667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F7541E-7274-4E80-97C0-05CC553A89E0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2AD924-AAE5-4050-9A22-615A9A903DD8}"/>
              </a:ext>
            </a:extLst>
          </p:cNvPr>
          <p:cNvSpPr txBox="1"/>
          <p:nvPr/>
        </p:nvSpPr>
        <p:spPr>
          <a:xfrm>
            <a:off x="254000" y="152400"/>
            <a:ext cx="863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KRAHASIMI I ALGORITMEVE - TË DHËNA REALE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9B89D45-3C8F-4ADB-AC6E-50D04E8CCA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330316"/>
              </p:ext>
            </p:extLst>
          </p:nvPr>
        </p:nvGraphicFramePr>
        <p:xfrm>
          <a:off x="508000" y="1143000"/>
          <a:ext cx="8127999" cy="3810001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34366302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402138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67031897"/>
                    </a:ext>
                  </a:extLst>
                </a:gridCol>
              </a:tblGrid>
              <a:tr h="293077">
                <a:tc>
                  <a:txBody>
                    <a:bodyPr/>
                    <a:lstStyle/>
                    <a:p>
                      <a:r>
                        <a:rPr lang="en-US" sz="1200" dirty="0"/>
                        <a:t>FAQJA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CUSTOM PR</a:t>
                      </a:r>
                      <a:endParaRPr lang="en-US" sz="1200" b="1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NETWORKX PR</a:t>
                      </a:r>
                      <a:endParaRPr lang="en-US" sz="1200" b="1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2216246"/>
                  </a:ext>
                </a:extLst>
              </a:tr>
              <a:tr h="293077">
                <a:tc>
                  <a:txBody>
                    <a:bodyPr/>
                    <a:lstStyle/>
                    <a:p>
                      <a:r>
                        <a:rPr lang="en-US" sz="1100"/>
                        <a:t>HomePage</a:t>
                      </a:r>
                      <a:endParaRPr lang="en-US" sz="11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0,2227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0,2227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317670"/>
                  </a:ext>
                </a:extLst>
              </a:tr>
              <a:tr h="293077">
                <a:tc>
                  <a:txBody>
                    <a:bodyPr/>
                    <a:lstStyle/>
                    <a:p>
                      <a:r>
                        <a:rPr lang="en-US" sz="1100"/>
                        <a:t>AboutUs</a:t>
                      </a:r>
                      <a:endParaRPr lang="en-US" sz="11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0,1527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0,1527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4193"/>
                  </a:ext>
                </a:extLst>
              </a:tr>
              <a:tr h="293077">
                <a:tc>
                  <a:txBody>
                    <a:bodyPr/>
                    <a:lstStyle/>
                    <a:p>
                      <a:r>
                        <a:rPr lang="en-US" sz="1100"/>
                        <a:t>Products</a:t>
                      </a:r>
                      <a:endParaRPr lang="en-US" sz="11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0,1353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0,1353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6286898"/>
                  </a:ext>
                </a:extLst>
              </a:tr>
              <a:tr h="293077">
                <a:tc>
                  <a:txBody>
                    <a:bodyPr/>
                    <a:lstStyle/>
                    <a:p>
                      <a:r>
                        <a:rPr lang="en-US" sz="1100"/>
                        <a:t>Services</a:t>
                      </a:r>
                      <a:endParaRPr lang="en-US" sz="11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0,1268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0,1268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0835570"/>
                  </a:ext>
                </a:extLst>
              </a:tr>
              <a:tr h="293077">
                <a:tc>
                  <a:txBody>
                    <a:bodyPr/>
                    <a:lstStyle/>
                    <a:p>
                      <a:r>
                        <a:rPr lang="en-US" sz="1100"/>
                        <a:t>Contact</a:t>
                      </a:r>
                      <a:endParaRPr lang="en-US" sz="11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0,0833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0,0833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218582"/>
                  </a:ext>
                </a:extLst>
              </a:tr>
              <a:tr h="293077">
                <a:tc>
                  <a:txBody>
                    <a:bodyPr/>
                    <a:lstStyle/>
                    <a:p>
                      <a:r>
                        <a:rPr lang="en-US" sz="1100"/>
                        <a:t>Team</a:t>
                      </a:r>
                      <a:endParaRPr lang="en-US" sz="11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0,0795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0,0795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7550039"/>
                  </a:ext>
                </a:extLst>
              </a:tr>
              <a:tr h="293077">
                <a:tc>
                  <a:txBody>
                    <a:bodyPr/>
                    <a:lstStyle/>
                    <a:p>
                      <a:r>
                        <a:rPr lang="en-US" sz="1100"/>
                        <a:t>History</a:t>
                      </a:r>
                      <a:endParaRPr lang="en-US" sz="11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0,0558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0,0558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4845987"/>
                  </a:ext>
                </a:extLst>
              </a:tr>
              <a:tr h="293077">
                <a:tc>
                  <a:txBody>
                    <a:bodyPr/>
                    <a:lstStyle/>
                    <a:p>
                      <a:r>
                        <a:rPr lang="en-US" sz="1100"/>
                        <a:t>Reviews</a:t>
                      </a:r>
                      <a:endParaRPr lang="en-US" sz="11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0,0544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0,0544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742786"/>
                  </a:ext>
                </a:extLst>
              </a:tr>
              <a:tr h="293077">
                <a:tc>
                  <a:txBody>
                    <a:bodyPr/>
                    <a:lstStyle/>
                    <a:p>
                      <a:r>
                        <a:rPr lang="en-US" sz="1100"/>
                        <a:t>Pricing</a:t>
                      </a:r>
                      <a:endParaRPr lang="en-US" sz="11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0,0484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0,0484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9342186"/>
                  </a:ext>
                </a:extLst>
              </a:tr>
              <a:tr h="293077">
                <a:tc>
                  <a:txBody>
                    <a:bodyPr/>
                    <a:lstStyle/>
                    <a:p>
                      <a:r>
                        <a:rPr lang="en-US" sz="1100"/>
                        <a:t>FAQ</a:t>
                      </a:r>
                      <a:endParaRPr lang="en-US" sz="11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0,0160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0,0160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9450604"/>
                  </a:ext>
                </a:extLst>
              </a:tr>
              <a:tr h="293077">
                <a:tc>
                  <a:txBody>
                    <a:bodyPr/>
                    <a:lstStyle/>
                    <a:p>
                      <a:r>
                        <a:rPr lang="en-US" sz="1100"/>
                        <a:t>Support</a:t>
                      </a:r>
                      <a:endParaRPr lang="en-US" sz="11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0,0125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0,0125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3427583"/>
                  </a:ext>
                </a:extLst>
              </a:tr>
              <a:tr h="293077">
                <a:tc>
                  <a:txBody>
                    <a:bodyPr/>
                    <a:lstStyle/>
                    <a:p>
                      <a:r>
                        <a:rPr lang="en-US" sz="1100"/>
                        <a:t>Blog</a:t>
                      </a:r>
                      <a:endParaRPr lang="en-US" sz="11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0,0125</a:t>
                      </a:r>
                      <a:endParaRPr lang="en-US" sz="11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0,0125</a:t>
                      </a:r>
                      <a:endParaRPr lang="en-US" sz="11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0263253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74241DE-652B-4C0D-8BD6-89ECE3327619}"/>
              </a:ext>
            </a:extLst>
          </p:cNvPr>
          <p:cNvSpPr/>
          <p:nvPr/>
        </p:nvSpPr>
        <p:spPr>
          <a:xfrm>
            <a:off x="508000" y="5207000"/>
            <a:ext cx="8128000" cy="1143000"/>
          </a:xfrm>
          <a:prstGeom prst="roundRect">
            <a:avLst/>
          </a:prstGeom>
          <a:solidFill>
            <a:srgbClr val="FFFFE0"/>
          </a:solidFill>
          <a:ln w="38100">
            <a:solidFill>
              <a:srgbClr val="DAA520"/>
            </a:solidFill>
          </a:ln>
          <a:effectLst>
            <a:prstShdw prst="shdw6" dist="107763" dir="2700000">
              <a:scrgbClr r="0" g="0" b="0">
                <a:alpha val="50000"/>
              </a:scrgbClr>
            </a:prst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154471-3863-4F8E-9627-778ABC280CD8}"/>
              </a:ext>
            </a:extLst>
          </p:cNvPr>
          <p:cNvSpPr txBox="1"/>
          <p:nvPr/>
        </p:nvSpPr>
        <p:spPr>
          <a:xfrm>
            <a:off x="761999" y="5257393"/>
            <a:ext cx="7620000" cy="109260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 dirty="0">
                <a:solidFill>
                  <a:srgbClr val="644600"/>
                </a:solidFill>
              </a:rPr>
              <a:t> PËRFUNDIMI:</a:t>
            </a:r>
          </a:p>
          <a:p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Implementimi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ynë</a:t>
            </a:r>
            <a:r>
              <a:rPr lang="en-US" sz="1300" b="1" dirty="0">
                <a:solidFill>
                  <a:srgbClr val="644600"/>
                </a:solidFill>
              </a:rPr>
              <a:t> custom </a:t>
            </a:r>
            <a:r>
              <a:rPr lang="en-US" sz="1300" b="1" dirty="0" err="1">
                <a:solidFill>
                  <a:srgbClr val="644600"/>
                </a:solidFill>
              </a:rPr>
              <a:t>i</a:t>
            </a:r>
            <a:r>
              <a:rPr lang="en-US" sz="1300" b="1" dirty="0">
                <a:solidFill>
                  <a:srgbClr val="644600"/>
                </a:solidFill>
              </a:rPr>
              <a:t> PageRank </a:t>
            </a:r>
            <a:r>
              <a:rPr lang="en-US" sz="1300" b="1" dirty="0" err="1">
                <a:solidFill>
                  <a:srgbClr val="644600"/>
                </a:solidFill>
              </a:rPr>
              <a:t>përputhet</a:t>
            </a:r>
            <a:r>
              <a:rPr lang="en-US" sz="1300" b="1" dirty="0">
                <a:solidFill>
                  <a:srgbClr val="644600"/>
                </a:solidFill>
              </a:rPr>
              <a:t> 100% me </a:t>
            </a:r>
            <a:r>
              <a:rPr lang="en-US" sz="1300" b="1" dirty="0" err="1">
                <a:solidFill>
                  <a:srgbClr val="644600"/>
                </a:solidFill>
              </a:rPr>
              <a:t>NetworkX</a:t>
            </a:r>
            <a:r>
              <a:rPr lang="en-US" sz="1300" b="1" dirty="0">
                <a:solidFill>
                  <a:srgbClr val="644600"/>
                </a:solidFill>
              </a:rPr>
              <a:t> (</a:t>
            </a:r>
            <a:r>
              <a:rPr lang="en-US" sz="1300" b="1" dirty="0" err="1">
                <a:solidFill>
                  <a:srgbClr val="644600"/>
                </a:solidFill>
              </a:rPr>
              <a:t>biblioteka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standarde</a:t>
            </a:r>
            <a:r>
              <a:rPr lang="en-US" sz="1300" b="1" dirty="0">
                <a:solidFill>
                  <a:srgbClr val="644600"/>
                </a:solidFill>
              </a:rPr>
              <a:t>)</a:t>
            </a:r>
          </a:p>
          <a:p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Diferenca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maksimale</a:t>
            </a:r>
            <a:r>
              <a:rPr lang="en-US" sz="1300" b="1" dirty="0">
                <a:solidFill>
                  <a:srgbClr val="644600"/>
                </a:solidFill>
              </a:rPr>
              <a:t>: &lt; 0.000002 (</a:t>
            </a:r>
            <a:r>
              <a:rPr lang="en-US" sz="1300" b="1" dirty="0" err="1">
                <a:solidFill>
                  <a:srgbClr val="644600"/>
                </a:solidFill>
              </a:rPr>
              <a:t>gabim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numerik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i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papërfillshëm</a:t>
            </a:r>
            <a:r>
              <a:rPr lang="en-US" sz="1300" b="1" dirty="0">
                <a:solidFill>
                  <a:srgbClr val="644600"/>
                </a:solidFill>
              </a:rPr>
              <a:t>)</a:t>
            </a:r>
          </a:p>
          <a:p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Validimi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tregon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që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algoritmi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ynë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është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saktë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dhe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i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besueshëm</a:t>
            </a:r>
            <a:endParaRPr lang="en-US" sz="1300" b="1" dirty="0">
              <a:solidFill>
                <a:srgbClr val="644600"/>
              </a:solidFill>
            </a:endParaRPr>
          </a:p>
          <a:p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Të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dy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algoritmet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konvergojnë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në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të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njëjtën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zgjidhje</a:t>
            </a:r>
            <a:endParaRPr lang="en-US" sz="1300" b="1" dirty="0">
              <a:solidFill>
                <a:srgbClr val="644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2575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F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0B1AE3-2CAE-4A3D-8BB5-314C57AD63E3}"/>
              </a:ext>
            </a:extLst>
          </p:cNvPr>
          <p:cNvSpPr/>
          <p:nvPr/>
        </p:nvSpPr>
        <p:spPr>
          <a:xfrm>
            <a:off x="0" y="0"/>
            <a:ext cx="9078012" cy="1092200"/>
          </a:xfrm>
          <a:prstGeom prst="rect">
            <a:avLst/>
          </a:prstGeom>
          <a:solidFill>
            <a:srgbClr val="00808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0AD9BC-5DC9-4334-BED0-BA6FDDA8B93E}"/>
              </a:ext>
            </a:extLst>
          </p:cNvPr>
          <p:cNvSpPr txBox="1"/>
          <p:nvPr/>
        </p:nvSpPr>
        <p:spPr>
          <a:xfrm>
            <a:off x="254000" y="152400"/>
            <a:ext cx="863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BR" sz="2800" b="1" dirty="0">
                <a:solidFill>
                  <a:srgbClr val="FFFFFF"/>
                </a:solidFill>
              </a:rPr>
              <a:t>KONVERGJENCA E ALGORITMIT - TË DHËNA REALE</a:t>
            </a:r>
            <a:endParaRPr lang="en-US" sz="2800" b="1" dirty="0">
              <a:solidFill>
                <a:srgbClr val="FFFFFF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B795F83-E14D-41D7-A6A5-5F4720EBF9D1}"/>
              </a:ext>
            </a:extLst>
          </p:cNvPr>
          <p:cNvSpPr/>
          <p:nvPr/>
        </p:nvSpPr>
        <p:spPr>
          <a:xfrm>
            <a:off x="508000" y="1143000"/>
            <a:ext cx="8128000" cy="3937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BD6D0-B3EA-4E9C-A843-0F19C67E32E6}"/>
              </a:ext>
            </a:extLst>
          </p:cNvPr>
          <p:cNvSpPr txBox="1"/>
          <p:nvPr/>
        </p:nvSpPr>
        <p:spPr>
          <a:xfrm>
            <a:off x="762000" y="1143000"/>
            <a:ext cx="762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600" b="1" dirty="0">
                <a:solidFill>
                  <a:srgbClr val="005050"/>
                </a:solidFill>
              </a:rPr>
              <a:t>HISTORIKU I KONVERGJENCËS (Î” vs </a:t>
            </a:r>
            <a:r>
              <a:rPr lang="en-US" sz="1600" b="1" dirty="0" err="1">
                <a:solidFill>
                  <a:srgbClr val="005050"/>
                </a:solidFill>
              </a:rPr>
              <a:t>Iteracionet</a:t>
            </a:r>
            <a:r>
              <a:rPr lang="en-US" sz="1600" b="1" dirty="0">
                <a:solidFill>
                  <a:srgbClr val="005050"/>
                </a:solidFill>
              </a:rPr>
              <a:t>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392953-824A-4AE8-B504-69E2C4AD7AE3}"/>
              </a:ext>
            </a:extLst>
          </p:cNvPr>
          <p:cNvCxnSpPr/>
          <p:nvPr/>
        </p:nvCxnSpPr>
        <p:spPr>
          <a:xfrm>
            <a:off x="1016000" y="4572000"/>
            <a:ext cx="71120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F100A6-654A-4673-9090-709E4F143749}"/>
              </a:ext>
            </a:extLst>
          </p:cNvPr>
          <p:cNvCxnSpPr/>
          <p:nvPr/>
        </p:nvCxnSpPr>
        <p:spPr>
          <a:xfrm>
            <a:off x="1016000" y="1778000"/>
            <a:ext cx="0" cy="2794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0367F55-47A8-4EB9-BD90-0488D83AF304}"/>
              </a:ext>
            </a:extLst>
          </p:cNvPr>
          <p:cNvCxnSpPr/>
          <p:nvPr/>
        </p:nvCxnSpPr>
        <p:spPr>
          <a:xfrm>
            <a:off x="1016000" y="2041922"/>
            <a:ext cx="395111" cy="2132012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D6E9F424-547E-413C-BD9B-7BFAA4526545}"/>
              </a:ext>
            </a:extLst>
          </p:cNvPr>
          <p:cNvSpPr/>
          <p:nvPr/>
        </p:nvSpPr>
        <p:spPr>
          <a:xfrm>
            <a:off x="965200" y="1991122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21883B4-C231-4FDA-8B4F-23A791A83011}"/>
              </a:ext>
            </a:extLst>
          </p:cNvPr>
          <p:cNvCxnSpPr/>
          <p:nvPr/>
        </p:nvCxnSpPr>
        <p:spPr>
          <a:xfrm>
            <a:off x="1411111" y="4173934"/>
            <a:ext cx="395111" cy="230188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BF68318-D592-4E5D-B4DB-870DF0528139}"/>
              </a:ext>
            </a:extLst>
          </p:cNvPr>
          <p:cNvSpPr/>
          <p:nvPr/>
        </p:nvSpPr>
        <p:spPr>
          <a:xfrm>
            <a:off x="1360311" y="4123134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FD678A-3BDC-4D99-99B6-434C2A2EADBB}"/>
              </a:ext>
            </a:extLst>
          </p:cNvPr>
          <p:cNvCxnSpPr/>
          <p:nvPr/>
        </p:nvCxnSpPr>
        <p:spPr>
          <a:xfrm>
            <a:off x="1806222" y="4404122"/>
            <a:ext cx="395111" cy="98425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E704351D-F939-4F42-AB09-9A4FD2C05AC4}"/>
              </a:ext>
            </a:extLst>
          </p:cNvPr>
          <p:cNvSpPr/>
          <p:nvPr/>
        </p:nvSpPr>
        <p:spPr>
          <a:xfrm>
            <a:off x="1755422" y="4353322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23C39D-4166-4055-AB88-C381DF592236}"/>
              </a:ext>
            </a:extLst>
          </p:cNvPr>
          <p:cNvCxnSpPr/>
          <p:nvPr/>
        </p:nvCxnSpPr>
        <p:spPr>
          <a:xfrm>
            <a:off x="2201333" y="4502547"/>
            <a:ext cx="395111" cy="44053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4B59DB1E-DF7F-4BB2-A349-26F1B56271A8}"/>
              </a:ext>
            </a:extLst>
          </p:cNvPr>
          <p:cNvSpPr/>
          <p:nvPr/>
        </p:nvSpPr>
        <p:spPr>
          <a:xfrm>
            <a:off x="2150533" y="4451747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7D2A54C-8EF4-4B65-8934-8F026419D095}"/>
              </a:ext>
            </a:extLst>
          </p:cNvPr>
          <p:cNvCxnSpPr/>
          <p:nvPr/>
        </p:nvCxnSpPr>
        <p:spPr>
          <a:xfrm>
            <a:off x="2596444" y="4546600"/>
            <a:ext cx="395112" cy="10319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ED982CD8-E2EC-4FAE-8395-E5AE2D977A3A}"/>
              </a:ext>
            </a:extLst>
          </p:cNvPr>
          <p:cNvSpPr/>
          <p:nvPr/>
        </p:nvSpPr>
        <p:spPr>
          <a:xfrm>
            <a:off x="2545644" y="4495800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F231B4E-39E4-4DAC-A5EB-D10185497F18}"/>
              </a:ext>
            </a:extLst>
          </p:cNvPr>
          <p:cNvCxnSpPr/>
          <p:nvPr/>
        </p:nvCxnSpPr>
        <p:spPr>
          <a:xfrm>
            <a:off x="2991556" y="4556919"/>
            <a:ext cx="395111" cy="9128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A0C536C6-2607-4751-87C0-44A51E9BAA9C}"/>
              </a:ext>
            </a:extLst>
          </p:cNvPr>
          <p:cNvSpPr/>
          <p:nvPr/>
        </p:nvSpPr>
        <p:spPr>
          <a:xfrm>
            <a:off x="2940756" y="4506119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C7BF5D-1657-48F9-91CF-67C34F14C526}"/>
              </a:ext>
            </a:extLst>
          </p:cNvPr>
          <p:cNvCxnSpPr/>
          <p:nvPr/>
        </p:nvCxnSpPr>
        <p:spPr>
          <a:xfrm>
            <a:off x="3386667" y="4566047"/>
            <a:ext cx="395111" cy="2381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945C58F6-5CF5-4C2F-87FD-C6A7BC21BD28}"/>
              </a:ext>
            </a:extLst>
          </p:cNvPr>
          <p:cNvSpPr/>
          <p:nvPr/>
        </p:nvSpPr>
        <p:spPr>
          <a:xfrm>
            <a:off x="3335867" y="4515247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3557448-F792-4F1E-8963-FDD7F2F437FA}"/>
              </a:ext>
            </a:extLst>
          </p:cNvPr>
          <p:cNvCxnSpPr/>
          <p:nvPr/>
        </p:nvCxnSpPr>
        <p:spPr>
          <a:xfrm>
            <a:off x="3781778" y="4568428"/>
            <a:ext cx="395111" cy="1985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8076339F-3108-4277-8D3C-A9BEFA6440A2}"/>
              </a:ext>
            </a:extLst>
          </p:cNvPr>
          <p:cNvSpPr/>
          <p:nvPr/>
        </p:nvSpPr>
        <p:spPr>
          <a:xfrm>
            <a:off x="3730978" y="4517628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137EA1C-28A3-49CE-A94F-2368C82D6855}"/>
              </a:ext>
            </a:extLst>
          </p:cNvPr>
          <p:cNvCxnSpPr/>
          <p:nvPr/>
        </p:nvCxnSpPr>
        <p:spPr>
          <a:xfrm>
            <a:off x="4176889" y="4570413"/>
            <a:ext cx="395111" cy="793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A917B03B-BFF5-4C9F-AEC0-DB309B40189B}"/>
              </a:ext>
            </a:extLst>
          </p:cNvPr>
          <p:cNvSpPr/>
          <p:nvPr/>
        </p:nvSpPr>
        <p:spPr>
          <a:xfrm>
            <a:off x="4126089" y="4519613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E7EF63F-462C-4BF4-BB0B-E1CEA1425703}"/>
              </a:ext>
            </a:extLst>
          </p:cNvPr>
          <p:cNvCxnSpPr/>
          <p:nvPr/>
        </p:nvCxnSpPr>
        <p:spPr>
          <a:xfrm>
            <a:off x="4572000" y="4571206"/>
            <a:ext cx="395111" cy="453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531DF362-7B07-4314-AAB2-D332398EE90A}"/>
              </a:ext>
            </a:extLst>
          </p:cNvPr>
          <p:cNvSpPr/>
          <p:nvPr/>
        </p:nvSpPr>
        <p:spPr>
          <a:xfrm>
            <a:off x="4521200" y="4520406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EFBDB51-F292-45A9-A240-6FDD12FACEA7}"/>
              </a:ext>
            </a:extLst>
          </p:cNvPr>
          <p:cNvCxnSpPr/>
          <p:nvPr/>
        </p:nvCxnSpPr>
        <p:spPr>
          <a:xfrm>
            <a:off x="4967111" y="4571659"/>
            <a:ext cx="395111" cy="131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9C4F47AB-9AAB-4401-9471-36421490EA00}"/>
              </a:ext>
            </a:extLst>
          </p:cNvPr>
          <p:cNvSpPr/>
          <p:nvPr/>
        </p:nvSpPr>
        <p:spPr>
          <a:xfrm>
            <a:off x="4916311" y="4520859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5DE5A5-8552-4162-A375-3C8ADE30A019}"/>
              </a:ext>
            </a:extLst>
          </p:cNvPr>
          <p:cNvCxnSpPr/>
          <p:nvPr/>
        </p:nvCxnSpPr>
        <p:spPr>
          <a:xfrm>
            <a:off x="5362222" y="4571790"/>
            <a:ext cx="395111" cy="119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107B1DD2-D97B-414F-B91A-569429BCAD07}"/>
              </a:ext>
            </a:extLst>
          </p:cNvPr>
          <p:cNvSpPr/>
          <p:nvPr/>
        </p:nvSpPr>
        <p:spPr>
          <a:xfrm>
            <a:off x="5311422" y="4520990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1DD81EF-01A9-48AF-8AFE-45A0035075DC}"/>
              </a:ext>
            </a:extLst>
          </p:cNvPr>
          <p:cNvCxnSpPr/>
          <p:nvPr/>
        </p:nvCxnSpPr>
        <p:spPr>
          <a:xfrm>
            <a:off x="5757333" y="4571909"/>
            <a:ext cx="395112" cy="36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7A6FEE3A-212E-4C36-97CD-5860CCFB5EC9}"/>
              </a:ext>
            </a:extLst>
          </p:cNvPr>
          <p:cNvSpPr/>
          <p:nvPr/>
        </p:nvSpPr>
        <p:spPr>
          <a:xfrm>
            <a:off x="5706533" y="4521109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88C910B-3547-4D29-9AC6-0BF5D12D4167}"/>
              </a:ext>
            </a:extLst>
          </p:cNvPr>
          <p:cNvCxnSpPr/>
          <p:nvPr/>
        </p:nvCxnSpPr>
        <p:spPr>
          <a:xfrm>
            <a:off x="6152445" y="4571945"/>
            <a:ext cx="395110" cy="25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0D51558C-58A6-4068-9251-4FDC2DE0FEE4}"/>
              </a:ext>
            </a:extLst>
          </p:cNvPr>
          <p:cNvSpPr/>
          <p:nvPr/>
        </p:nvSpPr>
        <p:spPr>
          <a:xfrm>
            <a:off x="6101645" y="4521145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817627F-6FBE-4349-9E12-626F10EF04FA}"/>
              </a:ext>
            </a:extLst>
          </p:cNvPr>
          <p:cNvCxnSpPr/>
          <p:nvPr/>
        </p:nvCxnSpPr>
        <p:spPr>
          <a:xfrm>
            <a:off x="6547555" y="4571970"/>
            <a:ext cx="395112" cy="14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622900FC-B841-44F5-8E50-72B413B64B71}"/>
              </a:ext>
            </a:extLst>
          </p:cNvPr>
          <p:cNvSpPr/>
          <p:nvPr/>
        </p:nvSpPr>
        <p:spPr>
          <a:xfrm>
            <a:off x="6496755" y="4521170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AFA8264-34D6-491A-8043-B73B4CFBF58F}"/>
              </a:ext>
            </a:extLst>
          </p:cNvPr>
          <p:cNvCxnSpPr/>
          <p:nvPr/>
        </p:nvCxnSpPr>
        <p:spPr>
          <a:xfrm>
            <a:off x="6942667" y="4571984"/>
            <a:ext cx="395111" cy="6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2346E7EF-892B-494D-9E10-03455870A9D5}"/>
              </a:ext>
            </a:extLst>
          </p:cNvPr>
          <p:cNvSpPr/>
          <p:nvPr/>
        </p:nvSpPr>
        <p:spPr>
          <a:xfrm>
            <a:off x="6891867" y="4521184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6A6023E-76C1-41D0-8021-4D06C3E2A293}"/>
              </a:ext>
            </a:extLst>
          </p:cNvPr>
          <p:cNvCxnSpPr/>
          <p:nvPr/>
        </p:nvCxnSpPr>
        <p:spPr>
          <a:xfrm>
            <a:off x="7337778" y="4571990"/>
            <a:ext cx="395111" cy="5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1CAFCAB4-D460-4A6A-B9BC-56808EF75755}"/>
              </a:ext>
            </a:extLst>
          </p:cNvPr>
          <p:cNvSpPr/>
          <p:nvPr/>
        </p:nvSpPr>
        <p:spPr>
          <a:xfrm>
            <a:off x="7286978" y="4521190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743922F-CFCE-4380-BF50-37534C3270ED}"/>
              </a:ext>
            </a:extLst>
          </p:cNvPr>
          <p:cNvCxnSpPr/>
          <p:nvPr/>
        </p:nvCxnSpPr>
        <p:spPr>
          <a:xfrm>
            <a:off x="7732889" y="4571995"/>
            <a:ext cx="395111" cy="2"/>
          </a:xfrm>
          <a:prstGeom prst="line">
            <a:avLst/>
          </a:prstGeom>
          <a:ln w="38100">
            <a:solidFill>
              <a:srgbClr val="FF4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804CAF4B-D421-4C2F-977A-722DB70503EA}"/>
              </a:ext>
            </a:extLst>
          </p:cNvPr>
          <p:cNvSpPr/>
          <p:nvPr/>
        </p:nvSpPr>
        <p:spPr>
          <a:xfrm>
            <a:off x="7682089" y="4521195"/>
            <a:ext cx="101600" cy="101600"/>
          </a:xfrm>
          <a:prstGeom prst="ellipse">
            <a:avLst/>
          </a:prstGeom>
          <a:solidFill>
            <a:srgbClr val="0000FF"/>
          </a:solidFill>
          <a:ln>
            <a:solidFill>
              <a:srgbClr val="0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C356B4-851A-4091-A4A2-CF56B908CBE5}"/>
              </a:ext>
            </a:extLst>
          </p:cNvPr>
          <p:cNvSpPr txBox="1"/>
          <p:nvPr/>
        </p:nvSpPr>
        <p:spPr>
          <a:xfrm>
            <a:off x="3810000" y="4699000"/>
            <a:ext cx="127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200" b="1"/>
              <a:t>Iteracioni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C9C107-A2A4-4093-8A59-177B52E46816}"/>
              </a:ext>
            </a:extLst>
          </p:cNvPr>
          <p:cNvSpPr txBox="1"/>
          <p:nvPr/>
        </p:nvSpPr>
        <p:spPr>
          <a:xfrm>
            <a:off x="190500" y="2794000"/>
            <a:ext cx="369332" cy="1270000"/>
          </a:xfrm>
          <a:prstGeom prst="rect">
            <a:avLst/>
          </a:prstGeom>
          <a:noFill/>
        </p:spPr>
        <p:txBody>
          <a:bodyPr vert="vert270" rtlCol="0">
            <a:spAutoFit/>
          </a:bodyPr>
          <a:lstStyle/>
          <a:p>
            <a:r>
              <a:rPr lang="en-US" sz="1200" b="1"/>
              <a:t>Delta (Î”)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49C97C2-A6E3-4F6C-A776-733F97AB4C7B}"/>
              </a:ext>
            </a:extLst>
          </p:cNvPr>
          <p:cNvSpPr/>
          <p:nvPr/>
        </p:nvSpPr>
        <p:spPr>
          <a:xfrm>
            <a:off x="508000" y="5333999"/>
            <a:ext cx="8128000" cy="1270001"/>
          </a:xfrm>
          <a:prstGeom prst="roundRect">
            <a:avLst/>
          </a:prstGeom>
          <a:solidFill>
            <a:srgbClr val="FFFFE0"/>
          </a:solidFill>
          <a:ln w="25400">
            <a:solidFill>
              <a:srgbClr val="DAA5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EF1BF8-75C0-4F5D-BA0E-8E0DE3A0EBD4}"/>
              </a:ext>
            </a:extLst>
          </p:cNvPr>
          <p:cNvSpPr txBox="1"/>
          <p:nvPr/>
        </p:nvSpPr>
        <p:spPr>
          <a:xfrm>
            <a:off x="762000" y="5461000"/>
            <a:ext cx="7620000" cy="109260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dirty="0">
                <a:solidFill>
                  <a:srgbClr val="644600"/>
                </a:solidFill>
              </a:rPr>
              <a:t>REZULTATET E KONVERGJENCËS:</a:t>
            </a:r>
          </a:p>
          <a:p>
            <a:r>
              <a:rPr lang="en-US" sz="1300" dirty="0">
                <a:solidFill>
                  <a:srgbClr val="644600"/>
                </a:solidFill>
              </a:rPr>
              <a:t> </a:t>
            </a:r>
            <a:r>
              <a:rPr lang="en-US" sz="1300" dirty="0" err="1">
                <a:solidFill>
                  <a:srgbClr val="644600"/>
                </a:solidFill>
              </a:rPr>
              <a:t>Fillimi</a:t>
            </a:r>
            <a:r>
              <a:rPr lang="en-US" sz="1300" dirty="0">
                <a:solidFill>
                  <a:srgbClr val="644600"/>
                </a:solidFill>
              </a:rPr>
              <a:t>: Î” = 0.6375 (</a:t>
            </a:r>
            <a:r>
              <a:rPr lang="en-US" sz="1300" dirty="0" err="1">
                <a:solidFill>
                  <a:srgbClr val="644600"/>
                </a:solidFill>
              </a:rPr>
              <a:t>diferenca</a:t>
            </a:r>
            <a:r>
              <a:rPr lang="en-US" sz="1300" dirty="0">
                <a:solidFill>
                  <a:srgbClr val="644600"/>
                </a:solidFill>
              </a:rPr>
              <a:t> e </a:t>
            </a:r>
            <a:r>
              <a:rPr lang="en-US" sz="1300" dirty="0" err="1">
                <a:solidFill>
                  <a:srgbClr val="644600"/>
                </a:solidFill>
              </a:rPr>
              <a:t>madhe</a:t>
            </a:r>
            <a:r>
              <a:rPr lang="en-US" sz="1300" dirty="0">
                <a:solidFill>
                  <a:srgbClr val="644600"/>
                </a:solidFill>
              </a:rPr>
              <a:t>)</a:t>
            </a:r>
          </a:p>
          <a:p>
            <a:r>
              <a:rPr lang="en-US" sz="1300" dirty="0">
                <a:solidFill>
                  <a:srgbClr val="644600"/>
                </a:solidFill>
              </a:rPr>
              <a:t> </a:t>
            </a:r>
            <a:r>
              <a:rPr lang="en-US" sz="1300" dirty="0" err="1">
                <a:solidFill>
                  <a:srgbClr val="644600"/>
                </a:solidFill>
              </a:rPr>
              <a:t>Konvergjuar</a:t>
            </a:r>
            <a:r>
              <a:rPr lang="en-US" sz="1300" dirty="0">
                <a:solidFill>
                  <a:srgbClr val="644600"/>
                </a:solidFill>
              </a:rPr>
              <a:t> pas 19 </a:t>
            </a:r>
            <a:r>
              <a:rPr lang="en-US" sz="1300" dirty="0" err="1">
                <a:solidFill>
                  <a:srgbClr val="644600"/>
                </a:solidFill>
              </a:rPr>
              <a:t>iteracioneve</a:t>
            </a:r>
            <a:r>
              <a:rPr lang="en-US" sz="1300" dirty="0">
                <a:solidFill>
                  <a:srgbClr val="644600"/>
                </a:solidFill>
              </a:rPr>
              <a:t> (Î” &lt; 0.000001)</a:t>
            </a:r>
          </a:p>
          <a:p>
            <a:r>
              <a:rPr lang="en-US" sz="1300" dirty="0">
                <a:solidFill>
                  <a:srgbClr val="644600"/>
                </a:solidFill>
              </a:rPr>
              <a:t> </a:t>
            </a:r>
            <a:r>
              <a:rPr lang="en-US" sz="1300" dirty="0" err="1">
                <a:solidFill>
                  <a:srgbClr val="644600"/>
                </a:solidFill>
              </a:rPr>
              <a:t>Shpejtësi</a:t>
            </a:r>
            <a:r>
              <a:rPr lang="en-US" sz="1300" dirty="0">
                <a:solidFill>
                  <a:srgbClr val="644600"/>
                </a:solidFill>
              </a:rPr>
              <a:t> </a:t>
            </a:r>
            <a:r>
              <a:rPr lang="en-US" sz="1300" dirty="0" err="1">
                <a:solidFill>
                  <a:srgbClr val="644600"/>
                </a:solidFill>
              </a:rPr>
              <a:t>eksponenciale</a:t>
            </a:r>
            <a:r>
              <a:rPr lang="en-US" sz="1300" dirty="0">
                <a:solidFill>
                  <a:srgbClr val="644600"/>
                </a:solidFill>
              </a:rPr>
              <a:t> e </a:t>
            </a:r>
            <a:r>
              <a:rPr lang="en-US" sz="1300" dirty="0" err="1">
                <a:solidFill>
                  <a:srgbClr val="644600"/>
                </a:solidFill>
              </a:rPr>
              <a:t>konvergjencës</a:t>
            </a:r>
            <a:r>
              <a:rPr lang="en-US" sz="1300" dirty="0">
                <a:solidFill>
                  <a:srgbClr val="644600"/>
                </a:solidFill>
              </a:rPr>
              <a:t> - tipi </a:t>
            </a:r>
            <a:r>
              <a:rPr lang="en-US" sz="1300" dirty="0" err="1">
                <a:solidFill>
                  <a:srgbClr val="644600"/>
                </a:solidFill>
              </a:rPr>
              <a:t>për</a:t>
            </a:r>
            <a:r>
              <a:rPr lang="en-US" sz="1300" dirty="0">
                <a:solidFill>
                  <a:srgbClr val="644600"/>
                </a:solidFill>
              </a:rPr>
              <a:t> Power Iteration</a:t>
            </a:r>
          </a:p>
          <a:p>
            <a:r>
              <a:rPr lang="en-US" sz="1300" dirty="0">
                <a:solidFill>
                  <a:srgbClr val="644600"/>
                </a:solidFill>
              </a:rPr>
              <a:t> Damping factor d = 0.85 </a:t>
            </a:r>
            <a:r>
              <a:rPr lang="en-US" sz="1300" dirty="0" err="1">
                <a:solidFill>
                  <a:srgbClr val="644600"/>
                </a:solidFill>
              </a:rPr>
              <a:t>siguron</a:t>
            </a:r>
            <a:r>
              <a:rPr lang="en-US" sz="1300" dirty="0">
                <a:solidFill>
                  <a:srgbClr val="644600"/>
                </a:solidFill>
              </a:rPr>
              <a:t> </a:t>
            </a:r>
            <a:r>
              <a:rPr lang="en-US" sz="1300" dirty="0" err="1">
                <a:solidFill>
                  <a:srgbClr val="644600"/>
                </a:solidFill>
              </a:rPr>
              <a:t>konvergjencë</a:t>
            </a:r>
            <a:r>
              <a:rPr lang="en-US" sz="1300" dirty="0">
                <a:solidFill>
                  <a:srgbClr val="644600"/>
                </a:solidFill>
              </a:rPr>
              <a:t> </a:t>
            </a:r>
            <a:r>
              <a:rPr lang="en-US" sz="1300" dirty="0" err="1">
                <a:solidFill>
                  <a:srgbClr val="644600"/>
                </a:solidFill>
              </a:rPr>
              <a:t>të</a:t>
            </a:r>
            <a:r>
              <a:rPr lang="en-US" sz="1300" dirty="0">
                <a:solidFill>
                  <a:srgbClr val="644600"/>
                </a:solidFill>
              </a:rPr>
              <a:t> </a:t>
            </a:r>
            <a:r>
              <a:rPr lang="en-US" sz="1300" dirty="0" err="1">
                <a:solidFill>
                  <a:srgbClr val="644600"/>
                </a:solidFill>
              </a:rPr>
              <a:t>shpejtë</a:t>
            </a:r>
            <a:r>
              <a:rPr lang="en-US" sz="1300" dirty="0">
                <a:solidFill>
                  <a:srgbClr val="644600"/>
                </a:solidFill>
              </a:rPr>
              <a:t> </a:t>
            </a:r>
            <a:r>
              <a:rPr lang="en-US" sz="1300" dirty="0" err="1">
                <a:solidFill>
                  <a:srgbClr val="644600"/>
                </a:solidFill>
              </a:rPr>
              <a:t>dhe</a:t>
            </a:r>
            <a:r>
              <a:rPr lang="en-US" sz="1300" dirty="0">
                <a:solidFill>
                  <a:srgbClr val="644600"/>
                </a:solidFill>
              </a:rPr>
              <a:t> </a:t>
            </a:r>
            <a:r>
              <a:rPr lang="en-US" sz="1300" dirty="0" err="1">
                <a:solidFill>
                  <a:srgbClr val="644600"/>
                </a:solidFill>
              </a:rPr>
              <a:t>të</a:t>
            </a:r>
            <a:r>
              <a:rPr lang="en-US" sz="1300" dirty="0">
                <a:solidFill>
                  <a:srgbClr val="644600"/>
                </a:solidFill>
              </a:rPr>
              <a:t> </a:t>
            </a:r>
            <a:r>
              <a:rPr lang="en-US" sz="1300" dirty="0" err="1">
                <a:solidFill>
                  <a:srgbClr val="644600"/>
                </a:solidFill>
              </a:rPr>
              <a:t>qëndrueshme</a:t>
            </a:r>
            <a:endParaRPr lang="en-US" sz="1300" dirty="0">
              <a:solidFill>
                <a:srgbClr val="644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2467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1622</Words>
  <Application>Microsoft Office PowerPoint</Application>
  <PresentationFormat>On-screen Show (4:3)</PresentationFormat>
  <Paragraphs>337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HITS ALGORITHM (Bing Liu, Chapter 10.4)</vt:lpstr>
      <vt:lpstr>GRAPH ANALYSIS METRICS</vt:lpstr>
      <vt:lpstr>REAL-WORLD APPLICATIONS</vt:lpstr>
      <vt:lpstr>PYTHON IMPLEMENTATION</vt:lpstr>
      <vt:lpstr>CONCLUSIONS &amp; KEY TAKEAWAYS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Administrator</dc:creator>
  <cp:lastModifiedBy>Administrator</cp:lastModifiedBy>
  <cp:revision>4</cp:revision>
  <dcterms:created xsi:type="dcterms:W3CDTF">2025-10-26T23:05:07Z</dcterms:created>
  <dcterms:modified xsi:type="dcterms:W3CDTF">2025-10-30T16:30:48Z</dcterms:modified>
</cp:coreProperties>
</file>